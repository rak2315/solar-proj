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2b0085ce-09f1-6481-0204-c938628b2bfc}">
          <p14:sldIdLst>
            <p14:sldId id="256"/>
          </p14:sldIdLst>
        </p14:section>
        <p14:section name="Problem" id="{f4107493-60be-4128-0120-e764cdc0439c}">
          <p14:sldIdLst>
            <p14:sldId id="257"/>
          </p14:sldIdLst>
        </p14:section>
        <p14:section name="Solution" id="{b08d984e-6324-30bf-6ded-91b2e506814c}">
          <p14:sldIdLst>
            <p14:sldId id="258"/>
          </p14:sldIdLst>
        </p14:section>
        <p14:section name="Technology" id="{61ef1ea6-abc3-17f1-0454-72f23e94aa79}">
          <p14:sldIdLst>
            <p14:sldId id="259"/>
          </p14:sldIdLst>
        </p14:section>
        <p14:section name="USP" id="{8e3bfd16-6e4c-48f6-736c-a758e67ffe0d}">
          <p14:sldIdLst>
            <p14:sldId id="260"/>
          </p14:sldIdLst>
        </p14:section>
        <p14:section name="Feasibility" id="{fdd6b7f4-5655-51d3-3310-db1cd6f94c82}">
          <p14:sldIdLst>
            <p14:sldId id="261"/>
          </p14:sldIdLst>
        </p14:section>
        <p14:section name="Impact" id="{5e904ba5-248a-c1d5-eba4-f5b21e1298cd}">
          <p14:sldIdLst>
            <p14:sldId id="262"/>
          </p14:sldIdLst>
        </p14:section>
        <p14:section name="References" id="{5a04da61-fe43-cb23-755f-953dda2549e2}">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Surya watches a 500 MW block of Bhadla Solar Park, sends a drone to verify what telemetry cannot, and hands the operator a ranked, deadlined repair plan to approve. Say "a 500 MW block of Bhadla" out loud: it is accurate and it answers "why only 120 arrays" before it is asked. The four figures along the bottom are the four on the product's own landing page, and each is computed from the physics model or read from the committed detector result. 364 MW is 73 per cent of nameplate because the cells are at 62.8 degrees; that is the model, not a fault. The picture is the main view of the working prototype in its light theme: the 3D twin of the modelled block. Team departments are not on the slide because they were not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continuous against annual, not fast against slow. The two quoted findings are from Sheppard, Cook and Perullo of Turbine Logic with Fregosi and Bolen of EPRI, "Field Experience Detecting PV Underperformance in Real Time Using Existing Instrumentation", hosted on OSTI. It is not an NREL paper; do not call it one. The third figure comes from our own model of one faulted array, B-17: 5 of its 7 strings are bypassed, so the array is 41.7 per cent down while the worst string is 58.4 per cent down. The rupee figure is 3.07 MWh at the blended Bhadla Phase-III tariff of 2.446 rupees per kWh. On gaps, be fair to the incumbents: Raptor Maps, Zeitview and Sitemark already do drone thermal imaging with AI classification at utility scale, and Raptor Maps and Sitemark are building 3D twins. So the twin and the detection are table stakes and we do not pitch either as our difference. The comparison is from our own prior-art sweep of 4 October 2026, read from their public material; it is not a benchmark. Do not quote a soiling-loss percentage or a national rupee figure: we hold no source for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Seven of the eight steps run without a person; the eighth is a person on purpose. The drone is not the product: it is how the agent gets evidence it cannot infer from telemetry. The three pictures are from the running prototype on 7 October 2026, flown at 60 times site speed. Left: drone 01 on its way to B-17. Middle: the frame the drone's camera returned over B-17, with the box our detector drew on it in the browser. On this flight it returned Cracked at 0.89. On the photograph the committed figure was measured on, the same weights return 0.91 against a committed 0.9084. Right: the same pass in false colour; it is a rendering of the simulated scene, not a thermal capture. The real thermal evidence is a UAV frame from Raptor Maps' open dataset, processed into the panel's 5 by 7 cells: four hot cells in row 2, columns 3 to 6, about 2.8 degrees above the rest, one connected band. The detector: YOLOv8n fine-tuned on 921 images, CC BY 4.0. Cracked AP at 50 is 0.995 on the held-out test split. The language model, openai/gpt-oss-120b on Groq, writes the triage in words and never supplies a number: the server recomputes every fact and cross-checks the reply. The queue order is deliberately not AI. The thermal classifier is in progress: a notebook and 119 modelled frames exist, no model is trained and no score is quoted. Vocabulary: B-17 is diagnosed, because it has a real capture. The other 119 arrays are flagged from modelled signature. The loop follows the RAISE-winning Robinsun solar agent, credited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left side top to bottom. Before the build: Python scripts hold the PV model and generate the site and its telemetry; a Colab notebook trained the detector and exported it to ONNX; an image-processing script turned a real thermal frame into the cell grid. The build gate runs in order: validate every data file against its Zod schema and 16 invariants, scan the source for hardcoded numbers and forbidden wording, run 453 tests, then compile. The TypeScript physics is golden-tested against the Python. If a headline figure moves, the build fails, not the demo. At run time, in the browser, there is one clock, the site time. Everything on screen is a pure function of that clock and the scenario events, which is why you can seek backwards and a dropped hazard un-happens. The detector and the solver both run as WebAssembly on the operator's machine. There is exactly one network call: the triage route, which calls Groq and cross-checks the reply against the physics on the server. There is no database. A work order is created only by the operator's click. On the choices: we refused a second service because a cold start on stage is a demo failure, so the solver is HiGHS compiled to WebAssembly and not OR-Tools behind a Python server. This diagram is drawn from native shapes so it can be edited.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difference is deliberately not the twin and not the detection. It is what happens after the picture: a deadline, a plan that re-derives, the arithmetic, and a human gate. The left picture is the Queue screen. Every job prints its own working. At the moment captured, B-17 reads 1.01 MWh a day, times 3.0 for critical, times 7.69 urgency, divided by 1.0 access, equals 23.29. Urgency is 1 plus 24 over the hours left, so the score rises as the deadline closes and reads differently at a different minute. If a judge asks how it prioritises, open src/lib/ranking.ts. The right picture is the live demonstration. A judge names a hazard; we drag it onto the field. Here a dust storm was dropped over part of Zone B. The screen reads: 8 arrays affected, 6 jobs added, 1 displaced, B-17 still first. Over the next 72 hours the dust costs the modelled arrays 5.61 MWh, 13,714 rupees at 2.446 rupees per kWh, forecast band 12,518 to 14,880. Measured in Chrome on our laptop: from releasing the pointer to the re-planned frame being painted takes 31 to 40 milliseconds against a budget of 150, and the twin holds 60.1 frames a second. Be straight about three things. The hazard strengths are declared assumptions; none is a measurement of Bhadla. The forecast band is a declared plus or minus 5 to 15 per cent on irradiance, not a fitted error model. And at this moment the heuristic matched the optimum; we do not claim the solver beats it here. A 5.8 per cent difference does exist on one ordinary afternoon, 14:17 site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of the table is a measurement taken on our own laptop, in Chrome, and each is recorded in the repository. The frame rate and the drop-to-re-plan time come from a script that drives a real pointer in a real Chrome window on the real GPU. The solver times are for the site's own days; two synthetic stress days took 60 to 170 ms, which is why the solve is cut off at 50 ms and then reports "best plan found" with its gap and is never called optimal. The detector figure is per class on the held-out test split of 42 images. Then say what is real and what is not, before a judge has to ask. There is no live plant behind this: telemetry for the 120 arrays is generated from the PV model with stated coefficients, temperature coefficient minus 0.0037 per degree, NOCT 45 degrees, inverter efficiency 0.98. The drone flight is a 3D simulation. Declared assumptions, each labelled on screen: hazard strengths; crew hours per repair, for example 3 hours for a module replacement and 1 hour for a wash; the forecast band; the 25 degree thermal span; the 65 degree threshold and 5-hour budget behind the deadline. Not built: the thermal classifier has no model and no metric, and nothing is connected to a real SCADA system or drone. Viability. Each array is evaluated by the same pure function, so a larger plant is more rows, not a new design; we have tested to 120 arrays and claim no larger figure. One practical point for a product: the detector is trained with Ultralytics YOLOv8, which is AGPL-3.0 and makes this repository AGPL-3.0. A commercial version would retrain on a permissively licensed detector; the README notes that switching to RF-DETR, Apache-2.0, touches one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is argued from arithmetic a judge can check, not from a market statistic we cannot source. The tariff: Bhadla Phase-III was auctioned by SECI in 2017 as two lots, 200 MW to ACME at 2.44 and 300 MW to SBG Cleantech at 2.45 rupees per kWh. Blended by capacity that is 2.446. We never quote 2.44 alone. No deviation settlement charge is computed or claimed: the CERC formula depends on a parameter the regulation does not publish. One cracked array, B-17, loses 3.07 MWh over the 72-hour forecast, 7,509 rupees. The 30-day figure is an illustration and is labelled as one: B-17 loses 1.01 MWh a day, so 30 days is 30.3 MWh, which is 74,114 rupees. It assumes the loss stays constant, which our own prognosis says it would not: the diode is projected to fail and the strings go open. It shows why continuous matters against an annual survey. The picture is the cost-of-waiting table from the B-17 incident: repair now, in 6 hours, tomorrow or in 3 days, each with the energy and the rupees lost. Its figures are as captured and move with site time. This is the thing a detector cannot give you. Wider benefit, stated qualitatively: more of the installed clean capacity is delivered; crews are not planned into the field above 40 degrees; and no drone is flown where imaging would add nothing, for example a soiled array. On the Analytics screen, the modelled arrays are 178 kW short of the model now, 0.6 per cent of their output, and lose 9.66 MWh over 72 hours out of 903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scope first. Research: finish the thermal classifier on InfraredSolarModules and report its held-out metric per class; replace the declared forecast band with an error model fitted to real forecast misses; move from 8-bit normalised thermal images to radiometric ones; validate the deadline model against real field failures. Patent: nothing has been filed. If we pursue one, the candidate to examine first is the method that turns a defect, its mechanism and a forecast into a repair deadline and a crew plan that re-derives live. That needs a proper novelty search before any claim. Startup: the natural customers are O&amp;M contractors and asset owners of utility-scale plants; a commercial version needs a permissively licensed detector. OWNER TO CONFIRM: the patent and startup lines state only what the repository supports. Replace them with the team's actual intentions if there are any. The right side is the code-of-conduct declaration: every third-party library, model, dataset and external API. No personal data and no proprietary data is used. Versions are read from the installed packages. Credit two things out loud. The loop follows the RAISE-winning Robinsun solar agent: we rebuilt the loop, and where they had a physical drone we put a trained defect model and a physics-grounded simulation. And the thermal data is Raptor Maps' own open dataset. The Turbine Logic and EPRI paper is hosted on OSTI. It is not an NREL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74320" y="182880"/>
            <a:ext cx="1600200" cy="566928"/>
          </a:xfrm>
          <a:prstGeom prst="roundRect">
            <a:avLst>
              <a:gd name="adj" fmla="val 19355"/>
            </a:avLst>
          </a:prstGeom>
          <a:solidFill>
            <a:srgbClr val="0B3C6F"/>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Sigmoid</a:t>
            </a:r>
            <a:endParaRPr lang="en-US" sz="2200" dirty="0"/>
          </a:p>
        </p:txBody>
      </p:sp>
      <p:sp>
        <p:nvSpPr>
          <p:cNvPr id="3" name="Text 1"/>
          <p:cNvSpPr/>
          <p:nvPr/>
        </p:nvSpPr>
        <p:spPr>
          <a:xfrm>
            <a:off x="9631375" y="182880"/>
            <a:ext cx="2286000" cy="310896"/>
          </a:xfrm>
          <a:prstGeom prst="rect">
            <a:avLst/>
          </a:prstGeom>
          <a:noFill/>
          <a:ln/>
        </p:spPr>
        <p:txBody>
          <a:bodyPr wrap="square" lIns="0" tIns="0" rIns="0" bIns="0" rtlCol="0" anchor="ctr"/>
          <a:lstStyle/>
          <a:p>
            <a:pPr algn="r" indent="0" marL="0">
              <a:buNone/>
            </a:pPr>
            <a:r>
              <a:rPr lang="en-US" sz="1500" b="1" dirty="0">
                <a:solidFill>
                  <a:srgbClr val="0B3C6F"/>
                </a:solidFill>
                <a:latin typeface="Calibri" pitchFamily="34" charset="0"/>
                <a:ea typeface="Calibri" pitchFamily="34" charset="-122"/>
                <a:cs typeface="Calibri" pitchFamily="34" charset="-120"/>
              </a:rPr>
              <a:t>JSS AI FORGE 36</a:t>
            </a:r>
            <a:endParaRPr lang="en-US" sz="1500" dirty="0"/>
          </a:p>
        </p:txBody>
      </p:sp>
      <p:sp>
        <p:nvSpPr>
          <p:cNvPr id="4" name="Text 2"/>
          <p:cNvSpPr/>
          <p:nvPr/>
        </p:nvSpPr>
        <p:spPr>
          <a:xfrm>
            <a:off x="9631375" y="475488"/>
            <a:ext cx="2286000" cy="274320"/>
          </a:xfrm>
          <a:prstGeom prst="rect">
            <a:avLst/>
          </a:prstGeom>
          <a:noFill/>
          <a:ln/>
        </p:spPr>
        <p:txBody>
          <a:bodyPr wrap="square" lIns="0" tIns="0" rIns="0" bIns="0" rtlCol="0" anchor="ctr"/>
          <a:lstStyle/>
          <a:p>
            <a:pPr algn="r" indent="0" marL="0">
              <a:buNone/>
            </a:pPr>
            <a:r>
              <a:rPr lang="en-US" sz="1200" dirty="0">
                <a:solidFill>
                  <a:srgbClr val="55606F"/>
                </a:solidFill>
                <a:latin typeface="Calibri" pitchFamily="34" charset="0"/>
                <a:ea typeface="Calibri" pitchFamily="34" charset="-122"/>
                <a:cs typeface="Calibri" pitchFamily="34" charset="-120"/>
              </a:rPr>
              <a:t>AI for Industry 4.0</a:t>
            </a:r>
            <a:endParaRPr lang="en-US" sz="1200" dirty="0"/>
          </a:p>
        </p:txBody>
      </p:sp>
      <p:sp>
        <p:nvSpPr>
          <p:cNvPr id="5" name="Text 3"/>
          <p:cNvSpPr/>
          <p:nvPr>
            <p:ph idx="103" type="title" hasCustomPrompt="1"/>
          </p:nvPr>
        </p:nvSpPr>
        <p:spPr>
          <a:xfrm>
            <a:off x="2103120" y="128016"/>
            <a:ext cx="7985455" cy="676656"/>
          </a:xfrm>
          <a:prstGeom prst="rect">
            <a:avLst/>
          </a:prstGeom>
          <a:noFill/>
          <a:ln/>
        </p:spPr>
        <p:txBody>
          <a:bodyPr wrap="square" rtlCol="0"/>
          <a:lstStyle>
            <a:lvl1pPr algn="ctr" indent="0" marL="0">
              <a:buNone/>
              <a:defRPr lang="en-US" sz="3000" b="1" dirty="0">
                <a:solidFill>
                  <a:schemeClr val="tx2"/>
                </a:solidFill>
              </a:defRPr>
            </a:lvl1pPr>
          </a:lstStyle>
          <a:p>
            <a:pPr algn="ctr" indent="0" marL="0">
              <a:buNone/>
            </a:pPr>
            <a:r>
              <a:rPr lang="en-US" sz="3000" b="1" dirty="0">
                <a:solidFill>
                  <a:schemeClr val="tx2"/>
                </a:solidFill>
              </a:rPr>
              <a:t>TITLE</a:t>
            </a:r>
            <a:endParaRPr lang="en-US" sz="3000" dirty="0"/>
          </a:p>
        </p:txBody>
      </p:sp>
      <p:sp>
        <p:nvSpPr>
          <p:cNvPr id="6" name="Shape 3"/>
          <p:cNvSpPr/>
          <p:nvPr/>
        </p:nvSpPr>
        <p:spPr>
          <a:xfrm>
            <a:off x="274320" y="896112"/>
            <a:ext cx="11643055" cy="0"/>
          </a:xfrm>
          <a:prstGeom prst="line">
            <a:avLst/>
          </a:prstGeom>
          <a:noFill/>
          <a:ln w="15875">
            <a:solidFill>
              <a:srgbClr val="0B3C6F"/>
            </a:solidFill>
            <a:prstDash val="solid"/>
          </a:ln>
        </p:spPr>
      </p:sp>
      <p:sp>
        <p:nvSpPr>
          <p:cNvPr id="7" name="Shape 4"/>
          <p:cNvSpPr/>
          <p:nvPr/>
        </p:nvSpPr>
        <p:spPr>
          <a:xfrm>
            <a:off x="0" y="6510528"/>
            <a:ext cx="12191695" cy="347472"/>
          </a:xfrm>
          <a:prstGeom prst="rect">
            <a:avLst/>
          </a:prstGeom>
          <a:solidFill>
            <a:srgbClr val="1565C0"/>
          </a:solidFill>
          <a:ln/>
        </p:spPr>
      </p:sp>
      <p:sp>
        <p:nvSpPr>
          <p:cNvPr id="8" name="Text 5"/>
          <p:cNvSpPr/>
          <p:nvPr/>
        </p:nvSpPr>
        <p:spPr>
          <a:xfrm>
            <a:off x="2743200" y="6510528"/>
            <a:ext cx="6705295"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JSS AI FORGE 36 Idea Submission  |  Team SIGMOID</a:t>
            </a:r>
            <a:endParaRPr lang="en-US" sz="110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3" type="title" hasCustomPrompt="1"/>
          </p:nvPr>
        </p:nvSpPr>
        <p:spPr>
          <a:xfrm>
            <a:off x="2103120" y="128016"/>
            <a:ext cx="7985455" cy="676656"/>
          </a:xfrm>
          <a:prstGeom prst="rect">
            <a:avLst/>
          </a:prstGeom>
          <a:noFill/>
          <a:ln/>
        </p:spPr>
        <p:txBody>
          <a:bodyPr wrap="square" lIns="0" tIns="0" rIns="0" bIns="0" rtlCol="0" anchor="ctr"/>
          <a:lstStyle/>
          <a:p>
            <a:pPr algn="ctr" indent="0" marL="0">
              <a:buNone/>
            </a:pPr>
            <a:r>
              <a:rPr lang="en-US" sz="3000" b="1" dirty="0">
                <a:solidFill>
                  <a:schemeClr val="tx2"/>
                </a:solidFill>
              </a:rPr>
              <a:t>SURYA AGENT</a:t>
            </a:r>
            <a:endParaRPr lang="en-US" sz="3000" dirty="0"/>
          </a:p>
        </p:txBody>
      </p:sp>
      <p:sp>
        <p:nvSpPr>
          <p:cNvPr id="4" name="Text 1"/>
          <p:cNvSpPr txBox="1"/>
          <p:nvPr/>
        </p:nvSpPr>
        <p:spPr>
          <a:xfrm>
            <a:off x="274320" y="1069848"/>
            <a:ext cx="5669280" cy="54864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The plan, not the picture.</a:t>
            </a:r>
            <a:endParaRPr lang="en-US" sz="3000" dirty="0"/>
          </a:p>
        </p:txBody>
      </p:sp>
      <p:sp>
        <p:nvSpPr>
          <p:cNvPr id="5" name="Text 2"/>
          <p:cNvSpPr txBox="1"/>
          <p:nvPr/>
        </p:nvSpPr>
        <p:spPr>
          <a:xfrm>
            <a:off x="274320" y="1709928"/>
            <a:ext cx="5669280" cy="914400"/>
          </a:xfrm>
          <a:prstGeom prst="rect">
            <a:avLst/>
          </a:prstGeom>
          <a:noFill/>
          <a:ln/>
        </p:spPr>
        <p:txBody>
          <a:bodyPr wrap="square" lIns="0" tIns="0" rIns="0" bIns="0" rtlCol="0" anchor="t"/>
          <a:lstStyle/>
          <a:p>
            <a:pPr indent="0" marL="0">
              <a:buNone/>
            </a:pPr>
            <a:r>
              <a:rPr lang="en-US" sz="1400" dirty="0">
                <a:solidFill>
                  <a:schemeClr val="tx1"/>
                </a:solidFill>
              </a:rPr>
              <a:t>An AI agent that watches a 500 MW block of Bhadla Solar Park, sends a drone to verify what telemetry cannot, and hands the operator a ranked repair plan with a computed deadline. A person approves it before anything is scheduled.</a:t>
            </a:r>
            <a:endParaRPr lang="en-US" sz="1400" dirty="0"/>
          </a:p>
        </p:txBody>
      </p:sp>
      <p:graphicFrame>
        <p:nvGraphicFramePr>
          <p:cNvPr id="2" name="Table 3"/>
          <p:cNvGraphicFramePr>
            <a:graphicFrameLocks noGrp="1"/>
          </p:cNvGraphicFramePr>
          <p:nvPr>
            <p:extLst>
              <p:ext uri="{D42A27DB-BD31-4B8C-83A1-F6EECF244321}">
                <p14:modId xmlns:p14="http://schemas.microsoft.com/office/powerpoint/2010/main" val="1579011935"/>
              </p:ext>
            </p:extLst>
          </p:nvPr>
        </p:nvGraphicFramePr>
        <p:xfrm>
          <a:off x="274320" y="2761488"/>
          <a:ext cx="5669280" cy="914400"/>
        </p:xfrm>
        <a:graphic>
          <a:graphicData uri="http://schemas.openxmlformats.org/drawingml/2006/table">
            <a:tbl>
              <a:tblPr/>
              <a:tblGrid>
                <a:gridCol w="1097280"/>
                <a:gridCol w="4572000"/>
              </a:tblGrid>
              <a:tr h="0">
                <a:tc>
                  <a:txBody>
                    <a:bodyPr/>
                    <a:lstStyle/>
                    <a:p>
                      <a:pPr indent="0" marL="0">
                        <a:buNone/>
                      </a:pPr>
                      <a:r>
                        <a:rPr lang="en-US" sz="1200" b="1" dirty="0">
                          <a:solidFill>
                            <a:srgbClr val="111827"/>
                          </a:solidFill>
                        </a:rPr>
                        <a:t>Event</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200" dirty="0">
                          <a:solidFill>
                            <a:srgbClr val="111827"/>
                          </a:solidFill>
                        </a:rPr>
                        <a:t>JSS AI FORGE 36, Round 1 idea submission</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11827"/>
                          </a:solidFill>
                        </a:rPr>
                        <a:t>Track</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200" dirty="0">
                          <a:solidFill>
                            <a:srgbClr val="111827"/>
                          </a:solidFill>
                        </a:rPr>
                        <a:t>AI for Industry 4.0: predictive maintenance, automation, digital twins</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11827"/>
                          </a:solidFill>
                        </a:rPr>
                        <a:t>Team</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200" dirty="0">
                          <a:solidFill>
                            <a:srgbClr val="111827"/>
                          </a:solidFill>
                        </a:rPr>
                        <a:t>SIGMOID</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11827"/>
                          </a:solidFill>
                        </a:rPr>
                        <a:t>Members</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200" dirty="0">
                          <a:solidFill>
                            <a:srgbClr val="111827"/>
                          </a:solidFill>
                        </a:rPr>
                        <a:t>Rehaan Ahmad Khan, Shantanu Singh, Lakshita Rawat, Krishna Agarwal</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11827"/>
                          </a:solidFill>
                        </a:rPr>
                        <a:t>Prototype</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200" dirty="0">
                          <a:solidFill>
                            <a:srgbClr val="111827"/>
                          </a:solidFill>
                        </a:rPr>
                        <a:t>Built and running. github.com/RAK2315/solar-proj</a:t>
                      </a:r>
                      <a:endParaRPr lang="en-US" sz="12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bl>
          </a:graphicData>
        </a:graphic>
      </p:graphicFrame>
      <p:pic>
        <p:nvPicPr>
          <p:cNvPr id="7" name="Picture 01-twin-field.png" descr="right: the 3D twin of the field from the Site screen, light theme, cropped to the field">    </p:cNvPr>
          <p:cNvPicPr>
            <a:picLocks noChangeAspect="1"/>
          </p:cNvPicPr>
          <p:nvPr/>
        </p:nvPicPr>
        <p:blipFill>
          <a:blip r:embed="rId1"/>
          <a:stretch>
            <a:fillRect/>
          </a:stretch>
        </p:blipFill>
        <p:spPr>
          <a:xfrm>
            <a:off x="6217920" y="1069848"/>
            <a:ext cx="5699455" cy="3656254"/>
          </a:xfrm>
          <a:prstGeom prst="rect">
            <a:avLst/>
          </a:prstGeom>
        </p:spPr>
      </p:pic>
      <p:sp>
        <p:nvSpPr>
          <p:cNvPr id="8" name="Picture frame 5"/>
          <p:cNvSpPr/>
          <p:nvPr/>
        </p:nvSpPr>
        <p:spPr>
          <a:xfrm>
            <a:off x="6217920" y="1069848"/>
            <a:ext cx="5699455" cy="3656254"/>
          </a:xfrm>
          <a:prstGeom prst="rect">
            <a:avLst/>
          </a:prstGeom>
          <a:ln w="12700">
            <a:solidFill>
              <a:srgbClr val="0B3C6F"/>
            </a:solidFill>
            <a:prstDash val="solid"/>
          </a:ln>
        </p:spPr>
      </p:sp>
      <p:sp>
        <p:nvSpPr>
          <p:cNvPr id="9" name="Text 6"/>
          <p:cNvSpPr txBox="1"/>
          <p:nvPr/>
        </p:nvSpPr>
        <p:spPr>
          <a:xfrm>
            <a:off x="6217920" y="4762678"/>
            <a:ext cx="5699455" cy="219456"/>
          </a:xfrm>
          <a:prstGeom prst="rect">
            <a:avLst/>
          </a:prstGeom>
          <a:noFill/>
          <a:ln/>
        </p:spPr>
        <p:txBody>
          <a:bodyPr wrap="square" lIns="0" tIns="0" rIns="0" bIns="0" rtlCol="0" anchor="t"/>
          <a:lstStyle/>
          <a:p>
            <a:pPr algn="r" indent="0" marL="0">
              <a:buNone/>
            </a:pPr>
            <a:r>
              <a:rPr lang="en-US" sz="1000" dirty="0">
                <a:solidFill>
                  <a:schemeClr val="accent5"/>
                </a:solidFill>
              </a:rPr>
              <a:t>The running prototype: a 3D twin of 120 arrays. B-17 is the red one.</a:t>
            </a:r>
            <a:endParaRPr lang="en-US" sz="1000" dirty="0"/>
          </a:p>
        </p:txBody>
      </p:sp>
      <p:sp>
        <p:nvSpPr>
          <p:cNvPr id="10" name="Card 7"/>
          <p:cNvSpPr/>
          <p:nvPr/>
        </p:nvSpPr>
        <p:spPr>
          <a:xfrm>
            <a:off x="274320" y="5285232"/>
            <a:ext cx="2807894" cy="1097280"/>
          </a:xfrm>
          <a:prstGeom prst="roundRect">
            <a:avLst>
              <a:gd name="adj" fmla="val 4167"/>
            </a:avLst>
          </a:prstGeom>
          <a:solidFill>
            <a:schemeClr val="bg2"/>
          </a:solidFill>
          <a:ln w="9525">
            <a:solidFill>
              <a:srgbClr val="0B3C6F"/>
            </a:solidFill>
          </a:ln>
        </p:spPr>
        <p:txBody>
          <a:bodyPr wrap="square" lIns="63500" tIns="88900" rIns="88900" bIns="63500" rtlCol="0" anchor="ctr"/>
          <a:lstStyle/>
          <a:p>
            <a:pPr indent="0" marL="0">
              <a:buNone/>
            </a:pPr>
            <a:r>
              <a:rPr lang="en-US" sz="2600" b="1" dirty="0">
                <a:solidFill>
                  <a:schemeClr val="tx2"/>
                </a:solidFill>
              </a:rPr>
              <a:t>364 MW</a:t>
            </a:r>
            <a:endParaRPr lang="en-US" sz="1150" dirty="0"/>
          </a:p>
          <a:p>
            <a:pPr indent="0" marL="0">
              <a:buNone/>
            </a:pPr>
            <a:r>
              <a:rPr lang="en-US" sz="1100" dirty="0">
                <a:solidFill>
                  <a:schemeClr val="tx1"/>
                </a:solidFill>
              </a:rPr>
              <a:t>delivered from 500 MW nameplate, at 62.8 °C cell temperature</a:t>
            </a:r>
            <a:endParaRPr lang="en-US" sz="1150" dirty="0"/>
          </a:p>
        </p:txBody>
      </p:sp>
      <p:sp>
        <p:nvSpPr>
          <p:cNvPr id="11" name="Card 8"/>
          <p:cNvSpPr/>
          <p:nvPr/>
        </p:nvSpPr>
        <p:spPr>
          <a:xfrm>
            <a:off x="3219374" y="5285232"/>
            <a:ext cx="2807894" cy="1097280"/>
          </a:xfrm>
          <a:prstGeom prst="roundRect">
            <a:avLst>
              <a:gd name="adj" fmla="val 4167"/>
            </a:avLst>
          </a:prstGeom>
          <a:solidFill>
            <a:schemeClr val="bg2"/>
          </a:solidFill>
          <a:ln w="9525">
            <a:solidFill>
              <a:srgbClr val="0B3C6F"/>
            </a:solidFill>
          </a:ln>
        </p:spPr>
        <p:txBody>
          <a:bodyPr wrap="square" lIns="63500" tIns="88900" rIns="88900" bIns="63500" rtlCol="0" anchor="ctr"/>
          <a:lstStyle/>
          <a:p>
            <a:pPr indent="0" marL="0">
              <a:buNone/>
            </a:pPr>
            <a:r>
              <a:rPr lang="en-US" sz="2600" b="1" dirty="0">
                <a:solidFill>
                  <a:schemeClr val="accent3"/>
                </a:solidFill>
              </a:rPr>
              <a:t>−41.7 %</a:t>
            </a:r>
            <a:endParaRPr lang="en-US" sz="1150" dirty="0"/>
          </a:p>
          <a:p>
            <a:pPr indent="0" marL="0">
              <a:buNone/>
            </a:pPr>
            <a:r>
              <a:rPr lang="en-US" sz="1100" dirty="0">
                <a:solidFill>
                  <a:schemeClr val="tx1"/>
                </a:solidFill>
              </a:rPr>
              <a:t>on array B-17: 5 of its 7 strings bypassed</a:t>
            </a:r>
            <a:endParaRPr lang="en-US" sz="1150" dirty="0"/>
          </a:p>
        </p:txBody>
      </p:sp>
      <p:sp>
        <p:nvSpPr>
          <p:cNvPr id="12" name="Card 9"/>
          <p:cNvSpPr/>
          <p:nvPr/>
        </p:nvSpPr>
        <p:spPr>
          <a:xfrm>
            <a:off x="6164428" y="5285232"/>
            <a:ext cx="2807894" cy="1097280"/>
          </a:xfrm>
          <a:prstGeom prst="roundRect">
            <a:avLst>
              <a:gd name="adj" fmla="val 4167"/>
            </a:avLst>
          </a:prstGeom>
          <a:solidFill>
            <a:schemeClr val="bg2"/>
          </a:solidFill>
          <a:ln w="9525">
            <a:solidFill>
              <a:srgbClr val="0B3C6F"/>
            </a:solidFill>
          </a:ln>
        </p:spPr>
        <p:txBody>
          <a:bodyPr wrap="square" lIns="63500" tIns="88900" rIns="88900" bIns="63500" rtlCol="0" anchor="ctr"/>
          <a:lstStyle/>
          <a:p>
            <a:pPr indent="0" marL="0">
              <a:buNone/>
            </a:pPr>
            <a:r>
              <a:rPr lang="en-US" sz="2600" b="1" dirty="0">
                <a:solidFill>
                  <a:schemeClr val="accent2"/>
                </a:solidFill>
              </a:rPr>
              <a:t>3.07 MWh</a:t>
            </a:r>
            <a:endParaRPr lang="en-US" sz="1150" dirty="0"/>
          </a:p>
          <a:p>
            <a:pPr indent="0" marL="0">
              <a:buNone/>
            </a:pPr>
            <a:r>
              <a:rPr lang="en-US" sz="1100" dirty="0">
                <a:solidFill>
                  <a:schemeClr val="tx1"/>
                </a:solidFill>
              </a:rPr>
              <a:t>lost over 72 h if nobody acts before 14:00</a:t>
            </a:r>
            <a:endParaRPr lang="en-US" sz="1150" dirty="0"/>
          </a:p>
        </p:txBody>
      </p:sp>
      <p:sp>
        <p:nvSpPr>
          <p:cNvPr id="13" name="Card 10"/>
          <p:cNvSpPr/>
          <p:nvPr/>
        </p:nvSpPr>
        <p:spPr>
          <a:xfrm>
            <a:off x="9109481" y="5285232"/>
            <a:ext cx="2807894" cy="1097280"/>
          </a:xfrm>
          <a:prstGeom prst="roundRect">
            <a:avLst>
              <a:gd name="adj" fmla="val 4167"/>
            </a:avLst>
          </a:prstGeom>
          <a:solidFill>
            <a:schemeClr val="bg2"/>
          </a:solidFill>
          <a:ln w="9525">
            <a:solidFill>
              <a:srgbClr val="0B3C6F"/>
            </a:solidFill>
          </a:ln>
        </p:spPr>
        <p:txBody>
          <a:bodyPr wrap="square" lIns="63500" tIns="88900" rIns="88900" bIns="63500" rtlCol="0" anchor="ctr"/>
          <a:lstStyle/>
          <a:p>
            <a:pPr indent="0" marL="0">
              <a:buNone/>
            </a:pPr>
            <a:r>
              <a:rPr lang="en-US" sz="2600" b="1" dirty="0">
                <a:solidFill>
                  <a:schemeClr val="accent4"/>
                </a:solidFill>
              </a:rPr>
              <a:t>0.995</a:t>
            </a:r>
            <a:endParaRPr lang="en-US" sz="1150" dirty="0"/>
          </a:p>
          <a:p>
            <a:pPr indent="0" marL="0">
              <a:buNone/>
            </a:pPr>
            <a:r>
              <a:rPr lang="en-US" sz="1100" dirty="0">
                <a:solidFill>
                  <a:schemeClr val="tx1"/>
                </a:solidFill>
              </a:rPr>
              <a:t>AP@50 for cracked panels, held-out test split</a:t>
            </a:r>
            <a:endParaRPr lang="en-US" sz="115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2103120" y="128016"/>
            <a:ext cx="7985455" cy="676656"/>
          </a:xfrm>
          <a:prstGeom prst="rect">
            <a:avLst/>
          </a:prstGeom>
          <a:noFill/>
          <a:ln/>
        </p:spPr>
        <p:txBody>
          <a:bodyPr wrap="square" lIns="0" tIns="0" rIns="0" bIns="0" rtlCol="0" anchor="ctr"/>
          <a:lstStyle/>
          <a:p>
            <a:pPr algn="ctr" indent="0" marL="0">
              <a:buNone/>
            </a:pPr>
            <a:r>
              <a:rPr lang="en-US" sz="3000" b="1" dirty="0">
                <a:solidFill>
                  <a:schemeClr val="tx2"/>
                </a:solidFill>
              </a:rPr>
              <a:t>PROBLEM STATEMENT</a:t>
            </a:r>
            <a:endParaRPr lang="en-US" sz="3000" dirty="0"/>
          </a:p>
        </p:txBody>
      </p:sp>
      <p:sp>
        <p:nvSpPr>
          <p:cNvPr id="4" name="Bar 11"/>
          <p:cNvSpPr/>
          <p:nvPr/>
        </p:nvSpPr>
        <p:spPr>
          <a:xfrm>
            <a:off x="274320" y="1024128"/>
            <a:ext cx="11643055"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THE PROBLEM: the plant knows its output fell, not why or how long it can wait</a:t>
            </a:r>
            <a:endParaRPr lang="en-US" sz="1400" dirty="0"/>
          </a:p>
        </p:txBody>
      </p:sp>
      <p:sp>
        <p:nvSpPr>
          <p:cNvPr id="5" name="Frame 12"/>
          <p:cNvSpPr/>
          <p:nvPr/>
        </p:nvSpPr>
        <p:spPr>
          <a:xfrm>
            <a:off x="274320" y="1481328"/>
            <a:ext cx="5623560" cy="2286000"/>
          </a:xfrm>
          <a:prstGeom prst="rect">
            <a:avLst/>
          </a:prstGeom>
          <a:solidFill>
            <a:schemeClr val="bg1"/>
          </a:solidFill>
          <a:ln w="15875">
            <a:solidFill>
              <a:srgbClr val="0B3C6F"/>
            </a:solidFill>
            <a:prstDash val="solid"/>
          </a:ln>
        </p:spPr>
      </p:sp>
      <p:sp>
        <p:nvSpPr>
          <p:cNvPr id="6" name="Card 13"/>
          <p:cNvSpPr/>
          <p:nvPr/>
        </p:nvSpPr>
        <p:spPr>
          <a:xfrm>
            <a:off x="1737360" y="1591056"/>
            <a:ext cx="2697480" cy="365760"/>
          </a:xfrm>
          <a:prstGeom prst="roundRect">
            <a:avLst>
              <a:gd name="adj" fmla="val 12500"/>
            </a:avLst>
          </a:prstGeom>
          <a:solidFill>
            <a:schemeClr val="tx2"/>
          </a:solidFill>
          <a:ln w="9525">
            <a:solidFill>
              <a:srgbClr val="0B3C6F"/>
            </a:solidFill>
          </a:ln>
        </p:spPr>
        <p:txBody>
          <a:bodyPr wrap="square" lIns="63500" tIns="88900" rIns="88900" bIns="63500" rtlCol="0" anchor="ctr"/>
          <a:lstStyle/>
          <a:p>
            <a:pPr algn="ctr" indent="0" marL="0">
              <a:buNone/>
            </a:pPr>
            <a:r>
              <a:rPr lang="en-US" sz="1300" b="1" dirty="0">
                <a:solidFill>
                  <a:schemeClr val="bg1"/>
                </a:solidFill>
              </a:rPr>
              <a:t>PLANT TELEMETRY (SCADA)</a:t>
            </a:r>
            <a:endParaRPr lang="en-US" sz="1300" dirty="0"/>
          </a:p>
        </p:txBody>
      </p:sp>
      <p:sp>
        <p:nvSpPr>
          <p:cNvPr id="7" name="Arrow 14"/>
          <p:cNvSpPr/>
          <p:nvPr/>
        </p:nvSpPr>
        <p:spPr>
          <a:xfrm>
            <a:off x="1508760" y="1993392"/>
            <a:ext cx="201168" cy="237744"/>
          </a:xfrm>
          <a:prstGeom prst="downArrow">
            <a:avLst/>
          </a:prstGeom>
          <a:solidFill>
            <a:schemeClr val="tx2"/>
          </a:solidFill>
          <a:ln w="12700">
            <a:solidFill>
              <a:srgbClr val="0B3C6F"/>
            </a:solidFill>
            <a:prstDash val="solid"/>
          </a:ln>
        </p:spPr>
      </p:sp>
      <p:sp>
        <p:nvSpPr>
          <p:cNvPr id="8" name="Arrow 15"/>
          <p:cNvSpPr/>
          <p:nvPr/>
        </p:nvSpPr>
        <p:spPr>
          <a:xfrm>
            <a:off x="4434840" y="1993392"/>
            <a:ext cx="201168" cy="237744"/>
          </a:xfrm>
          <a:prstGeom prst="downArrow">
            <a:avLst/>
          </a:prstGeom>
          <a:solidFill>
            <a:schemeClr val="tx2"/>
          </a:solidFill>
          <a:ln w="12700">
            <a:solidFill>
              <a:srgbClr val="0B3C6F"/>
            </a:solidFill>
            <a:prstDash val="solid"/>
          </a:ln>
        </p:spPr>
      </p:sp>
      <p:sp>
        <p:nvSpPr>
          <p:cNvPr id="9" name="Card 16"/>
          <p:cNvSpPr/>
          <p:nvPr/>
        </p:nvSpPr>
        <p:spPr>
          <a:xfrm>
            <a:off x="411480" y="2267712"/>
            <a:ext cx="2331720" cy="868680"/>
          </a:xfrm>
          <a:prstGeom prst="roundRect">
            <a:avLst>
              <a:gd name="adj" fmla="val 5263"/>
            </a:avLst>
          </a:prstGeom>
          <a:solidFill>
            <a:schemeClr val="bg2"/>
          </a:solidFill>
          <a:ln w="9525">
            <a:solidFill>
              <a:srgbClr val="0B3C6F"/>
            </a:solidFill>
          </a:ln>
        </p:spPr>
        <p:txBody>
          <a:bodyPr wrap="square" lIns="63500" tIns="88900" rIns="88900" bIns="63500" rtlCol="0" anchor="ctr"/>
          <a:lstStyle/>
          <a:p>
            <a:pPr algn="ctr" indent="0" marL="0">
              <a:buNone/>
            </a:pPr>
            <a:r>
              <a:rPr lang="en-US" sz="1150" b="1" dirty="0">
                <a:solidFill>
                  <a:schemeClr val="accent4"/>
                </a:solidFill>
              </a:rPr>
              <a:t>What it says</a:t>
            </a:r>
            <a:endParaRPr lang="en-US" sz="1150" dirty="0"/>
          </a:p>
          <a:p>
            <a:pPr algn="ctr" indent="0" marL="0">
              <a:buNone/>
            </a:pPr>
            <a:r>
              <a:rPr lang="en-US" sz="1100" dirty="0">
                <a:solidFill>
                  <a:schemeClr val="tx1"/>
                </a:solidFill>
              </a:rPr>
              <a:t>An inverter or a string is producing less than it should</a:t>
            </a:r>
            <a:endParaRPr lang="en-US" sz="1150" dirty="0"/>
          </a:p>
        </p:txBody>
      </p:sp>
      <p:sp>
        <p:nvSpPr>
          <p:cNvPr id="10" name="Card 17"/>
          <p:cNvSpPr/>
          <p:nvPr/>
        </p:nvSpPr>
        <p:spPr>
          <a:xfrm>
            <a:off x="2880360" y="2267712"/>
            <a:ext cx="2880360" cy="868680"/>
          </a:xfrm>
          <a:prstGeom prst="roundRect">
            <a:avLst>
              <a:gd name="adj" fmla="val 5263"/>
            </a:avLst>
          </a:prstGeom>
          <a:solidFill>
            <a:schemeClr val="bg2"/>
          </a:solidFill>
          <a:ln w="9525">
            <a:solidFill>
              <a:srgbClr val="0B3C6F"/>
            </a:solidFill>
          </a:ln>
        </p:spPr>
        <p:txBody>
          <a:bodyPr wrap="square" lIns="63500" tIns="88900" rIns="88900" bIns="63500" rtlCol="0" anchor="ctr"/>
          <a:lstStyle/>
          <a:p>
            <a:pPr algn="ctr" indent="0" marL="0">
              <a:buNone/>
            </a:pPr>
            <a:r>
              <a:rPr lang="en-US" sz="1150" b="1" dirty="0">
                <a:solidFill>
                  <a:schemeClr val="accent3"/>
                </a:solidFill>
              </a:rPr>
              <a:t>What it cannot say</a:t>
            </a:r>
            <a:endParaRPr lang="en-US" sz="1150" dirty="0"/>
          </a:p>
          <a:p>
            <a:pPr algn="ctr" indent="0" marL="0">
              <a:buNone/>
            </a:pPr>
            <a:r>
              <a:rPr lang="en-US" sz="1100" dirty="0">
                <a:solidFill>
                  <a:schemeClr val="tx1"/>
                </a:solidFill>
              </a:rPr>
              <a:t>Which module?   Dirt or damage?   How urgent?</a:t>
            </a:r>
            <a:endParaRPr lang="en-US" sz="1150" dirty="0"/>
          </a:p>
        </p:txBody>
      </p:sp>
      <p:sp>
        <p:nvSpPr>
          <p:cNvPr id="11" name="Text 18"/>
          <p:cNvSpPr txBox="1"/>
          <p:nvPr/>
        </p:nvSpPr>
        <p:spPr>
          <a:xfrm>
            <a:off x="411480" y="3218688"/>
            <a:ext cx="5349240" cy="502920"/>
          </a:xfrm>
          <a:prstGeom prst="rect">
            <a:avLst/>
          </a:prstGeom>
          <a:noFill/>
          <a:ln/>
        </p:spPr>
        <p:txBody>
          <a:bodyPr wrap="square" lIns="0" tIns="0" rIns="0" bIns="0" rtlCol="0" anchor="t"/>
          <a:lstStyle/>
          <a:p>
            <a:pPr indent="0" marL="0">
              <a:buNone/>
            </a:pPr>
            <a:r>
              <a:rPr lang="en-US" sz="1100" dirty="0">
                <a:solidFill>
                  <a:schemeClr val="tx1"/>
                </a:solidFill>
              </a:rPr>
              <a:t>So someone drives out to look, or the fault waits for the next aerial survey. In our model, soiling and a cracked cell look the same from telemetry: only imaging separates them.</a:t>
            </a:r>
            <a:endParaRPr lang="en-US" sz="1100" dirty="0"/>
          </a:p>
        </p:txBody>
      </p:sp>
      <p:sp>
        <p:nvSpPr>
          <p:cNvPr id="12" name="Card 19"/>
          <p:cNvSpPr/>
          <p:nvPr/>
        </p:nvSpPr>
        <p:spPr>
          <a:xfrm>
            <a:off x="274320" y="3877056"/>
            <a:ext cx="1813560" cy="868680"/>
          </a:xfrm>
          <a:prstGeom prst="roundRect">
            <a:avLst>
              <a:gd name="adj" fmla="val 5263"/>
            </a:avLst>
          </a:prstGeom>
          <a:solidFill>
            <a:schemeClr val="bg2"/>
          </a:solidFill>
          <a:ln w="9525">
            <a:solidFill>
              <a:srgbClr val="0B3C6F"/>
            </a:solidFill>
          </a:ln>
        </p:spPr>
        <p:txBody>
          <a:bodyPr wrap="square" lIns="38100" tIns="63500" rIns="63500" bIns="38100" rtlCol="0" anchor="ctr"/>
          <a:lstStyle/>
          <a:p>
            <a:pPr indent="0" marL="0">
              <a:buNone/>
            </a:pPr>
            <a:r>
              <a:rPr lang="en-US" sz="1700" b="1" dirty="0">
                <a:solidFill>
                  <a:schemeClr val="tx2"/>
                </a:solidFill>
              </a:rPr>
              <a:t>Annual</a:t>
            </a:r>
            <a:endParaRPr lang="en-US" sz="1150" dirty="0"/>
          </a:p>
          <a:p>
            <a:pPr indent="0" marL="0">
              <a:buNone/>
            </a:pPr>
            <a:r>
              <a:rPr lang="en-US" sz="1000" dirty="0">
                <a:solidFill>
                  <a:schemeClr val="tx1"/>
                </a:solidFill>
              </a:rPr>
              <a:t>usual cadence of aerial infrared inspection</a:t>
            </a:r>
            <a:endParaRPr lang="en-US" sz="1150" dirty="0"/>
          </a:p>
        </p:txBody>
      </p:sp>
      <p:sp>
        <p:nvSpPr>
          <p:cNvPr id="13" name="Card 20"/>
          <p:cNvSpPr/>
          <p:nvPr/>
        </p:nvSpPr>
        <p:spPr>
          <a:xfrm>
            <a:off x="2179320" y="3877056"/>
            <a:ext cx="1813560" cy="868680"/>
          </a:xfrm>
          <a:prstGeom prst="roundRect">
            <a:avLst>
              <a:gd name="adj" fmla="val 5263"/>
            </a:avLst>
          </a:prstGeom>
          <a:solidFill>
            <a:schemeClr val="bg2"/>
          </a:solidFill>
          <a:ln w="9525">
            <a:solidFill>
              <a:srgbClr val="0B3C6F"/>
            </a:solidFill>
          </a:ln>
        </p:spPr>
        <p:txBody>
          <a:bodyPr wrap="square" lIns="38100" tIns="63500" rIns="63500" bIns="38100" rtlCol="0" anchor="ctr"/>
          <a:lstStyle/>
          <a:p>
            <a:pPr indent="0" marL="0">
              <a:buNone/>
            </a:pPr>
            <a:r>
              <a:rPr lang="en-US" sz="1700" b="1" dirty="0">
                <a:solidFill>
                  <a:schemeClr val="accent2"/>
                </a:solidFill>
              </a:rPr>
              <a:t>Weeks to months</a:t>
            </a:r>
            <a:endParaRPr lang="en-US" sz="1150" dirty="0"/>
          </a:p>
          <a:p>
            <a:pPr indent="0" marL="0">
              <a:buNone/>
            </a:pPr>
            <a:r>
              <a:rPr lang="en-US" sz="1000" dirty="0">
                <a:solidFill>
                  <a:schemeClr val="tx1"/>
                </a:solidFill>
              </a:rPr>
              <a:t>faults below the inverter go undetected</a:t>
            </a:r>
            <a:endParaRPr lang="en-US" sz="1150" dirty="0"/>
          </a:p>
        </p:txBody>
      </p:sp>
      <p:sp>
        <p:nvSpPr>
          <p:cNvPr id="14" name="Card 21"/>
          <p:cNvSpPr/>
          <p:nvPr/>
        </p:nvSpPr>
        <p:spPr>
          <a:xfrm>
            <a:off x="4084320" y="3877056"/>
            <a:ext cx="1813560" cy="868680"/>
          </a:xfrm>
          <a:prstGeom prst="roundRect">
            <a:avLst>
              <a:gd name="adj" fmla="val 5263"/>
            </a:avLst>
          </a:prstGeom>
          <a:solidFill>
            <a:schemeClr val="bg2"/>
          </a:solidFill>
          <a:ln w="9525">
            <a:solidFill>
              <a:srgbClr val="0B3C6F"/>
            </a:solidFill>
          </a:ln>
        </p:spPr>
        <p:txBody>
          <a:bodyPr wrap="square" lIns="38100" tIns="63500" rIns="63500" bIns="38100" rtlCol="0" anchor="ctr"/>
          <a:lstStyle/>
          <a:p>
            <a:pPr indent="0" marL="0">
              <a:buNone/>
            </a:pPr>
            <a:r>
              <a:rPr lang="en-US" sz="1700" b="1" dirty="0">
                <a:solidFill>
                  <a:schemeClr val="accent3"/>
                </a:solidFill>
              </a:rPr>
              <a:t>−41.7 %</a:t>
            </a:r>
            <a:endParaRPr lang="en-US" sz="1150" dirty="0"/>
          </a:p>
          <a:p>
            <a:pPr indent="0" marL="0">
              <a:buNone/>
            </a:pPr>
            <a:r>
              <a:rPr lang="en-US" sz="1000" dirty="0">
                <a:solidFill>
                  <a:schemeClr val="tx1"/>
                </a:solidFill>
              </a:rPr>
              <a:t>one cracked array in our model: 3.07 MWh, ₹7,509 in 72 h</a:t>
            </a:r>
            <a:endParaRPr lang="en-US" sz="1150" dirty="0"/>
          </a:p>
        </p:txBody>
      </p:sp>
      <p:sp>
        <p:nvSpPr>
          <p:cNvPr id="15" name="Text 22"/>
          <p:cNvSpPr txBox="1"/>
          <p:nvPr/>
        </p:nvSpPr>
        <p:spPr>
          <a:xfrm>
            <a:off x="274320" y="4773168"/>
            <a:ext cx="5623560" cy="201168"/>
          </a:xfrm>
          <a:prstGeom prst="rect">
            <a:avLst/>
          </a:prstGeom>
          <a:noFill/>
          <a:ln/>
        </p:spPr>
        <p:txBody>
          <a:bodyPr wrap="square" lIns="0" tIns="0" rIns="0" bIns="0" rtlCol="0" anchor="t"/>
          <a:lstStyle/>
          <a:p>
            <a:pPr indent="0" marL="0">
              <a:buNone/>
            </a:pPr>
            <a:r>
              <a:rPr lang="en-US" sz="900" dirty="0">
                <a:solidFill>
                  <a:schemeClr val="accent5"/>
                </a:solidFill>
              </a:rPr>
              <a:t>Sources: first two, Turbine Logic and EPRI, osti.gov/servlets/purl/1960134. Third, our PV model at ₹2.446/kWh.</a:t>
            </a:r>
            <a:endParaRPr lang="en-US" sz="900" dirty="0"/>
          </a:p>
        </p:txBody>
      </p:sp>
      <p:sp>
        <p:nvSpPr>
          <p:cNvPr id="16" name="Bar 23"/>
          <p:cNvSpPr/>
          <p:nvPr/>
        </p:nvSpPr>
        <p:spPr>
          <a:xfrm>
            <a:off x="274320" y="5010912"/>
            <a:ext cx="5623560" cy="274320"/>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200" b="1" dirty="0">
                <a:solidFill>
                  <a:schemeClr val="bg1"/>
                </a:solidFill>
              </a:rPr>
              <a:t>WHO BENEFITS</a:t>
            </a:r>
            <a:endParaRPr lang="en-US" sz="1200" dirty="0"/>
          </a:p>
        </p:txBody>
      </p:sp>
      <p:pic>
        <p:nvPicPr>
          <p:cNvPr id="17" name="Icon 24 tools" descr="D:\Projects\12. project\ppt\images\icons\tools.png">    </p:cNvPr>
          <p:cNvPicPr>
            <a:picLocks noChangeAspect="1"/>
          </p:cNvPicPr>
          <p:nvPr/>
        </p:nvPicPr>
        <p:blipFill>
          <a:blip r:embed="rId1"/>
          <a:stretch>
            <a:fillRect/>
          </a:stretch>
        </p:blipFill>
        <p:spPr>
          <a:xfrm>
            <a:off x="274320" y="5376672"/>
            <a:ext cx="365760" cy="365760"/>
          </a:xfrm>
          <a:prstGeom prst="rect">
            <a:avLst/>
          </a:prstGeom>
        </p:spPr>
      </p:pic>
      <p:sp>
        <p:nvSpPr>
          <p:cNvPr id="18" name="Text 25"/>
          <p:cNvSpPr txBox="1"/>
          <p:nvPr/>
        </p:nvSpPr>
        <p:spPr>
          <a:xfrm>
            <a:off x="749808" y="5340096"/>
            <a:ext cx="1353312" cy="640080"/>
          </a:xfrm>
          <a:prstGeom prst="rect">
            <a:avLst/>
          </a:prstGeom>
          <a:noFill/>
          <a:ln/>
        </p:spPr>
        <p:txBody>
          <a:bodyPr wrap="square" lIns="0" tIns="0" rIns="0" bIns="0" rtlCol="0" anchor="t"/>
          <a:lstStyle/>
          <a:p>
            <a:pPr indent="0" marL="0">
              <a:buNone/>
            </a:pPr>
            <a:r>
              <a:rPr lang="en-US" sz="1250" b="1" dirty="0">
                <a:solidFill>
                  <a:schemeClr val="tx2"/>
                </a:solidFill>
              </a:rPr>
              <a:t>O&amp;M crews</a:t>
            </a:r>
            <a:endParaRPr lang="en-US" sz="1150" dirty="0"/>
          </a:p>
          <a:p>
            <a:pPr indent="0" marL="0">
              <a:buNone/>
            </a:pPr>
            <a:r>
              <a:rPr lang="en-US" sz="1050" dirty="0">
                <a:solidFill>
                  <a:schemeClr val="tx1"/>
                </a:solidFill>
              </a:rPr>
              <a:t>Which array, what repair, in what order, by when</a:t>
            </a:r>
            <a:endParaRPr lang="en-US" sz="1150" dirty="0"/>
          </a:p>
        </p:txBody>
      </p:sp>
      <p:pic>
        <p:nvPicPr>
          <p:cNvPr id="19" name="Icon 26 rupee" descr="D:\Projects\12. project\ppt\images\icons\rupee.png">    </p:cNvPr>
          <p:cNvPicPr>
            <a:picLocks noChangeAspect="1"/>
          </p:cNvPicPr>
          <p:nvPr/>
        </p:nvPicPr>
        <p:blipFill>
          <a:blip r:embed="rId2"/>
          <a:stretch>
            <a:fillRect/>
          </a:stretch>
        </p:blipFill>
        <p:spPr>
          <a:xfrm>
            <a:off x="2148840" y="5376672"/>
            <a:ext cx="365760" cy="365760"/>
          </a:xfrm>
          <a:prstGeom prst="rect">
            <a:avLst/>
          </a:prstGeom>
        </p:spPr>
      </p:pic>
      <p:sp>
        <p:nvSpPr>
          <p:cNvPr id="20" name="Text 27"/>
          <p:cNvSpPr txBox="1"/>
          <p:nvPr/>
        </p:nvSpPr>
        <p:spPr>
          <a:xfrm>
            <a:off x="2624328" y="5340096"/>
            <a:ext cx="1353312" cy="640080"/>
          </a:xfrm>
          <a:prstGeom prst="rect">
            <a:avLst/>
          </a:prstGeom>
          <a:noFill/>
          <a:ln/>
        </p:spPr>
        <p:txBody>
          <a:bodyPr wrap="square" lIns="0" tIns="0" rIns="0" bIns="0" rtlCol="0" anchor="t"/>
          <a:lstStyle/>
          <a:p>
            <a:pPr indent="0" marL="0">
              <a:buNone/>
            </a:pPr>
            <a:r>
              <a:rPr lang="en-US" sz="1250" b="1" dirty="0">
                <a:solidFill>
                  <a:schemeClr val="tx2"/>
                </a:solidFill>
              </a:rPr>
              <a:t>Asset owners</a:t>
            </a:r>
            <a:endParaRPr lang="en-US" sz="1150" dirty="0"/>
          </a:p>
          <a:p>
            <a:pPr indent="0" marL="0">
              <a:buNone/>
            </a:pPr>
            <a:r>
              <a:rPr lang="en-US" sz="1050" dirty="0">
                <a:solidFill>
                  <a:schemeClr val="tx1"/>
                </a:solidFill>
              </a:rPr>
              <a:t>Loss stated in MWh and rupees at the plant’s tariff</a:t>
            </a:r>
            <a:endParaRPr lang="en-US" sz="1150" dirty="0"/>
          </a:p>
        </p:txBody>
      </p:sp>
      <p:pic>
        <p:nvPicPr>
          <p:cNvPr id="21" name="Icon 28 bolt" descr="D:\Projects\12. project\ppt\images\icons\bolt.png">    </p:cNvPr>
          <p:cNvPicPr>
            <a:picLocks noChangeAspect="1"/>
          </p:cNvPicPr>
          <p:nvPr/>
        </p:nvPicPr>
        <p:blipFill>
          <a:blip r:embed="rId3"/>
          <a:stretch>
            <a:fillRect/>
          </a:stretch>
        </p:blipFill>
        <p:spPr>
          <a:xfrm>
            <a:off x="4023360" y="5376672"/>
            <a:ext cx="365760" cy="365760"/>
          </a:xfrm>
          <a:prstGeom prst="rect">
            <a:avLst/>
          </a:prstGeom>
        </p:spPr>
      </p:pic>
      <p:sp>
        <p:nvSpPr>
          <p:cNvPr id="22" name="Text 29"/>
          <p:cNvSpPr txBox="1"/>
          <p:nvPr/>
        </p:nvSpPr>
        <p:spPr>
          <a:xfrm>
            <a:off x="4498848" y="5340096"/>
            <a:ext cx="1353312" cy="640080"/>
          </a:xfrm>
          <a:prstGeom prst="rect">
            <a:avLst/>
          </a:prstGeom>
          <a:noFill/>
          <a:ln/>
        </p:spPr>
        <p:txBody>
          <a:bodyPr wrap="square" lIns="0" tIns="0" rIns="0" bIns="0" rtlCol="0" anchor="t"/>
          <a:lstStyle/>
          <a:p>
            <a:pPr indent="0" marL="0">
              <a:buNone/>
            </a:pPr>
            <a:r>
              <a:rPr lang="en-US" sz="1250" b="1" dirty="0">
                <a:solidFill>
                  <a:schemeClr val="tx2"/>
                </a:solidFill>
              </a:rPr>
              <a:t>Grid off-taker</a:t>
            </a:r>
            <a:endParaRPr lang="en-US" sz="1150" dirty="0"/>
          </a:p>
          <a:p>
            <a:pPr indent="0" marL="0">
              <a:buNone/>
            </a:pPr>
            <a:r>
              <a:rPr lang="en-US" sz="1050" dirty="0">
                <a:solidFill>
                  <a:schemeClr val="tx1"/>
                </a:solidFill>
              </a:rPr>
              <a:t>More of the contracted energy actually delivered</a:t>
            </a:r>
            <a:endParaRPr lang="en-US" sz="1150" dirty="0"/>
          </a:p>
        </p:txBody>
      </p:sp>
      <p:sp>
        <p:nvSpPr>
          <p:cNvPr id="23" name="Text 30"/>
          <p:cNvSpPr txBox="1"/>
          <p:nvPr/>
        </p:nvSpPr>
        <p:spPr>
          <a:xfrm>
            <a:off x="6126480" y="1481328"/>
            <a:ext cx="5790895" cy="256032"/>
          </a:xfrm>
          <a:prstGeom prst="rect">
            <a:avLst/>
          </a:prstGeom>
          <a:noFill/>
          <a:ln/>
        </p:spPr>
        <p:txBody>
          <a:bodyPr wrap="square" lIns="0" tIns="0" rIns="0" bIns="0" rtlCol="0" anchor="t"/>
          <a:lstStyle/>
          <a:p>
            <a:pPr indent="0" marL="0">
              <a:buNone/>
            </a:pPr>
            <a:r>
              <a:rPr lang="en-US" sz="1400" b="1" dirty="0">
                <a:solidFill>
                  <a:schemeClr val="tx2"/>
                </a:solidFill>
              </a:rPr>
              <a:t>EXISTING GAPS</a:t>
            </a:r>
            <a:endParaRPr lang="en-US" sz="1400" dirty="0"/>
          </a:p>
        </p:txBody>
      </p:sp>
      <p:graphicFrame>
        <p:nvGraphicFramePr>
          <p:cNvPr id="3" name="Table 31"/>
          <p:cNvGraphicFramePr>
            <a:graphicFrameLocks noGrp="1"/>
          </p:cNvGraphicFramePr>
          <p:nvPr>
            <p:extLst>
              <p:ext uri="{D42A27DB-BD31-4B8C-83A1-F6EECF244321}">
                <p14:modId xmlns:p14="http://schemas.microsoft.com/office/powerpoint/2010/main" val="1579011935"/>
              </p:ext>
            </p:extLst>
          </p:nvPr>
        </p:nvGraphicFramePr>
        <p:xfrm>
          <a:off x="6126480" y="1773936"/>
          <a:ext cx="5790895" cy="914400"/>
        </p:xfrm>
        <a:graphic>
          <a:graphicData uri="http://schemas.openxmlformats.org/drawingml/2006/table">
            <a:tbl>
              <a:tblPr/>
              <a:tblGrid>
                <a:gridCol w="1783080"/>
                <a:gridCol w="1920240"/>
                <a:gridCol w="2087575"/>
              </a:tblGrid>
              <a:tr h="0">
                <a:tc>
                  <a:txBody>
                    <a:bodyPr/>
                    <a:lstStyle/>
                    <a:p>
                      <a:pPr indent="0" marL="0">
                        <a:buNone/>
                      </a:pPr>
                      <a:r>
                        <a:rPr lang="en-US" sz="1000" b="1" dirty="0">
                          <a:solidFill>
                            <a:srgbClr val="FFFFFF"/>
                          </a:solidFill>
                        </a:rPr>
                        <a:t>Approach</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c>
                  <a:txBody>
                    <a:bodyPr/>
                    <a:lstStyle/>
                    <a:p>
                      <a:pPr indent="0" marL="0">
                        <a:buNone/>
                      </a:pPr>
                      <a:r>
                        <a:rPr lang="en-US" sz="1000" b="1" dirty="0">
                          <a:solidFill>
                            <a:srgbClr val="FFFFFF"/>
                          </a:solidFill>
                        </a:rPr>
                        <a:t>What it gives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c>
                  <a:txBody>
                    <a:bodyPr/>
                    <a:lstStyle/>
                    <a:p>
                      <a:pPr indent="0" marL="0">
                        <a:buNone/>
                      </a:pPr>
                      <a:r>
                        <a:rPr lang="en-US" sz="1000" b="1" dirty="0">
                          <a:solidFill>
                            <a:srgbClr val="FFFFFF"/>
                          </a:solidFill>
                        </a:rPr>
                        <a:t>What is still missing</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r>
              <a:tr h="0">
                <a:tc>
                  <a:txBody>
                    <a:bodyPr/>
                    <a:lstStyle/>
                    <a:p>
                      <a:pPr indent="0" marL="0">
                        <a:buNone/>
                      </a:pPr>
                      <a:r>
                        <a:rPr lang="en-US" sz="1000" dirty="0">
                          <a:solidFill>
                            <a:srgbClr val="111827"/>
                          </a:solidFill>
                        </a:rPr>
                        <a:t>Plant SCADA</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Output fell, at an inverter or string</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Which module, why, how urgent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Annual aerial infrared survey</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A thermal map of the field</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Flown once a year, so faults sit for weeks to months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Drone and AI platforms (Raptor Maps, Zeitview, Sitemark)</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Thermal imaging, AI defect classes, 3D twins under way</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A report of defects. No deadline, no crew plan, no re-plan</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bl>
          </a:graphicData>
        </a:graphic>
      </p:graphicFrame>
      <p:sp>
        <p:nvSpPr>
          <p:cNvPr id="25" name="Text 32"/>
          <p:cNvSpPr txBox="1"/>
          <p:nvPr/>
        </p:nvSpPr>
        <p:spPr>
          <a:xfrm>
            <a:off x="6126480" y="3675888"/>
            <a:ext cx="5790895" cy="256032"/>
          </a:xfrm>
          <a:prstGeom prst="rect">
            <a:avLst/>
          </a:prstGeom>
          <a:noFill/>
          <a:ln/>
        </p:spPr>
        <p:txBody>
          <a:bodyPr wrap="square" lIns="0" tIns="0" rIns="0" bIns="0" rtlCol="0" anchor="t"/>
          <a:lstStyle/>
          <a:p>
            <a:pPr indent="0" marL="0">
              <a:buNone/>
            </a:pPr>
            <a:r>
              <a:rPr lang="en-US" sz="1400" b="1" dirty="0">
                <a:solidFill>
                  <a:schemeClr val="tx2"/>
                </a:solidFill>
              </a:rPr>
              <a:t>FROM EACH GAP TO WHAT WE BUILT</a:t>
            </a:r>
            <a:endParaRPr lang="en-US" sz="1400" dirty="0"/>
          </a:p>
        </p:txBody>
      </p:sp>
      <p:graphicFrame>
        <p:nvGraphicFramePr>
          <p:cNvPr id="5" name="Table 33"/>
          <p:cNvGraphicFramePr>
            <a:graphicFrameLocks noGrp="1"/>
          </p:cNvGraphicFramePr>
          <p:nvPr>
            <p:extLst>
              <p:ext uri="{D42A27DB-BD31-4B8C-83A1-F6EECF244321}">
                <p14:modId xmlns:p14="http://schemas.microsoft.com/office/powerpoint/2010/main" val="1579011935"/>
              </p:ext>
            </p:extLst>
          </p:nvPr>
        </p:nvGraphicFramePr>
        <p:xfrm>
          <a:off x="6126480" y="3968496"/>
          <a:ext cx="5790895" cy="914400"/>
        </p:xfrm>
        <a:graphic>
          <a:graphicData uri="http://schemas.openxmlformats.org/drawingml/2006/table">
            <a:tbl>
              <a:tblPr/>
              <a:tblGrid>
                <a:gridCol w="2514600"/>
                <a:gridCol w="3276295"/>
              </a:tblGrid>
              <a:tr h="0">
                <a:tc>
                  <a:txBody>
                    <a:bodyPr/>
                    <a:lstStyle/>
                    <a:p>
                      <a:pPr indent="0" marL="0">
                        <a:buNone/>
                      </a:pPr>
                      <a:r>
                        <a:rPr lang="en-US" sz="1000" b="1" dirty="0">
                          <a:solidFill>
                            <a:srgbClr val="FFFFFF"/>
                          </a:solidFill>
                        </a:rPr>
                        <a:t>Actual problem</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c>
                  <a:txBody>
                    <a:bodyPr/>
                    <a:lstStyle/>
                    <a:p>
                      <a:pPr indent="0" marL="0">
                        <a:buNone/>
                      </a:pPr>
                      <a:r>
                        <a:rPr lang="en-US" sz="1000" b="1" dirty="0">
                          <a:solidFill>
                            <a:srgbClr val="FFFFFF"/>
                          </a:solidFill>
                        </a:rPr>
                        <a:t>How SURYA AGENT answers it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r>
              <a:tr h="0">
                <a:tc>
                  <a:txBody>
                    <a:bodyPr/>
                    <a:lstStyle/>
                    <a:p>
                      <a:pPr indent="0" marL="0">
                        <a:buNone/>
                      </a:pPr>
                      <a:r>
                        <a:rPr lang="en-US" sz="1000" dirty="0">
                          <a:solidFill>
                            <a:srgbClr val="111827"/>
                          </a:solidFill>
                        </a:rPr>
                        <a:t>Faults wait for a yearly survey</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Every array watched continuously against a physics model</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Telemetry cannot tell dirt from damage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A drone is sent only when imaging would add something</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A defect report has no deadline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A deadline computed from the defect and the 72 h forecast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Priority is a judgement call</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One fixed formula, with its arithmetic on screen</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A plan goes stale when the weather turns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The queue and the crew day re-derive live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Automation nobody signed off</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Nothing is scheduled until an operator approves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bl>
          </a:graphicData>
        </a:graphic>
      </p:graphicFrame>
      <p:sp>
        <p:nvSpPr>
          <p:cNvPr id="27" name="Text 34"/>
          <p:cNvSpPr txBox="1"/>
          <p:nvPr/>
        </p:nvSpPr>
        <p:spPr>
          <a:xfrm>
            <a:off x="6126480" y="5824728"/>
            <a:ext cx="5790895" cy="329184"/>
          </a:xfrm>
          <a:prstGeom prst="rect">
            <a:avLst/>
          </a:prstGeom>
          <a:noFill/>
          <a:ln/>
        </p:spPr>
        <p:txBody>
          <a:bodyPr wrap="square" lIns="0" tIns="0" rIns="0" bIns="0" rtlCol="0" anchor="t"/>
          <a:lstStyle/>
          <a:p>
            <a:pPr indent="0" marL="0">
              <a:buNone/>
            </a:pPr>
            <a:r>
              <a:rPr lang="en-US" sz="900" dirty="0">
                <a:solidFill>
                  <a:schemeClr val="accent5"/>
                </a:solidFill>
              </a:rPr>
              <a:t>Gaps from our prior-art sweep of 4 Oct 2026, read from each company’s public material. We do not claim the twin or the detection as new.</a:t>
            </a:r>
            <a:endParaRPr lang="en-US" sz="90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2103120" y="128016"/>
            <a:ext cx="7985455" cy="676656"/>
          </a:xfrm>
          <a:prstGeom prst="rect">
            <a:avLst/>
          </a:prstGeom>
          <a:noFill/>
          <a:ln/>
        </p:spPr>
        <p:txBody>
          <a:bodyPr wrap="square" lIns="0" tIns="0" rIns="0" bIns="0" rtlCol="0" anchor="ctr"/>
          <a:lstStyle/>
          <a:p>
            <a:pPr algn="ctr" indent="0" marL="0">
              <a:buNone/>
            </a:pPr>
            <a:r>
              <a:rPr lang="en-US" sz="3000" b="1" dirty="0">
                <a:solidFill>
                  <a:schemeClr val="tx2"/>
                </a:solidFill>
              </a:rPr>
              <a:t>OUR SOLUTION</a:t>
            </a:r>
            <a:endParaRPr lang="en-US" sz="3000" dirty="0"/>
          </a:p>
        </p:txBody>
      </p:sp>
      <p:sp>
        <p:nvSpPr>
          <p:cNvPr id="4" name="Bar 35"/>
          <p:cNvSpPr/>
          <p:nvPr/>
        </p:nvSpPr>
        <p:spPr>
          <a:xfrm>
            <a:off x="274320" y="1024128"/>
            <a:ext cx="11643055"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PROPOSED SOLUTION: one closed loop, from a telemetry anomaly to an approved work order</a:t>
            </a:r>
            <a:endParaRPr lang="en-US" sz="1400" dirty="0"/>
          </a:p>
        </p:txBody>
      </p:sp>
      <p:sp>
        <p:nvSpPr>
          <p:cNvPr id="5" name="Card 36"/>
          <p:cNvSpPr/>
          <p:nvPr/>
        </p:nvSpPr>
        <p:spPr>
          <a:xfrm>
            <a:off x="274320" y="1463040"/>
            <a:ext cx="1261872" cy="566928"/>
          </a:xfrm>
          <a:prstGeom prst="roundRect">
            <a:avLst>
              <a:gd name="adj" fmla="val 8065"/>
            </a:avLst>
          </a:prstGeom>
          <a:solidFill>
            <a:schemeClr val="bg2"/>
          </a:solidFill>
          <a:ln w="9525">
            <a:solidFill>
              <a:srgbClr val="0B3C6F"/>
            </a:solidFill>
          </a:ln>
        </p:spPr>
        <p:txBody>
          <a:bodyPr wrap="square" lIns="25400" tIns="63500" rIns="63500" bIns="25400" rtlCol="0" anchor="ctr"/>
          <a:lstStyle/>
          <a:p>
            <a:pPr indent="0" marL="0">
              <a:buNone/>
            </a:pPr>
            <a:r>
              <a:rPr lang="en-US" sz="1300" b="1" dirty="0">
                <a:solidFill>
                  <a:schemeClr val="accent2"/>
                </a:solidFill>
              </a:rPr>
              <a:t>1  </a:t>
            </a:r>
            <a:pPr indent="0" marL="0">
              <a:buNone/>
            </a:pPr>
            <a:r>
              <a:rPr lang="en-US" sz="1150" b="1" dirty="0">
                <a:solidFill>
                  <a:schemeClr val="tx1"/>
                </a:solidFill>
              </a:rPr>
              <a:t>Telemetry anomaly</a:t>
            </a:r>
            <a:endParaRPr lang="en-US" sz="1150" dirty="0"/>
          </a:p>
        </p:txBody>
      </p:sp>
      <p:sp>
        <p:nvSpPr>
          <p:cNvPr id="6" name="Arrow 37"/>
          <p:cNvSpPr/>
          <p:nvPr/>
        </p:nvSpPr>
        <p:spPr>
          <a:xfrm>
            <a:off x="1563624" y="1664208"/>
            <a:ext cx="166290" cy="164592"/>
          </a:xfrm>
          <a:prstGeom prst="rightArrow">
            <a:avLst/>
          </a:prstGeom>
          <a:solidFill>
            <a:schemeClr val="tx2"/>
          </a:solidFill>
          <a:ln w="12700">
            <a:solidFill>
              <a:srgbClr val="0B3C6F"/>
            </a:solidFill>
            <a:prstDash val="solid"/>
          </a:ln>
        </p:spPr>
      </p:sp>
      <p:sp>
        <p:nvSpPr>
          <p:cNvPr id="7" name="Card 38"/>
          <p:cNvSpPr/>
          <p:nvPr/>
        </p:nvSpPr>
        <p:spPr>
          <a:xfrm>
            <a:off x="1757346" y="1463040"/>
            <a:ext cx="1261872" cy="566928"/>
          </a:xfrm>
          <a:prstGeom prst="roundRect">
            <a:avLst>
              <a:gd name="adj" fmla="val 8065"/>
            </a:avLst>
          </a:prstGeom>
          <a:solidFill>
            <a:schemeClr val="bg2"/>
          </a:solidFill>
          <a:ln w="9525">
            <a:solidFill>
              <a:srgbClr val="0B3C6F"/>
            </a:solidFill>
          </a:ln>
        </p:spPr>
        <p:txBody>
          <a:bodyPr wrap="square" lIns="25400" tIns="63500" rIns="63500" bIns="25400" rtlCol="0" anchor="ctr"/>
          <a:lstStyle/>
          <a:p>
            <a:pPr indent="0" marL="0">
              <a:buNone/>
            </a:pPr>
            <a:r>
              <a:rPr lang="en-US" sz="1300" b="1" dirty="0">
                <a:solidFill>
                  <a:schemeClr val="accent2"/>
                </a:solidFill>
              </a:rPr>
              <a:t>2  </a:t>
            </a:r>
            <a:pPr indent="0" marL="0">
              <a:buNone/>
            </a:pPr>
            <a:r>
              <a:rPr lang="en-US" sz="1150" b="1" dirty="0">
                <a:solidFill>
                  <a:schemeClr val="tx1"/>
                </a:solidFill>
              </a:rPr>
              <a:t>Agent triage</a:t>
            </a:r>
            <a:endParaRPr lang="en-US" sz="1150" dirty="0"/>
          </a:p>
        </p:txBody>
      </p:sp>
      <p:sp>
        <p:nvSpPr>
          <p:cNvPr id="8" name="Arrow 39"/>
          <p:cNvSpPr/>
          <p:nvPr/>
        </p:nvSpPr>
        <p:spPr>
          <a:xfrm>
            <a:off x="3046650" y="1664208"/>
            <a:ext cx="166290" cy="164592"/>
          </a:xfrm>
          <a:prstGeom prst="rightArrow">
            <a:avLst/>
          </a:prstGeom>
          <a:solidFill>
            <a:schemeClr val="tx2"/>
          </a:solidFill>
          <a:ln w="12700">
            <a:solidFill>
              <a:srgbClr val="0B3C6F"/>
            </a:solidFill>
            <a:prstDash val="solid"/>
          </a:ln>
        </p:spPr>
      </p:sp>
      <p:sp>
        <p:nvSpPr>
          <p:cNvPr id="9" name="Card 40"/>
          <p:cNvSpPr/>
          <p:nvPr/>
        </p:nvSpPr>
        <p:spPr>
          <a:xfrm>
            <a:off x="3240372" y="1463040"/>
            <a:ext cx="1261872" cy="566928"/>
          </a:xfrm>
          <a:prstGeom prst="roundRect">
            <a:avLst>
              <a:gd name="adj" fmla="val 8065"/>
            </a:avLst>
          </a:prstGeom>
          <a:solidFill>
            <a:schemeClr val="bg2"/>
          </a:solidFill>
          <a:ln w="9525">
            <a:solidFill>
              <a:srgbClr val="0B3C6F"/>
            </a:solidFill>
          </a:ln>
        </p:spPr>
        <p:txBody>
          <a:bodyPr wrap="square" lIns="25400" tIns="63500" rIns="63500" bIns="25400" rtlCol="0" anchor="ctr"/>
          <a:lstStyle/>
          <a:p>
            <a:pPr indent="0" marL="0">
              <a:buNone/>
            </a:pPr>
            <a:r>
              <a:rPr lang="en-US" sz="1300" b="1" dirty="0">
                <a:solidFill>
                  <a:schemeClr val="accent2"/>
                </a:solidFill>
              </a:rPr>
              <a:t>3  </a:t>
            </a:r>
            <a:pPr indent="0" marL="0">
              <a:buNone/>
            </a:pPr>
            <a:r>
              <a:rPr lang="en-US" sz="1150" b="1" dirty="0">
                <a:solidFill>
                  <a:schemeClr val="tx1"/>
                </a:solidFill>
              </a:rPr>
              <a:t>Drone dispatch</a:t>
            </a:r>
            <a:endParaRPr lang="en-US" sz="1150" dirty="0"/>
          </a:p>
        </p:txBody>
      </p:sp>
      <p:sp>
        <p:nvSpPr>
          <p:cNvPr id="10" name="Arrow 41"/>
          <p:cNvSpPr/>
          <p:nvPr/>
        </p:nvSpPr>
        <p:spPr>
          <a:xfrm>
            <a:off x="4529676" y="1664208"/>
            <a:ext cx="166290" cy="164592"/>
          </a:xfrm>
          <a:prstGeom prst="rightArrow">
            <a:avLst/>
          </a:prstGeom>
          <a:solidFill>
            <a:schemeClr val="tx2"/>
          </a:solidFill>
          <a:ln w="12700">
            <a:solidFill>
              <a:srgbClr val="0B3C6F"/>
            </a:solidFill>
            <a:prstDash val="solid"/>
          </a:ln>
        </p:spPr>
      </p:sp>
      <p:sp>
        <p:nvSpPr>
          <p:cNvPr id="11" name="Card 42"/>
          <p:cNvSpPr/>
          <p:nvPr/>
        </p:nvSpPr>
        <p:spPr>
          <a:xfrm>
            <a:off x="4723399" y="1463040"/>
            <a:ext cx="1261872" cy="566928"/>
          </a:xfrm>
          <a:prstGeom prst="roundRect">
            <a:avLst>
              <a:gd name="adj" fmla="val 8065"/>
            </a:avLst>
          </a:prstGeom>
          <a:solidFill>
            <a:schemeClr val="bg2"/>
          </a:solidFill>
          <a:ln w="9525">
            <a:solidFill>
              <a:srgbClr val="0B3C6F"/>
            </a:solidFill>
          </a:ln>
        </p:spPr>
        <p:txBody>
          <a:bodyPr wrap="square" lIns="25400" tIns="63500" rIns="63500" bIns="25400" rtlCol="0" anchor="ctr"/>
          <a:lstStyle/>
          <a:p>
            <a:pPr indent="0" marL="0">
              <a:buNone/>
            </a:pPr>
            <a:r>
              <a:rPr lang="en-US" sz="1300" b="1" dirty="0">
                <a:solidFill>
                  <a:schemeClr val="accent2"/>
                </a:solidFill>
              </a:rPr>
              <a:t>4  </a:t>
            </a:r>
            <a:pPr indent="0" marL="0">
              <a:buNone/>
            </a:pPr>
            <a:r>
              <a:rPr lang="en-US" sz="1150" b="1" dirty="0">
                <a:solidFill>
                  <a:schemeClr val="tx1"/>
                </a:solidFill>
              </a:rPr>
              <a:t>Evidence capture</a:t>
            </a:r>
            <a:endParaRPr lang="en-US" sz="1150" dirty="0"/>
          </a:p>
        </p:txBody>
      </p:sp>
      <p:sp>
        <p:nvSpPr>
          <p:cNvPr id="12" name="Arrow 43"/>
          <p:cNvSpPr/>
          <p:nvPr/>
        </p:nvSpPr>
        <p:spPr>
          <a:xfrm>
            <a:off x="6012703" y="1664208"/>
            <a:ext cx="166290" cy="164592"/>
          </a:xfrm>
          <a:prstGeom prst="rightArrow">
            <a:avLst/>
          </a:prstGeom>
          <a:solidFill>
            <a:schemeClr val="tx2"/>
          </a:solidFill>
          <a:ln w="12700">
            <a:solidFill>
              <a:srgbClr val="0B3C6F"/>
            </a:solidFill>
            <a:prstDash val="solid"/>
          </a:ln>
        </p:spPr>
      </p:sp>
      <p:sp>
        <p:nvSpPr>
          <p:cNvPr id="13" name="Card 44"/>
          <p:cNvSpPr/>
          <p:nvPr/>
        </p:nvSpPr>
        <p:spPr>
          <a:xfrm>
            <a:off x="6206425" y="1463040"/>
            <a:ext cx="1261872" cy="566928"/>
          </a:xfrm>
          <a:prstGeom prst="roundRect">
            <a:avLst>
              <a:gd name="adj" fmla="val 8065"/>
            </a:avLst>
          </a:prstGeom>
          <a:solidFill>
            <a:schemeClr val="bg2"/>
          </a:solidFill>
          <a:ln w="9525">
            <a:solidFill>
              <a:srgbClr val="0B3C6F"/>
            </a:solidFill>
          </a:ln>
        </p:spPr>
        <p:txBody>
          <a:bodyPr wrap="square" lIns="25400" tIns="63500" rIns="63500" bIns="25400" rtlCol="0" anchor="ctr"/>
          <a:lstStyle/>
          <a:p>
            <a:pPr indent="0" marL="0">
              <a:buNone/>
            </a:pPr>
            <a:r>
              <a:rPr lang="en-US" sz="1300" b="1" dirty="0">
                <a:solidFill>
                  <a:schemeClr val="accent2"/>
                </a:solidFill>
              </a:rPr>
              <a:t>5  </a:t>
            </a:r>
            <a:pPr indent="0" marL="0">
              <a:buNone/>
            </a:pPr>
            <a:r>
              <a:rPr lang="en-US" sz="1150" b="1" dirty="0">
                <a:solidFill>
                  <a:schemeClr val="tx1"/>
                </a:solidFill>
              </a:rPr>
              <a:t>Vision analysis</a:t>
            </a:r>
            <a:endParaRPr lang="en-US" sz="1150" dirty="0"/>
          </a:p>
        </p:txBody>
      </p:sp>
      <p:sp>
        <p:nvSpPr>
          <p:cNvPr id="14" name="Arrow 45"/>
          <p:cNvSpPr/>
          <p:nvPr/>
        </p:nvSpPr>
        <p:spPr>
          <a:xfrm>
            <a:off x="7495729" y="1664208"/>
            <a:ext cx="166290" cy="164592"/>
          </a:xfrm>
          <a:prstGeom prst="rightArrow">
            <a:avLst/>
          </a:prstGeom>
          <a:solidFill>
            <a:schemeClr val="tx2"/>
          </a:solidFill>
          <a:ln w="12700">
            <a:solidFill>
              <a:srgbClr val="0B3C6F"/>
            </a:solidFill>
            <a:prstDash val="solid"/>
          </a:ln>
        </p:spPr>
      </p:sp>
      <p:sp>
        <p:nvSpPr>
          <p:cNvPr id="15" name="Card 46"/>
          <p:cNvSpPr/>
          <p:nvPr/>
        </p:nvSpPr>
        <p:spPr>
          <a:xfrm>
            <a:off x="7689451" y="1463040"/>
            <a:ext cx="1261872" cy="566928"/>
          </a:xfrm>
          <a:prstGeom prst="roundRect">
            <a:avLst>
              <a:gd name="adj" fmla="val 8065"/>
            </a:avLst>
          </a:prstGeom>
          <a:solidFill>
            <a:schemeClr val="bg2"/>
          </a:solidFill>
          <a:ln w="9525">
            <a:solidFill>
              <a:srgbClr val="0B3C6F"/>
            </a:solidFill>
          </a:ln>
        </p:spPr>
        <p:txBody>
          <a:bodyPr wrap="square" lIns="25400" tIns="63500" rIns="63500" bIns="25400" rtlCol="0" anchor="ctr"/>
          <a:lstStyle/>
          <a:p>
            <a:pPr indent="0" marL="0">
              <a:buNone/>
            </a:pPr>
            <a:r>
              <a:rPr lang="en-US" sz="1300" b="1" dirty="0">
                <a:solidFill>
                  <a:schemeClr val="accent2"/>
                </a:solidFill>
              </a:rPr>
              <a:t>6  </a:t>
            </a:r>
            <a:pPr indent="0" marL="0">
              <a:buNone/>
            </a:pPr>
            <a:r>
              <a:rPr lang="en-US" sz="1150" b="1" dirty="0">
                <a:solidFill>
                  <a:schemeClr val="tx1"/>
                </a:solidFill>
              </a:rPr>
              <a:t>Prognosis and deadline</a:t>
            </a:r>
            <a:endParaRPr lang="en-US" sz="1150" dirty="0"/>
          </a:p>
        </p:txBody>
      </p:sp>
      <p:sp>
        <p:nvSpPr>
          <p:cNvPr id="16" name="Arrow 47"/>
          <p:cNvSpPr/>
          <p:nvPr/>
        </p:nvSpPr>
        <p:spPr>
          <a:xfrm>
            <a:off x="8978755" y="1664208"/>
            <a:ext cx="166290" cy="164592"/>
          </a:xfrm>
          <a:prstGeom prst="rightArrow">
            <a:avLst/>
          </a:prstGeom>
          <a:solidFill>
            <a:schemeClr val="tx2"/>
          </a:solidFill>
          <a:ln w="12700">
            <a:solidFill>
              <a:srgbClr val="0B3C6F"/>
            </a:solidFill>
            <a:prstDash val="solid"/>
          </a:ln>
        </p:spPr>
      </p:sp>
      <p:sp>
        <p:nvSpPr>
          <p:cNvPr id="17" name="Card 48"/>
          <p:cNvSpPr/>
          <p:nvPr/>
        </p:nvSpPr>
        <p:spPr>
          <a:xfrm>
            <a:off x="9172477" y="1463040"/>
            <a:ext cx="1261872" cy="566928"/>
          </a:xfrm>
          <a:prstGeom prst="roundRect">
            <a:avLst>
              <a:gd name="adj" fmla="val 8065"/>
            </a:avLst>
          </a:prstGeom>
          <a:solidFill>
            <a:schemeClr val="bg2"/>
          </a:solidFill>
          <a:ln w="9525">
            <a:solidFill>
              <a:srgbClr val="0B3C6F"/>
            </a:solidFill>
          </a:ln>
        </p:spPr>
        <p:txBody>
          <a:bodyPr wrap="square" lIns="25400" tIns="63500" rIns="63500" bIns="25400" rtlCol="0" anchor="ctr"/>
          <a:lstStyle/>
          <a:p>
            <a:pPr indent="0" marL="0">
              <a:buNone/>
            </a:pPr>
            <a:r>
              <a:rPr lang="en-US" sz="1300" b="1" dirty="0">
                <a:solidFill>
                  <a:schemeClr val="accent2"/>
                </a:solidFill>
              </a:rPr>
              <a:t>7  </a:t>
            </a:r>
            <a:pPr indent="0" marL="0">
              <a:buNone/>
            </a:pPr>
            <a:r>
              <a:rPr lang="en-US" sz="1150" b="1" dirty="0">
                <a:solidFill>
                  <a:schemeClr val="tx1"/>
                </a:solidFill>
              </a:rPr>
              <a:t>Ranked plan</a:t>
            </a:r>
            <a:endParaRPr lang="en-US" sz="1150" dirty="0"/>
          </a:p>
        </p:txBody>
      </p:sp>
      <p:sp>
        <p:nvSpPr>
          <p:cNvPr id="18" name="Arrow 49"/>
          <p:cNvSpPr/>
          <p:nvPr/>
        </p:nvSpPr>
        <p:spPr>
          <a:xfrm>
            <a:off x="10461781" y="1664208"/>
            <a:ext cx="166290" cy="164592"/>
          </a:xfrm>
          <a:prstGeom prst="rightArrow">
            <a:avLst/>
          </a:prstGeom>
          <a:solidFill>
            <a:schemeClr val="tx2"/>
          </a:solidFill>
          <a:ln w="12700">
            <a:solidFill>
              <a:srgbClr val="0B3C6F"/>
            </a:solidFill>
            <a:prstDash val="solid"/>
          </a:ln>
        </p:spPr>
      </p:sp>
      <p:sp>
        <p:nvSpPr>
          <p:cNvPr id="19" name="Card 50"/>
          <p:cNvSpPr/>
          <p:nvPr/>
        </p:nvSpPr>
        <p:spPr>
          <a:xfrm>
            <a:off x="10655503" y="1463040"/>
            <a:ext cx="1261872" cy="566928"/>
          </a:xfrm>
          <a:prstGeom prst="roundRect">
            <a:avLst>
              <a:gd name="adj" fmla="val 8065"/>
            </a:avLst>
          </a:prstGeom>
          <a:solidFill>
            <a:schemeClr val="accent3"/>
          </a:solidFill>
          <a:ln w="9525">
            <a:solidFill>
              <a:srgbClr val="0B3C6F"/>
            </a:solidFill>
          </a:ln>
        </p:spPr>
        <p:txBody>
          <a:bodyPr wrap="square" lIns="25400" tIns="63500" rIns="63500" bIns="25400" rtlCol="0" anchor="ctr"/>
          <a:lstStyle/>
          <a:p>
            <a:pPr indent="0" marL="0">
              <a:buNone/>
            </a:pPr>
            <a:r>
              <a:rPr lang="en-US" sz="1300" b="1" dirty="0">
                <a:solidFill>
                  <a:schemeClr val="bg1"/>
                </a:solidFill>
              </a:rPr>
              <a:t>8  </a:t>
            </a:r>
            <a:pPr indent="0" marL="0">
              <a:buNone/>
            </a:pPr>
            <a:r>
              <a:rPr lang="en-US" sz="1150" b="1" dirty="0">
                <a:solidFill>
                  <a:schemeClr val="bg1"/>
                </a:solidFill>
              </a:rPr>
              <a:t>Human approval</a:t>
            </a:r>
            <a:endParaRPr lang="en-US" sz="1150" dirty="0"/>
          </a:p>
        </p:txBody>
      </p:sp>
      <p:pic>
        <p:nvPicPr>
          <p:cNvPr id="20" name="Picture 03-drone-in-flight.png" descr="left: the drone in flight toward B-17">    </p:cNvPr>
          <p:cNvPicPr>
            <a:picLocks noChangeAspect="1"/>
          </p:cNvPicPr>
          <p:nvPr/>
        </p:nvPicPr>
        <p:blipFill>
          <a:blip r:embed="rId1"/>
          <a:stretch>
            <a:fillRect/>
          </a:stretch>
        </p:blipFill>
        <p:spPr>
          <a:xfrm>
            <a:off x="274320" y="2176272"/>
            <a:ext cx="2240280" cy="1682614"/>
          </a:xfrm>
          <a:prstGeom prst="rect">
            <a:avLst/>
          </a:prstGeom>
        </p:spPr>
      </p:pic>
      <p:sp>
        <p:nvSpPr>
          <p:cNvPr id="21" name="Picture frame 52"/>
          <p:cNvSpPr/>
          <p:nvPr/>
        </p:nvSpPr>
        <p:spPr>
          <a:xfrm>
            <a:off x="274320" y="2176272"/>
            <a:ext cx="2240280" cy="1682614"/>
          </a:xfrm>
          <a:prstGeom prst="rect">
            <a:avLst/>
          </a:prstGeom>
          <a:ln w="12700">
            <a:solidFill>
              <a:srgbClr val="0B3C6F"/>
            </a:solidFill>
            <a:prstDash val="solid"/>
          </a:ln>
        </p:spPr>
      </p:sp>
      <p:sp>
        <p:nvSpPr>
          <p:cNvPr id="22" name="Text 53"/>
          <p:cNvSpPr txBox="1"/>
          <p:nvPr/>
        </p:nvSpPr>
        <p:spPr>
          <a:xfrm>
            <a:off x="274320" y="3913750"/>
            <a:ext cx="2240280" cy="749808"/>
          </a:xfrm>
          <a:prstGeom prst="rect">
            <a:avLst/>
          </a:prstGeom>
          <a:noFill/>
          <a:ln/>
        </p:spPr>
        <p:txBody>
          <a:bodyPr wrap="square" lIns="0" tIns="0" rIns="0" bIns="0" rtlCol="0" anchor="t"/>
          <a:lstStyle/>
          <a:p>
            <a:pPr indent="0" marL="0">
              <a:buNone/>
            </a:pPr>
            <a:r>
              <a:rPr lang="en-US" sz="1200" b="1" dirty="0">
                <a:solidFill>
                  <a:schemeClr val="tx2"/>
                </a:solidFill>
              </a:rPr>
              <a:t>Dispatch</a:t>
            </a:r>
            <a:endParaRPr lang="en-US" sz="1150" dirty="0"/>
          </a:p>
          <a:p>
            <a:pPr indent="0" marL="0">
              <a:buNone/>
            </a:pPr>
            <a:r>
              <a:rPr lang="en-US" sz="1050" dirty="0">
                <a:solidFill>
                  <a:schemeClr val="tx1"/>
                </a:solidFill>
              </a:rPr>
              <a:t>Drone 01 leaves the pad for B-17 when telemetry cannot settle the cause.</a:t>
            </a:r>
            <a:endParaRPr lang="en-US" sz="1150" dirty="0"/>
          </a:p>
        </p:txBody>
      </p:sp>
      <p:pic>
        <p:nvPicPr>
          <p:cNvPr id="23" name="Picture 03-drone-detection.png" descr="middle: the drone’s camera frame over B-17 with the detector’s box">    </p:cNvPr>
          <p:cNvPicPr>
            <a:picLocks noChangeAspect="1"/>
          </p:cNvPicPr>
          <p:nvPr/>
        </p:nvPicPr>
        <p:blipFill>
          <a:blip r:embed="rId2"/>
          <a:stretch>
            <a:fillRect/>
          </a:stretch>
        </p:blipFill>
        <p:spPr>
          <a:xfrm>
            <a:off x="2606040" y="2176272"/>
            <a:ext cx="2240280" cy="1682614"/>
          </a:xfrm>
          <a:prstGeom prst="rect">
            <a:avLst/>
          </a:prstGeom>
        </p:spPr>
      </p:pic>
      <p:sp>
        <p:nvSpPr>
          <p:cNvPr id="24" name="Picture frame 55"/>
          <p:cNvSpPr/>
          <p:nvPr/>
        </p:nvSpPr>
        <p:spPr>
          <a:xfrm>
            <a:off x="2606040" y="2176272"/>
            <a:ext cx="2240280" cy="1682614"/>
          </a:xfrm>
          <a:prstGeom prst="rect">
            <a:avLst/>
          </a:prstGeom>
          <a:ln w="12700">
            <a:solidFill>
              <a:srgbClr val="0B3C6F"/>
            </a:solidFill>
            <a:prstDash val="solid"/>
          </a:ln>
        </p:spPr>
      </p:sp>
      <p:sp>
        <p:nvSpPr>
          <p:cNvPr id="25" name="Text 56"/>
          <p:cNvSpPr txBox="1"/>
          <p:nvPr/>
        </p:nvSpPr>
        <p:spPr>
          <a:xfrm>
            <a:off x="2606040" y="3913750"/>
            <a:ext cx="2240280" cy="749808"/>
          </a:xfrm>
          <a:prstGeom prst="rect">
            <a:avLst/>
          </a:prstGeom>
          <a:noFill/>
          <a:ln/>
        </p:spPr>
        <p:txBody>
          <a:bodyPr wrap="square" lIns="0" tIns="0" rIns="0" bIns="0" rtlCol="0" anchor="t"/>
          <a:lstStyle/>
          <a:p>
            <a:pPr indent="0" marL="0">
              <a:buNone/>
            </a:pPr>
            <a:r>
              <a:rPr lang="en-US" sz="1200" b="1" dirty="0">
                <a:solidFill>
                  <a:schemeClr val="tx2"/>
                </a:solidFill>
              </a:rPr>
              <a:t>Detection, in the browser</a:t>
            </a:r>
            <a:endParaRPr lang="en-US" sz="1150" dirty="0"/>
          </a:p>
          <a:p>
            <a:pPr indent="0" marL="0">
              <a:buNone/>
            </a:pPr>
            <a:r>
              <a:rPr lang="en-US" sz="1050" dirty="0">
                <a:solidFill>
                  <a:schemeClr val="tx1"/>
                </a:solidFill>
              </a:rPr>
              <a:t>Cracked 0.89 on the frame the drone’s camera returned. The box is the model’s own.</a:t>
            </a:r>
            <a:endParaRPr lang="en-US" sz="1150" dirty="0"/>
          </a:p>
        </p:txBody>
      </p:sp>
      <p:pic>
        <p:nvPicPr>
          <p:cNvPr id="26" name="Picture 03-thermal-pass.png" descr="right: the thermal pass over the same module">    </p:cNvPr>
          <p:cNvPicPr>
            <a:picLocks noChangeAspect="1"/>
          </p:cNvPicPr>
          <p:nvPr/>
        </p:nvPicPr>
        <p:blipFill>
          <a:blip r:embed="rId3"/>
          <a:stretch>
            <a:fillRect/>
          </a:stretch>
        </p:blipFill>
        <p:spPr>
          <a:xfrm>
            <a:off x="4937760" y="2176272"/>
            <a:ext cx="2240280" cy="1682614"/>
          </a:xfrm>
          <a:prstGeom prst="rect">
            <a:avLst/>
          </a:prstGeom>
        </p:spPr>
      </p:pic>
      <p:sp>
        <p:nvSpPr>
          <p:cNvPr id="27" name="Picture frame 58"/>
          <p:cNvSpPr/>
          <p:nvPr/>
        </p:nvSpPr>
        <p:spPr>
          <a:xfrm>
            <a:off x="4937760" y="2176272"/>
            <a:ext cx="2240280" cy="1682614"/>
          </a:xfrm>
          <a:prstGeom prst="rect">
            <a:avLst/>
          </a:prstGeom>
          <a:ln w="12700">
            <a:solidFill>
              <a:srgbClr val="0B3C6F"/>
            </a:solidFill>
            <a:prstDash val="solid"/>
          </a:ln>
        </p:spPr>
      </p:sp>
      <p:sp>
        <p:nvSpPr>
          <p:cNvPr id="28" name="Text 59"/>
          <p:cNvSpPr txBox="1"/>
          <p:nvPr/>
        </p:nvSpPr>
        <p:spPr>
          <a:xfrm>
            <a:off x="4937760" y="3913750"/>
            <a:ext cx="2240280" cy="749808"/>
          </a:xfrm>
          <a:prstGeom prst="rect">
            <a:avLst/>
          </a:prstGeom>
          <a:noFill/>
          <a:ln/>
        </p:spPr>
        <p:txBody>
          <a:bodyPr wrap="square" lIns="0" tIns="0" rIns="0" bIns="0" rtlCol="0" anchor="t"/>
          <a:lstStyle/>
          <a:p>
            <a:pPr indent="0" marL="0">
              <a:buNone/>
            </a:pPr>
            <a:r>
              <a:rPr lang="en-US" sz="1200" b="1" dirty="0">
                <a:solidFill>
                  <a:schemeClr val="tx2"/>
                </a:solidFill>
              </a:rPr>
              <a:t>Thermal pass</a:t>
            </a:r>
            <a:endParaRPr lang="en-US" sz="1150" dirty="0"/>
          </a:p>
          <a:p>
            <a:pPr indent="0" marL="0">
              <a:buNone/>
            </a:pPr>
            <a:r>
              <a:rPr lang="en-US" sz="1050" dirty="0">
                <a:solidFill>
                  <a:schemeClr val="tx1"/>
                </a:solidFill>
              </a:rPr>
              <a:t>The same module in false colour. A rendering of the simulated scene, not a capture.</a:t>
            </a:r>
            <a:endParaRPr lang="en-US" sz="1150" dirty="0"/>
          </a:p>
        </p:txBody>
      </p:sp>
      <p:sp>
        <p:nvSpPr>
          <p:cNvPr id="29" name="Card 60"/>
          <p:cNvSpPr/>
          <p:nvPr/>
        </p:nvSpPr>
        <p:spPr>
          <a:xfrm>
            <a:off x="274320" y="4727566"/>
            <a:ext cx="6903720" cy="1654946"/>
          </a:xfrm>
          <a:prstGeom prst="roundRect">
            <a:avLst>
              <a:gd name="adj" fmla="val 2763"/>
            </a:avLst>
          </a:prstGeom>
          <a:solidFill>
            <a:schemeClr val="bg2"/>
          </a:solidFill>
          <a:ln w="9525">
            <a:solidFill>
              <a:srgbClr val="0B3C6F"/>
            </a:solidFill>
          </a:ln>
        </p:spPr>
        <p:txBody>
          <a:bodyPr wrap="square" lIns="63500" tIns="88900" rIns="88900" bIns="63500" rtlCol="0" anchor="ctr"/>
          <a:lstStyle/>
          <a:p>
            <a:pPr indent="0" marL="0">
              <a:buNone/>
            </a:pPr>
            <a:r>
              <a:rPr lang="en-US" sz="1100" b="1" dirty="0">
                <a:solidFill>
                  <a:schemeClr val="tx2"/>
                </a:solidFill>
              </a:rPr>
              <a:t>Measured thermal evidence: </a:t>
            </a:r>
            <a:pPr indent="0" marL="0">
              <a:buNone/>
            </a:pPr>
            <a:r>
              <a:rPr lang="en-US" sz="1100" dirty="0">
                <a:solidFill>
                  <a:schemeClr val="tx1"/>
                </a:solidFill>
              </a:rPr>
              <a:t>from a real UAV thermal frame (Raptor Maps, MIT), four hot cells in row 2, columns 3 to 6, about +2.8 °C, one connected band: the signature of a bypassed substring.</a:t>
            </a:r>
            <a:endParaRPr lang="en-US" sz="1100" dirty="0"/>
          </a:p>
          <a:p>
            <a:pPr indent="0" marL="0">
              <a:buNone/>
            </a:pPr>
            <a:r>
              <a:rPr lang="en-US" sz="1100" b="1" dirty="0">
                <a:solidFill>
                  <a:schemeClr val="accent3"/>
                </a:solidFill>
              </a:rPr>
              <a:t>Honest wording: </a:t>
            </a:r>
            <a:pPr indent="0" marL="0">
              <a:buNone/>
            </a:pPr>
            <a:r>
              <a:rPr lang="en-US" sz="1100" dirty="0">
                <a:solidFill>
                  <a:schemeClr val="tx1"/>
                </a:solidFill>
              </a:rPr>
              <a:t>B-17 is diagnosed from a real thermal capture. The other 119 arrays are flagged from modelled signature. The build fails if the two are mixed.</a:t>
            </a:r>
            <a:endParaRPr lang="en-US" sz="1100" dirty="0"/>
          </a:p>
        </p:txBody>
      </p:sp>
      <p:sp>
        <p:nvSpPr>
          <p:cNvPr id="30" name="Frame 61"/>
          <p:cNvSpPr/>
          <p:nvPr/>
        </p:nvSpPr>
        <p:spPr>
          <a:xfrm>
            <a:off x="7360920" y="2176272"/>
            <a:ext cx="4556455" cy="4206240"/>
          </a:xfrm>
          <a:prstGeom prst="rect">
            <a:avLst/>
          </a:prstGeom>
          <a:solidFill>
            <a:schemeClr val="bg1"/>
          </a:solidFill>
          <a:ln w="15875">
            <a:solidFill>
              <a:srgbClr val="0B3C6F"/>
            </a:solidFill>
            <a:prstDash val="solid"/>
          </a:ln>
        </p:spPr>
      </p:sp>
      <p:sp>
        <p:nvSpPr>
          <p:cNvPr id="31" name="Text 62"/>
          <p:cNvSpPr txBox="1"/>
          <p:nvPr/>
        </p:nvSpPr>
        <p:spPr>
          <a:xfrm>
            <a:off x="7498080" y="2249424"/>
            <a:ext cx="4282135" cy="274320"/>
          </a:xfrm>
          <a:prstGeom prst="rect">
            <a:avLst/>
          </a:prstGeom>
          <a:noFill/>
          <a:ln/>
        </p:spPr>
        <p:txBody>
          <a:bodyPr wrap="square" lIns="0" tIns="0" rIns="0" bIns="0" rtlCol="0" anchor="t"/>
          <a:lstStyle/>
          <a:p>
            <a:pPr indent="0" marL="0">
              <a:buNone/>
            </a:pPr>
            <a:r>
              <a:rPr lang="en-US" sz="1400" b="1" dirty="0">
                <a:solidFill>
                  <a:schemeClr val="tx2"/>
                </a:solidFill>
              </a:rPr>
              <a:t>WHERE THE AI IS</a:t>
            </a:r>
            <a:endParaRPr lang="en-US" sz="1400" dirty="0"/>
          </a:p>
        </p:txBody>
      </p:sp>
      <p:pic>
        <p:nvPicPr>
          <p:cNvPr id="32" name="Icon 63 eye" descr="D:\Projects\12. project\ppt\images\icons\eye.png">    </p:cNvPr>
          <p:cNvPicPr>
            <a:picLocks noChangeAspect="1"/>
          </p:cNvPicPr>
          <p:nvPr/>
        </p:nvPicPr>
        <p:blipFill>
          <a:blip r:embed="rId4"/>
          <a:stretch>
            <a:fillRect/>
          </a:stretch>
        </p:blipFill>
        <p:spPr>
          <a:xfrm>
            <a:off x="7498080" y="2624328"/>
            <a:ext cx="365760" cy="365760"/>
          </a:xfrm>
          <a:prstGeom prst="rect">
            <a:avLst/>
          </a:prstGeom>
        </p:spPr>
      </p:pic>
      <p:sp>
        <p:nvSpPr>
          <p:cNvPr id="33" name="Text 64"/>
          <p:cNvSpPr txBox="1"/>
          <p:nvPr/>
        </p:nvSpPr>
        <p:spPr>
          <a:xfrm>
            <a:off x="7973568" y="2587752"/>
            <a:ext cx="3806647" cy="676656"/>
          </a:xfrm>
          <a:prstGeom prst="rect">
            <a:avLst/>
          </a:prstGeom>
          <a:noFill/>
          <a:ln/>
        </p:spPr>
        <p:txBody>
          <a:bodyPr wrap="square" lIns="0" tIns="0" rIns="0" bIns="0" rtlCol="0" anchor="t"/>
          <a:lstStyle/>
          <a:p>
            <a:pPr indent="0" marL="0">
              <a:buNone/>
            </a:pPr>
            <a:r>
              <a:rPr lang="en-US" sz="1250" b="1" dirty="0">
                <a:solidFill>
                  <a:schemeClr val="tx2"/>
                </a:solidFill>
              </a:rPr>
              <a:t>Vision detector, trained by us</a:t>
            </a:r>
            <a:endParaRPr lang="en-US" sz="1150" dirty="0"/>
          </a:p>
          <a:p>
            <a:pPr indent="0" marL="0">
              <a:buNone/>
            </a:pPr>
            <a:r>
              <a:rPr lang="en-US" sz="1050" dirty="0">
                <a:solidFill>
                  <a:schemeClr val="tx1"/>
                </a:solidFill>
              </a:rPr>
              <a:t>YOLOv8n fine-tuned on 921 labelled photographs. Cracked AP@50 0.995, held-out test split. Runs in the browser: no server, no GPU.</a:t>
            </a:r>
            <a:endParaRPr lang="en-US" sz="1150" dirty="0"/>
          </a:p>
        </p:txBody>
      </p:sp>
      <p:pic>
        <p:nvPicPr>
          <p:cNvPr id="34" name="Icon 65 robot" descr="D:\Projects\12. project\ppt\images\icons\robot.png">    </p:cNvPr>
          <p:cNvPicPr>
            <a:picLocks noChangeAspect="1"/>
          </p:cNvPicPr>
          <p:nvPr/>
        </p:nvPicPr>
        <p:blipFill>
          <a:blip r:embed="rId5"/>
          <a:stretch>
            <a:fillRect/>
          </a:stretch>
        </p:blipFill>
        <p:spPr>
          <a:xfrm>
            <a:off x="7498080" y="3337560"/>
            <a:ext cx="365760" cy="365760"/>
          </a:xfrm>
          <a:prstGeom prst="rect">
            <a:avLst/>
          </a:prstGeom>
        </p:spPr>
      </p:pic>
      <p:sp>
        <p:nvSpPr>
          <p:cNvPr id="35" name="Text 66"/>
          <p:cNvSpPr txBox="1"/>
          <p:nvPr/>
        </p:nvSpPr>
        <p:spPr>
          <a:xfrm>
            <a:off x="7973568" y="3300984"/>
            <a:ext cx="3806647" cy="676656"/>
          </a:xfrm>
          <a:prstGeom prst="rect">
            <a:avLst/>
          </a:prstGeom>
          <a:noFill/>
          <a:ln/>
        </p:spPr>
        <p:txBody>
          <a:bodyPr wrap="square" lIns="0" tIns="0" rIns="0" bIns="0" rtlCol="0" anchor="t"/>
          <a:lstStyle/>
          <a:p>
            <a:pPr indent="0" marL="0">
              <a:buNone/>
            </a:pPr>
            <a:r>
              <a:rPr lang="en-US" sz="1250" b="1" dirty="0">
                <a:solidFill>
                  <a:schemeClr val="tx2"/>
                </a:solidFill>
              </a:rPr>
              <a:t>Agent reasoning, a language model</a:t>
            </a:r>
            <a:endParaRPr lang="en-US" sz="1150" dirty="0"/>
          </a:p>
          <a:p>
            <a:pPr indent="0" marL="0">
              <a:buNone/>
            </a:pPr>
            <a:r>
              <a:rPr lang="en-US" sz="1050" dirty="0">
                <a:solidFill>
                  <a:schemeClr val="tx1"/>
                </a:solidFill>
              </a:rPr>
              <a:t>openai/gpt-oss-120b on Groq writes the triage in words. It never supplies a number: the server recomputes every fact and cross-checks.</a:t>
            </a:r>
            <a:endParaRPr lang="en-US" sz="1150" dirty="0"/>
          </a:p>
        </p:txBody>
      </p:sp>
      <p:pic>
        <p:nvPicPr>
          <p:cNvPr id="36" name="Icon 67 clock" descr="D:\Projects\12. project\ppt\images\icons\clock.png">    </p:cNvPr>
          <p:cNvPicPr>
            <a:picLocks noChangeAspect="1"/>
          </p:cNvPicPr>
          <p:nvPr/>
        </p:nvPicPr>
        <p:blipFill>
          <a:blip r:embed="rId6"/>
          <a:stretch>
            <a:fillRect/>
          </a:stretch>
        </p:blipFill>
        <p:spPr>
          <a:xfrm>
            <a:off x="7498080" y="4050792"/>
            <a:ext cx="365760" cy="365760"/>
          </a:xfrm>
          <a:prstGeom prst="rect">
            <a:avLst/>
          </a:prstGeom>
        </p:spPr>
      </p:pic>
      <p:sp>
        <p:nvSpPr>
          <p:cNvPr id="37" name="Text 68"/>
          <p:cNvSpPr txBox="1"/>
          <p:nvPr/>
        </p:nvSpPr>
        <p:spPr>
          <a:xfrm>
            <a:off x="7973568" y="4014216"/>
            <a:ext cx="3806647" cy="676656"/>
          </a:xfrm>
          <a:prstGeom prst="rect">
            <a:avLst/>
          </a:prstGeom>
          <a:noFill/>
          <a:ln/>
        </p:spPr>
        <p:txBody>
          <a:bodyPr wrap="square" lIns="0" tIns="0" rIns="0" bIns="0" rtlCol="0" anchor="t"/>
          <a:lstStyle/>
          <a:p>
            <a:pPr indent="0" marL="0">
              <a:buNone/>
            </a:pPr>
            <a:r>
              <a:rPr lang="en-US" sz="1250" b="1" dirty="0">
                <a:solidFill>
                  <a:schemeClr val="tx2"/>
                </a:solidFill>
              </a:rPr>
              <a:t>Prognosis that ends in an hour</a:t>
            </a:r>
            <a:endParaRPr lang="en-US" sz="1150" dirty="0"/>
          </a:p>
          <a:p>
            <a:pPr indent="0" marL="0">
              <a:buNone/>
            </a:pPr>
            <a:r>
              <a:rPr lang="en-US" sz="1050" dirty="0">
                <a:solidFill>
                  <a:schemeClr val="tx1"/>
                </a:solidFill>
              </a:rPr>
              <a:t>A thermal-dose model and the 72 h forecast give "act before 14:00". Computed, never looked up.</a:t>
            </a:r>
            <a:endParaRPr lang="en-US" sz="1150" dirty="0"/>
          </a:p>
        </p:txBody>
      </p:sp>
      <p:pic>
        <p:nvPicPr>
          <p:cNvPr id="38" name="Icon 69 calc" descr="D:\Projects\12. project\ppt\images\icons\calc.png">    </p:cNvPr>
          <p:cNvPicPr>
            <a:picLocks noChangeAspect="1"/>
          </p:cNvPicPr>
          <p:nvPr/>
        </p:nvPicPr>
        <p:blipFill>
          <a:blip r:embed="rId7"/>
          <a:stretch>
            <a:fillRect/>
          </a:stretch>
        </p:blipFill>
        <p:spPr>
          <a:xfrm>
            <a:off x="7498080" y="4764024"/>
            <a:ext cx="365760" cy="365760"/>
          </a:xfrm>
          <a:prstGeom prst="rect">
            <a:avLst/>
          </a:prstGeom>
        </p:spPr>
      </p:pic>
      <p:sp>
        <p:nvSpPr>
          <p:cNvPr id="39" name="Text 70"/>
          <p:cNvSpPr txBox="1"/>
          <p:nvPr/>
        </p:nvSpPr>
        <p:spPr>
          <a:xfrm>
            <a:off x="7973568" y="4727448"/>
            <a:ext cx="3806647" cy="676656"/>
          </a:xfrm>
          <a:prstGeom prst="rect">
            <a:avLst/>
          </a:prstGeom>
          <a:noFill/>
          <a:ln/>
        </p:spPr>
        <p:txBody>
          <a:bodyPr wrap="square" lIns="0" tIns="0" rIns="0" bIns="0" rtlCol="0" anchor="t"/>
          <a:lstStyle/>
          <a:p>
            <a:pPr indent="0" marL="0">
              <a:buNone/>
            </a:pPr>
            <a:r>
              <a:rPr lang="en-US" sz="1250" b="1" dirty="0">
                <a:solidFill>
                  <a:schemeClr val="tx2"/>
                </a:solidFill>
              </a:rPr>
              <a:t>Crew plan, exact optimisation</a:t>
            </a:r>
            <a:endParaRPr lang="en-US" sz="1150" dirty="0"/>
          </a:p>
          <a:p>
            <a:pPr indent="0" marL="0">
              <a:buNone/>
            </a:pPr>
            <a:r>
              <a:rPr lang="en-US" sz="1050" dirty="0">
                <a:solidFill>
                  <a:schemeClr val="tx1"/>
                </a:solidFill>
              </a:rPr>
              <a:t>A mixed-integer program solved by HiGHS in WebAssembly, capped at 50 ms, beside a heuristic scored the same way.</a:t>
            </a:r>
            <a:endParaRPr lang="en-US" sz="1150" dirty="0"/>
          </a:p>
        </p:txBody>
      </p:sp>
      <p:sp>
        <p:nvSpPr>
          <p:cNvPr id="40" name="Card 71"/>
          <p:cNvSpPr/>
          <p:nvPr/>
        </p:nvSpPr>
        <p:spPr>
          <a:xfrm>
            <a:off x="7498080" y="5458968"/>
            <a:ext cx="4282135" cy="813816"/>
          </a:xfrm>
          <a:prstGeom prst="roundRect">
            <a:avLst>
              <a:gd name="adj" fmla="val 5618"/>
            </a:avLst>
          </a:prstGeom>
          <a:solidFill>
            <a:schemeClr val="bg2"/>
          </a:solidFill>
          <a:ln w="9525">
            <a:solidFill>
              <a:srgbClr val="0B3C6F"/>
            </a:solidFill>
          </a:ln>
        </p:spPr>
        <p:txBody>
          <a:bodyPr wrap="square" lIns="63500" tIns="88900" rIns="88900" bIns="63500" rtlCol="0" anchor="ctr"/>
          <a:lstStyle/>
          <a:p>
            <a:pPr indent="0" marL="0">
              <a:buNone/>
            </a:pPr>
            <a:r>
              <a:rPr lang="en-US" sz="1050" b="1" dirty="0">
                <a:solidFill>
                  <a:schemeClr val="tx2"/>
                </a:solidFill>
              </a:rPr>
              <a:t>Not AI, on purpose: </a:t>
            </a:r>
            <a:pPr indent="0" marL="0">
              <a:buNone/>
            </a:pPr>
            <a:r>
              <a:rPr lang="en-US" sz="1050" dirty="0">
                <a:solidFill>
                  <a:schemeClr val="tx1"/>
                </a:solidFill>
              </a:rPr>
              <a:t>the queue order is a fixed formula, never a model’s opinion.</a:t>
            </a:r>
            <a:endParaRPr lang="en-US" sz="1050" dirty="0"/>
          </a:p>
          <a:p>
            <a:pPr indent="0" marL="0">
              <a:buNone/>
            </a:pPr>
            <a:r>
              <a:rPr lang="en-US" sz="1050" b="1" dirty="0">
                <a:solidFill>
                  <a:schemeClr val="accent3"/>
                </a:solidFill>
              </a:rPr>
              <a:t>In progress, no result claimed: </a:t>
            </a:r>
            <a:pPr indent="0" marL="0">
              <a:buNone/>
            </a:pPr>
            <a:r>
              <a:rPr lang="en-US" sz="1050" dirty="0">
                <a:solidFill>
                  <a:schemeClr val="tx1"/>
                </a:solidFill>
              </a:rPr>
              <a:t>a thermal classifier on Raptor Maps’ InfraredSolarModules. No model is trained and no metric is quoted.</a:t>
            </a:r>
            <a:endParaRPr lang="en-US" sz="105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2103120" y="128016"/>
            <a:ext cx="7985455" cy="676656"/>
          </a:xfrm>
          <a:prstGeom prst="rect">
            <a:avLst/>
          </a:prstGeom>
          <a:noFill/>
          <a:ln/>
        </p:spPr>
        <p:txBody>
          <a:bodyPr wrap="square" lIns="0" tIns="0" rIns="0" bIns="0" rtlCol="0" anchor="ctr"/>
          <a:lstStyle/>
          <a:p>
            <a:pPr algn="ctr" indent="0" marL="0">
              <a:buNone/>
            </a:pPr>
            <a:r>
              <a:rPr lang="en-US" sz="3000" b="1" dirty="0">
                <a:solidFill>
                  <a:schemeClr val="tx2"/>
                </a:solidFill>
              </a:rPr>
              <a:t>TECH STACK AND FLOW</a:t>
            </a:r>
            <a:endParaRPr lang="en-US" sz="3000" dirty="0"/>
          </a:p>
        </p:txBody>
      </p:sp>
      <p:sp>
        <p:nvSpPr>
          <p:cNvPr id="4" name="Frame 72"/>
          <p:cNvSpPr/>
          <p:nvPr/>
        </p:nvSpPr>
        <p:spPr>
          <a:xfrm>
            <a:off x="274320" y="1024128"/>
            <a:ext cx="7086600" cy="5358384"/>
          </a:xfrm>
          <a:prstGeom prst="rect">
            <a:avLst/>
          </a:prstGeom>
          <a:solidFill>
            <a:schemeClr val="bg1"/>
          </a:solidFill>
          <a:ln w="15875">
            <a:solidFill>
              <a:srgbClr val="0B3C6F"/>
            </a:solidFill>
            <a:prstDash val="solid"/>
          </a:ln>
        </p:spPr>
      </p:sp>
      <p:sp>
        <p:nvSpPr>
          <p:cNvPr id="5" name="Text 73"/>
          <p:cNvSpPr txBox="1"/>
          <p:nvPr/>
        </p:nvSpPr>
        <p:spPr>
          <a:xfrm>
            <a:off x="411480" y="1078992"/>
            <a:ext cx="6812280" cy="384048"/>
          </a:xfrm>
          <a:prstGeom prst="rect">
            <a:avLst/>
          </a:prstGeom>
          <a:noFill/>
          <a:ln/>
        </p:spPr>
        <p:txBody>
          <a:bodyPr wrap="square" lIns="0" tIns="0" rIns="0" bIns="0" rtlCol="0" anchor="t"/>
          <a:lstStyle/>
          <a:p>
            <a:pPr indent="0" marL="0">
              <a:buNone/>
            </a:pPr>
            <a:r>
              <a:rPr lang="en-US" sz="1150" b="1" dirty="0">
                <a:solidFill>
                  <a:schemeClr val="tx2"/>
                </a:solidFill>
              </a:rPr>
              <a:t>A physics model, a trained detector and an exact solver, all running in the browser behind a build that fails if a number drifts.</a:t>
            </a:r>
            <a:endParaRPr lang="en-US" sz="1150" dirty="0"/>
          </a:p>
        </p:txBody>
      </p:sp>
      <p:sp>
        <p:nvSpPr>
          <p:cNvPr id="6" name="Text 74"/>
          <p:cNvSpPr txBox="1"/>
          <p:nvPr/>
        </p:nvSpPr>
        <p:spPr>
          <a:xfrm>
            <a:off x="411480" y="1527048"/>
            <a:ext cx="1005840" cy="658368"/>
          </a:xfrm>
          <a:prstGeom prst="rect">
            <a:avLst/>
          </a:prstGeom>
          <a:noFill/>
          <a:ln/>
        </p:spPr>
        <p:txBody>
          <a:bodyPr wrap="square" lIns="0" tIns="0" rIns="0" bIns="0" rtlCol="0" anchor="ctr"/>
          <a:lstStyle/>
          <a:p>
            <a:pPr indent="0" marL="0">
              <a:buNone/>
            </a:pPr>
            <a:r>
              <a:rPr lang="en-US" sz="1100" b="1" dirty="0">
                <a:solidFill>
                  <a:schemeClr val="tx2"/>
                </a:solidFill>
              </a:rPr>
              <a:t>BEFORE THE BUILD</a:t>
            </a:r>
            <a:endParaRPr lang="en-US" sz="1100" dirty="0"/>
          </a:p>
        </p:txBody>
      </p:sp>
      <p:sp>
        <p:nvSpPr>
          <p:cNvPr id="7" name="Card 75"/>
          <p:cNvSpPr/>
          <p:nvPr/>
        </p:nvSpPr>
        <p:spPr>
          <a:xfrm>
            <a:off x="1508760" y="1527048"/>
            <a:ext cx="1844040" cy="658368"/>
          </a:xfrm>
          <a:prstGeom prst="roundRect">
            <a:avLst>
              <a:gd name="adj" fmla="val 6944"/>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PV model and data generators</a:t>
            </a:r>
            <a:endParaRPr lang="en-US" sz="1050" dirty="0"/>
          </a:p>
          <a:p>
            <a:pPr algn="ctr" indent="0" marL="0">
              <a:buNone/>
            </a:pPr>
            <a:r>
              <a:rPr lang="en-US" sz="1050" dirty="0">
                <a:solidFill>
                  <a:schemeClr val="tx1"/>
                </a:solidFill>
              </a:rPr>
              <a:t>Python</a:t>
            </a:r>
            <a:endParaRPr lang="en-US" sz="1050" dirty="0"/>
          </a:p>
        </p:txBody>
      </p:sp>
      <p:sp>
        <p:nvSpPr>
          <p:cNvPr id="8" name="Card 76"/>
          <p:cNvSpPr/>
          <p:nvPr/>
        </p:nvSpPr>
        <p:spPr>
          <a:xfrm>
            <a:off x="3444240" y="1527048"/>
            <a:ext cx="1844040" cy="658368"/>
          </a:xfrm>
          <a:prstGeom prst="roundRect">
            <a:avLst>
              <a:gd name="adj" fmla="val 6944"/>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Detector training</a:t>
            </a:r>
            <a:endParaRPr lang="en-US" sz="1050" dirty="0"/>
          </a:p>
          <a:p>
            <a:pPr algn="ctr" indent="0" marL="0">
              <a:buNone/>
            </a:pPr>
            <a:r>
              <a:rPr lang="en-US" sz="1050" dirty="0">
                <a:solidFill>
                  <a:schemeClr val="tx1"/>
                </a:solidFill>
              </a:rPr>
              <a:t>YOLOv8n to ONNX, Colab</a:t>
            </a:r>
            <a:endParaRPr lang="en-US" sz="1050" dirty="0"/>
          </a:p>
        </p:txBody>
      </p:sp>
      <p:sp>
        <p:nvSpPr>
          <p:cNvPr id="9" name="Card 77"/>
          <p:cNvSpPr/>
          <p:nvPr/>
        </p:nvSpPr>
        <p:spPr>
          <a:xfrm>
            <a:off x="5379720" y="1527048"/>
            <a:ext cx="1844040" cy="658368"/>
          </a:xfrm>
          <a:prstGeom prst="roundRect">
            <a:avLst>
              <a:gd name="adj" fmla="val 6944"/>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Thermal cell grid</a:t>
            </a:r>
            <a:endParaRPr lang="en-US" sz="1050" dirty="0"/>
          </a:p>
          <a:p>
            <a:pPr algn="ctr" indent="0" marL="0">
              <a:buNone/>
            </a:pPr>
            <a:r>
              <a:rPr lang="en-US" sz="1050" dirty="0">
                <a:solidFill>
                  <a:schemeClr val="tx1"/>
                </a:solidFill>
              </a:rPr>
              <a:t>classical image processing</a:t>
            </a:r>
            <a:endParaRPr lang="en-US" sz="1050" dirty="0"/>
          </a:p>
        </p:txBody>
      </p:sp>
      <p:sp>
        <p:nvSpPr>
          <p:cNvPr id="10" name="Arrow 78"/>
          <p:cNvSpPr/>
          <p:nvPr/>
        </p:nvSpPr>
        <p:spPr>
          <a:xfrm>
            <a:off x="4247388" y="2212848"/>
            <a:ext cx="237744" cy="182880"/>
          </a:xfrm>
          <a:prstGeom prst="downArrow">
            <a:avLst/>
          </a:prstGeom>
          <a:solidFill>
            <a:schemeClr val="tx2"/>
          </a:solidFill>
          <a:ln w="12700">
            <a:solidFill>
              <a:srgbClr val="0B3C6F"/>
            </a:solidFill>
            <a:prstDash val="solid"/>
          </a:ln>
        </p:spPr>
      </p:sp>
      <p:sp>
        <p:nvSpPr>
          <p:cNvPr id="11" name="Text 79"/>
          <p:cNvSpPr txBox="1"/>
          <p:nvPr/>
        </p:nvSpPr>
        <p:spPr>
          <a:xfrm>
            <a:off x="411480" y="2423160"/>
            <a:ext cx="1005840" cy="502920"/>
          </a:xfrm>
          <a:prstGeom prst="rect">
            <a:avLst/>
          </a:prstGeom>
          <a:noFill/>
          <a:ln/>
        </p:spPr>
        <p:txBody>
          <a:bodyPr wrap="square" lIns="0" tIns="0" rIns="0" bIns="0" rtlCol="0" anchor="ctr"/>
          <a:lstStyle/>
          <a:p>
            <a:pPr indent="0" marL="0">
              <a:buNone/>
            </a:pPr>
            <a:r>
              <a:rPr lang="en-US" sz="1100" b="1" dirty="0">
                <a:solidFill>
                  <a:schemeClr val="tx2"/>
                </a:solidFill>
              </a:rPr>
              <a:t>BUILD GATE</a:t>
            </a:r>
            <a:endParaRPr lang="en-US" sz="1100" dirty="0"/>
          </a:p>
        </p:txBody>
      </p:sp>
      <p:sp>
        <p:nvSpPr>
          <p:cNvPr id="12" name="Card 80"/>
          <p:cNvSpPr/>
          <p:nvPr/>
        </p:nvSpPr>
        <p:spPr>
          <a:xfrm>
            <a:off x="1508760" y="2423160"/>
            <a:ext cx="5715000" cy="502920"/>
          </a:xfrm>
          <a:prstGeom prst="roundRect">
            <a:avLst>
              <a:gd name="adj" fmla="val 9091"/>
            </a:avLst>
          </a:prstGeom>
          <a:solidFill>
            <a:schemeClr val="tx2"/>
          </a:solidFill>
          <a:ln w="9525">
            <a:solidFill>
              <a:srgbClr val="0B3C6F"/>
            </a:solidFill>
          </a:ln>
        </p:spPr>
        <p:txBody>
          <a:bodyPr wrap="square" lIns="25400" tIns="50800" rIns="50800" bIns="25400" rtlCol="0" anchor="ctr"/>
          <a:lstStyle/>
          <a:p>
            <a:pPr algn="ctr" indent="0" marL="0">
              <a:buNone/>
            </a:pPr>
            <a:r>
              <a:rPr lang="en-US" sz="1050" b="1" dirty="0">
                <a:solidFill>
                  <a:schemeClr val="bg1"/>
                </a:solidFill>
              </a:rPr>
              <a:t>Zod schemas and 16 invariants   &gt;   scan for hardcoded numbers and wording   &gt;   453 tests, physics golden-tested against Python   &gt;   compile</a:t>
            </a:r>
            <a:endParaRPr lang="en-US" sz="1050" dirty="0"/>
          </a:p>
        </p:txBody>
      </p:sp>
      <p:sp>
        <p:nvSpPr>
          <p:cNvPr id="13" name="Arrow 81"/>
          <p:cNvSpPr/>
          <p:nvPr/>
        </p:nvSpPr>
        <p:spPr>
          <a:xfrm>
            <a:off x="4247388" y="2953512"/>
            <a:ext cx="237744" cy="182880"/>
          </a:xfrm>
          <a:prstGeom prst="downArrow">
            <a:avLst/>
          </a:prstGeom>
          <a:solidFill>
            <a:schemeClr val="tx2"/>
          </a:solidFill>
          <a:ln w="12700">
            <a:solidFill>
              <a:srgbClr val="0B3C6F"/>
            </a:solidFill>
            <a:prstDash val="solid"/>
          </a:ln>
        </p:spPr>
      </p:sp>
      <p:sp>
        <p:nvSpPr>
          <p:cNvPr id="14" name="Text 82"/>
          <p:cNvSpPr txBox="1"/>
          <p:nvPr/>
        </p:nvSpPr>
        <p:spPr>
          <a:xfrm>
            <a:off x="411480" y="3163824"/>
            <a:ext cx="1005840" cy="1783080"/>
          </a:xfrm>
          <a:prstGeom prst="rect">
            <a:avLst/>
          </a:prstGeom>
          <a:noFill/>
          <a:ln/>
        </p:spPr>
        <p:txBody>
          <a:bodyPr wrap="square" lIns="0" tIns="0" rIns="0" bIns="0" rtlCol="0" anchor="ctr"/>
          <a:lstStyle/>
          <a:p>
            <a:pPr indent="0" marL="0">
              <a:buNone/>
            </a:pPr>
            <a:r>
              <a:rPr lang="en-US" sz="1100" b="1" dirty="0">
                <a:solidFill>
                  <a:schemeClr val="tx2"/>
                </a:solidFill>
              </a:rPr>
              <a:t>IN THE BROWSER</a:t>
            </a:r>
            <a:endParaRPr lang="en-US" sz="1100" dirty="0"/>
          </a:p>
        </p:txBody>
      </p:sp>
      <p:sp>
        <p:nvSpPr>
          <p:cNvPr id="15" name="Card 83"/>
          <p:cNvSpPr/>
          <p:nvPr/>
        </p:nvSpPr>
        <p:spPr>
          <a:xfrm>
            <a:off x="1508760" y="3163824"/>
            <a:ext cx="5715000" cy="365760"/>
          </a:xfrm>
          <a:prstGeom prst="roundRect">
            <a:avLst>
              <a:gd name="adj" fmla="val 12500"/>
            </a:avLst>
          </a:prstGeom>
          <a:solidFill>
            <a:schemeClr val="accent6"/>
          </a:solidFill>
          <a:ln w="9525">
            <a:solidFill>
              <a:srgbClr val="0B3C6F"/>
            </a:solidFill>
          </a:ln>
        </p:spPr>
        <p:txBody>
          <a:bodyPr wrap="square" lIns="25400" tIns="50800" rIns="50800" bIns="25400" rtlCol="0" anchor="ctr"/>
          <a:lstStyle/>
          <a:p>
            <a:pPr algn="ctr" indent="0" marL="0">
              <a:buNone/>
            </a:pPr>
            <a:r>
              <a:rPr lang="en-US" sz="1050" b="1" dirty="0">
                <a:solidFill>
                  <a:schemeClr val="tx1"/>
                </a:solidFill>
              </a:rPr>
              <a:t>ONE CLOCK: site time. Every screen is a pure function of it and the scenario events</a:t>
            </a:r>
            <a:endParaRPr lang="en-US" sz="1050" dirty="0"/>
          </a:p>
        </p:txBody>
      </p:sp>
      <p:sp>
        <p:nvSpPr>
          <p:cNvPr id="16" name="Card 84"/>
          <p:cNvSpPr/>
          <p:nvPr/>
        </p:nvSpPr>
        <p:spPr>
          <a:xfrm>
            <a:off x="1508760" y="3621024"/>
            <a:ext cx="1844040" cy="603504"/>
          </a:xfrm>
          <a:prstGeom prst="roundRect">
            <a:avLst>
              <a:gd name="adj" fmla="val 7576"/>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PV model per array</a:t>
            </a:r>
            <a:endParaRPr lang="en-US" sz="1050" dirty="0"/>
          </a:p>
          <a:p>
            <a:pPr algn="ctr" indent="0" marL="0">
              <a:buNone/>
            </a:pPr>
            <a:r>
              <a:rPr lang="en-US" sz="1050" dirty="0">
                <a:solidFill>
                  <a:schemeClr val="tx1"/>
                </a:solidFill>
              </a:rPr>
              <a:t>plus dropped hazards</a:t>
            </a:r>
            <a:endParaRPr lang="en-US" sz="1050" dirty="0"/>
          </a:p>
        </p:txBody>
      </p:sp>
      <p:sp>
        <p:nvSpPr>
          <p:cNvPr id="17" name="Card 85"/>
          <p:cNvSpPr/>
          <p:nvPr/>
        </p:nvSpPr>
        <p:spPr>
          <a:xfrm>
            <a:off x="3444240" y="3621024"/>
            <a:ext cx="1844040" cy="603504"/>
          </a:xfrm>
          <a:prstGeom prst="roundRect">
            <a:avLst>
              <a:gd name="adj" fmla="val 7576"/>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Ranked queue</a:t>
            </a:r>
            <a:endParaRPr lang="en-US" sz="1050" dirty="0"/>
          </a:p>
          <a:p>
            <a:pPr algn="ctr" indent="0" marL="0">
              <a:buNone/>
            </a:pPr>
            <a:r>
              <a:rPr lang="en-US" sz="1050" dirty="0">
                <a:solidFill>
                  <a:schemeClr val="tx1"/>
                </a:solidFill>
              </a:rPr>
              <a:t>one fixed formula</a:t>
            </a:r>
            <a:endParaRPr lang="en-US" sz="1050" dirty="0"/>
          </a:p>
        </p:txBody>
      </p:sp>
      <p:sp>
        <p:nvSpPr>
          <p:cNvPr id="18" name="Card 86"/>
          <p:cNvSpPr/>
          <p:nvPr/>
        </p:nvSpPr>
        <p:spPr>
          <a:xfrm>
            <a:off x="5379720" y="3621024"/>
            <a:ext cx="1844040" cy="603504"/>
          </a:xfrm>
          <a:prstGeom prst="roundRect">
            <a:avLst>
              <a:gd name="adj" fmla="val 7576"/>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Crew plan</a:t>
            </a:r>
            <a:endParaRPr lang="en-US" sz="1050" dirty="0"/>
          </a:p>
          <a:p>
            <a:pPr algn="ctr" indent="0" marL="0">
              <a:buNone/>
            </a:pPr>
            <a:r>
              <a:rPr lang="en-US" sz="1050" dirty="0">
                <a:solidFill>
                  <a:schemeClr val="tx1"/>
                </a:solidFill>
              </a:rPr>
              <a:t>HiGHS in WebAssembly</a:t>
            </a:r>
            <a:endParaRPr lang="en-US" sz="1050" dirty="0"/>
          </a:p>
        </p:txBody>
      </p:sp>
      <p:sp>
        <p:nvSpPr>
          <p:cNvPr id="19" name="Card 87"/>
          <p:cNvSpPr/>
          <p:nvPr/>
        </p:nvSpPr>
        <p:spPr>
          <a:xfrm>
            <a:off x="1508760" y="4297680"/>
            <a:ext cx="1844040" cy="603504"/>
          </a:xfrm>
          <a:prstGeom prst="roundRect">
            <a:avLst>
              <a:gd name="adj" fmla="val 7576"/>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Detector</a:t>
            </a:r>
            <a:endParaRPr lang="en-US" sz="1050" dirty="0"/>
          </a:p>
          <a:p>
            <a:pPr algn="ctr" indent="0" marL="0">
              <a:buNone/>
            </a:pPr>
            <a:r>
              <a:rPr lang="en-US" sz="1050" dirty="0">
                <a:solidFill>
                  <a:schemeClr val="tx1"/>
                </a:solidFill>
              </a:rPr>
              <a:t>ONNX Runtime Web</a:t>
            </a:r>
            <a:endParaRPr lang="en-US" sz="1050" dirty="0"/>
          </a:p>
        </p:txBody>
      </p:sp>
      <p:sp>
        <p:nvSpPr>
          <p:cNvPr id="20" name="Card 88"/>
          <p:cNvSpPr/>
          <p:nvPr/>
        </p:nvSpPr>
        <p:spPr>
          <a:xfrm>
            <a:off x="3444240" y="4297680"/>
            <a:ext cx="1844040" cy="603504"/>
          </a:xfrm>
          <a:prstGeom prst="roundRect">
            <a:avLst>
              <a:gd name="adj" fmla="val 7576"/>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3D twin</a:t>
            </a:r>
            <a:endParaRPr lang="en-US" sz="1050" dirty="0"/>
          </a:p>
          <a:p>
            <a:pPr algn="ctr" indent="0" marL="0">
              <a:buNone/>
            </a:pPr>
            <a:r>
              <a:rPr lang="en-US" sz="1050" dirty="0">
                <a:solidFill>
                  <a:schemeClr val="tx1"/>
                </a:solidFill>
              </a:rPr>
              <a:t>React Three Fiber</a:t>
            </a:r>
            <a:endParaRPr lang="en-US" sz="1050" dirty="0"/>
          </a:p>
        </p:txBody>
      </p:sp>
      <p:sp>
        <p:nvSpPr>
          <p:cNvPr id="21" name="Card 89"/>
          <p:cNvSpPr/>
          <p:nvPr/>
        </p:nvSpPr>
        <p:spPr>
          <a:xfrm>
            <a:off x="5379720" y="4297680"/>
            <a:ext cx="1844040" cy="603504"/>
          </a:xfrm>
          <a:prstGeom prst="roundRect">
            <a:avLst>
              <a:gd name="adj" fmla="val 7576"/>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dirty="0">
                <a:solidFill>
                  <a:schemeClr val="tx1"/>
                </a:solidFill>
              </a:rPr>
              <a:t>Glass overlay</a:t>
            </a:r>
            <a:endParaRPr lang="en-US" sz="1050" dirty="0"/>
          </a:p>
          <a:p>
            <a:pPr algn="ctr" indent="0" marL="0">
              <a:buNone/>
            </a:pPr>
            <a:r>
              <a:rPr lang="en-US" sz="1050" dirty="0">
                <a:solidFill>
                  <a:schemeClr val="tx1"/>
                </a:solidFill>
              </a:rPr>
              <a:t>six screens, 2D fallback</a:t>
            </a:r>
            <a:endParaRPr lang="en-US" sz="1050" dirty="0"/>
          </a:p>
        </p:txBody>
      </p:sp>
      <p:sp>
        <p:nvSpPr>
          <p:cNvPr id="22" name="Arrow 90"/>
          <p:cNvSpPr/>
          <p:nvPr/>
        </p:nvSpPr>
        <p:spPr>
          <a:xfrm>
            <a:off x="2818638" y="4974336"/>
            <a:ext cx="237744" cy="182880"/>
          </a:xfrm>
          <a:prstGeom prst="downArrow">
            <a:avLst/>
          </a:prstGeom>
          <a:solidFill>
            <a:schemeClr val="tx2"/>
          </a:solidFill>
          <a:ln w="12700">
            <a:solidFill>
              <a:srgbClr val="0B3C6F"/>
            </a:solidFill>
            <a:prstDash val="solid"/>
          </a:ln>
        </p:spPr>
      </p:sp>
      <p:sp>
        <p:nvSpPr>
          <p:cNvPr id="23" name="Arrow 91"/>
          <p:cNvSpPr/>
          <p:nvPr/>
        </p:nvSpPr>
        <p:spPr>
          <a:xfrm>
            <a:off x="5676138" y="4974336"/>
            <a:ext cx="237744" cy="182880"/>
          </a:xfrm>
          <a:prstGeom prst="downArrow">
            <a:avLst/>
          </a:prstGeom>
          <a:solidFill>
            <a:schemeClr val="tx2"/>
          </a:solidFill>
          <a:ln w="12700">
            <a:solidFill>
              <a:srgbClr val="0B3C6F"/>
            </a:solidFill>
            <a:prstDash val="solid"/>
          </a:ln>
        </p:spPr>
      </p:sp>
      <p:sp>
        <p:nvSpPr>
          <p:cNvPr id="24" name="Text 92"/>
          <p:cNvSpPr txBox="1"/>
          <p:nvPr/>
        </p:nvSpPr>
        <p:spPr>
          <a:xfrm>
            <a:off x="411480" y="5184648"/>
            <a:ext cx="1005840" cy="1088136"/>
          </a:xfrm>
          <a:prstGeom prst="rect">
            <a:avLst/>
          </a:prstGeom>
          <a:noFill/>
          <a:ln/>
        </p:spPr>
        <p:txBody>
          <a:bodyPr wrap="square" lIns="0" tIns="0" rIns="0" bIns="0" rtlCol="0" anchor="ctr"/>
          <a:lstStyle/>
          <a:p>
            <a:pPr indent="0" marL="0">
              <a:buNone/>
            </a:pPr>
            <a:r>
              <a:rPr lang="en-US" sz="1100" b="1" dirty="0">
                <a:solidFill>
                  <a:schemeClr val="tx2"/>
                </a:solidFill>
              </a:rPr>
              <a:t>WHAT LEAVES IT</a:t>
            </a:r>
            <a:endParaRPr lang="en-US" sz="1100" dirty="0"/>
          </a:p>
        </p:txBody>
      </p:sp>
      <p:sp>
        <p:nvSpPr>
          <p:cNvPr id="25" name="Card 93"/>
          <p:cNvSpPr/>
          <p:nvPr/>
        </p:nvSpPr>
        <p:spPr>
          <a:xfrm>
            <a:off x="1508760" y="5184648"/>
            <a:ext cx="2811780" cy="1088136"/>
          </a:xfrm>
          <a:prstGeom prst="roundRect">
            <a:avLst>
              <a:gd name="adj" fmla="val 4202"/>
            </a:avLst>
          </a:prstGeom>
          <a:solidFill>
            <a:schemeClr val="bg2"/>
          </a:solidFill>
          <a:ln w="9525">
            <a:solidFill>
              <a:srgbClr val="0B3C6F"/>
            </a:solidFill>
          </a:ln>
        </p:spPr>
        <p:txBody>
          <a:bodyPr wrap="square" lIns="25400" tIns="50800" rIns="50800" bIns="25400" rtlCol="0" anchor="ctr"/>
          <a:lstStyle/>
          <a:p>
            <a:pPr algn="ctr" indent="0" marL="0">
              <a:buNone/>
            </a:pPr>
            <a:r>
              <a:rPr lang="en-US" sz="1050" b="1" dirty="0">
                <a:solidFill>
                  <a:schemeClr val="accent4"/>
                </a:solidFill>
              </a:rPr>
              <a:t>ONE NETWORK CALL</a:t>
            </a:r>
            <a:endParaRPr lang="en-US" sz="1050" dirty="0"/>
          </a:p>
          <a:p>
            <a:pPr algn="ctr" indent="0" marL="0">
              <a:buNone/>
            </a:pPr>
            <a:r>
              <a:rPr lang="en-US" sz="1050" dirty="0">
                <a:solidFill>
                  <a:schemeClr val="tx1"/>
                </a:solidFill>
              </a:rPr>
              <a:t>/api/triage to Groq. The server recomputes the facts and cross-checks the reply</a:t>
            </a:r>
            <a:endParaRPr lang="en-US" sz="1050" dirty="0"/>
          </a:p>
        </p:txBody>
      </p:sp>
      <p:sp>
        <p:nvSpPr>
          <p:cNvPr id="26" name="Card 94"/>
          <p:cNvSpPr/>
          <p:nvPr/>
        </p:nvSpPr>
        <p:spPr>
          <a:xfrm>
            <a:off x="4411980" y="5184648"/>
            <a:ext cx="2811780" cy="1088136"/>
          </a:xfrm>
          <a:prstGeom prst="roundRect">
            <a:avLst>
              <a:gd name="adj" fmla="val 4202"/>
            </a:avLst>
          </a:prstGeom>
          <a:solidFill>
            <a:schemeClr val="accent3"/>
          </a:solidFill>
          <a:ln w="9525">
            <a:solidFill>
              <a:srgbClr val="0B3C6F"/>
            </a:solidFill>
          </a:ln>
        </p:spPr>
        <p:txBody>
          <a:bodyPr wrap="square" lIns="25400" tIns="50800" rIns="50800" bIns="25400" rtlCol="0" anchor="ctr"/>
          <a:lstStyle/>
          <a:p>
            <a:pPr algn="ctr" indent="0" marL="0">
              <a:buNone/>
            </a:pPr>
            <a:r>
              <a:rPr lang="en-US" sz="1050" b="1" dirty="0">
                <a:solidFill>
                  <a:schemeClr val="bg1"/>
                </a:solidFill>
              </a:rPr>
              <a:t>THE OPERATOR</a:t>
            </a:r>
            <a:endParaRPr lang="en-US" sz="1050" dirty="0"/>
          </a:p>
          <a:p>
            <a:pPr algn="ctr" indent="0" marL="0">
              <a:buNone/>
            </a:pPr>
            <a:r>
              <a:rPr lang="en-US" sz="1050" dirty="0">
                <a:solidFill>
                  <a:schemeClr val="bg1"/>
                </a:solidFill>
              </a:rPr>
              <a:t>approves or declines. Only then does a work order exist</a:t>
            </a:r>
            <a:endParaRPr lang="en-US" sz="1050" dirty="0"/>
          </a:p>
        </p:txBody>
      </p:sp>
      <p:sp>
        <p:nvSpPr>
          <p:cNvPr id="27" name="Bar 95"/>
          <p:cNvSpPr/>
          <p:nvPr/>
        </p:nvSpPr>
        <p:spPr>
          <a:xfrm>
            <a:off x="7543800" y="1024128"/>
            <a:ext cx="4373575"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TECHNOLOGY STACK</a:t>
            </a:r>
            <a:endParaRPr lang="en-US" sz="1400" dirty="0"/>
          </a:p>
        </p:txBody>
      </p:sp>
      <p:graphicFrame>
        <p:nvGraphicFramePr>
          <p:cNvPr id="5" name="Table 96"/>
          <p:cNvGraphicFramePr>
            <a:graphicFrameLocks noGrp="1"/>
          </p:cNvGraphicFramePr>
          <p:nvPr>
            <p:extLst>
              <p:ext uri="{D42A27DB-BD31-4B8C-83A1-F6EECF244321}">
                <p14:modId xmlns:p14="http://schemas.microsoft.com/office/powerpoint/2010/main" val="1579011935"/>
              </p:ext>
            </p:extLst>
          </p:nvPr>
        </p:nvGraphicFramePr>
        <p:xfrm>
          <a:off x="7543800" y="1408176"/>
          <a:ext cx="4373575" cy="914400"/>
        </p:xfrm>
        <a:graphic>
          <a:graphicData uri="http://schemas.openxmlformats.org/drawingml/2006/table">
            <a:tbl>
              <a:tblPr/>
              <a:tblGrid>
                <a:gridCol w="1234440"/>
                <a:gridCol w="3139135"/>
              </a:tblGrid>
              <a:tr h="0">
                <a:tc>
                  <a:txBody>
                    <a:bodyPr/>
                    <a:lstStyle/>
                    <a:p>
                      <a:pPr indent="0" marL="0">
                        <a:buNone/>
                      </a:pPr>
                      <a:r>
                        <a:rPr lang="en-US" sz="1100" b="1" dirty="0">
                          <a:solidFill>
                            <a:srgbClr val="111827"/>
                          </a:solidFill>
                        </a:rPr>
                        <a:t>Frontend</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100" dirty="0">
                          <a:solidFill>
                            <a:srgbClr val="111827"/>
                          </a:solidFill>
                        </a:rPr>
                        <a:t>Next.js 15, React 19, TypeScript</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11827"/>
                          </a:solidFill>
                        </a:rPr>
                        <a:t>3D twin</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100" dirty="0">
                          <a:solidFill>
                            <a:srgbClr val="111827"/>
                          </a:solidFill>
                        </a:rPr>
                        <a:t>three.js, React Three Fiber</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11827"/>
                          </a:solidFill>
                        </a:rPr>
                        <a:t>Vision</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100" dirty="0">
                          <a:solidFill>
                            <a:srgbClr val="111827"/>
                          </a:solidFill>
                        </a:rPr>
                        <a:t>YOLOv8n, run on ONNX Runtime Web</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11827"/>
                          </a:solidFill>
                        </a:rPr>
                        <a:t>Optimiser</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100" dirty="0">
                          <a:solidFill>
                            <a:srgbClr val="111827"/>
                          </a:solidFill>
                        </a:rPr>
                        <a:t>HiGHS, compiled to WebAssembly</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11827"/>
                          </a:solidFill>
                        </a:rPr>
                        <a:t>Agent</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100" dirty="0">
                          <a:solidFill>
                            <a:srgbClr val="111827"/>
                          </a:solidFill>
                        </a:rPr>
                        <a:t>openai/gpt-oss-120b on Groq</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11827"/>
                          </a:solidFill>
                        </a:rPr>
                        <a:t>State, schema</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100" dirty="0">
                          <a:solidFill>
                            <a:srgbClr val="111827"/>
                          </a:solidFill>
                        </a:rPr>
                        <a:t>Zustand, Zod</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11827"/>
                          </a:solidFill>
                        </a:rPr>
                        <a:t>Offline</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EAF2FB"/>
                    </a:solidFill>
                  </a:tcPr>
                </a:tc>
                <a:tc>
                  <a:txBody>
                    <a:bodyPr/>
                    <a:lstStyle/>
                    <a:p>
                      <a:pPr indent="0" marL="0">
                        <a:buNone/>
                      </a:pPr>
                      <a:r>
                        <a:rPr lang="en-US" sz="1100" dirty="0">
                          <a:solidFill>
                            <a:srgbClr val="111827"/>
                          </a:solidFill>
                        </a:rPr>
                        <a:t>Python; training on a Colab T4</a:t>
                      </a:r>
                      <a:endParaRPr lang="en-US" sz="11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bl>
          </a:graphicData>
        </a:graphic>
      </p:graphicFrame>
      <p:sp>
        <p:nvSpPr>
          <p:cNvPr id="29" name="Bar 97"/>
          <p:cNvSpPr/>
          <p:nvPr/>
        </p:nvSpPr>
        <p:spPr>
          <a:xfrm>
            <a:off x="7543800" y="3538728"/>
            <a:ext cx="4373575"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WHY THESE CHOICES</a:t>
            </a:r>
            <a:endParaRPr lang="en-US" sz="1400" dirty="0"/>
          </a:p>
        </p:txBody>
      </p:sp>
      <p:pic>
        <p:nvPicPr>
          <p:cNvPr id="30" name="Icon 98 globe" descr="D:\Projects\12. project\ppt\images\icons\globe.png">    </p:cNvPr>
          <p:cNvPicPr>
            <a:picLocks noChangeAspect="1"/>
          </p:cNvPicPr>
          <p:nvPr/>
        </p:nvPicPr>
        <p:blipFill>
          <a:blip r:embed="rId1"/>
          <a:stretch>
            <a:fillRect/>
          </a:stretch>
        </p:blipFill>
        <p:spPr>
          <a:xfrm>
            <a:off x="7589520" y="3977640"/>
            <a:ext cx="365760" cy="365760"/>
          </a:xfrm>
          <a:prstGeom prst="rect">
            <a:avLst/>
          </a:prstGeom>
        </p:spPr>
      </p:pic>
      <p:sp>
        <p:nvSpPr>
          <p:cNvPr id="31" name="Text 99"/>
          <p:cNvSpPr txBox="1"/>
          <p:nvPr/>
        </p:nvSpPr>
        <p:spPr>
          <a:xfrm>
            <a:off x="8065008" y="3941064"/>
            <a:ext cx="3806647" cy="573786"/>
          </a:xfrm>
          <a:prstGeom prst="rect">
            <a:avLst/>
          </a:prstGeom>
          <a:noFill/>
          <a:ln/>
        </p:spPr>
        <p:txBody>
          <a:bodyPr wrap="square" lIns="0" tIns="0" rIns="0" bIns="0" rtlCol="0" anchor="t"/>
          <a:lstStyle/>
          <a:p>
            <a:pPr indent="0" marL="0">
              <a:buNone/>
            </a:pPr>
            <a:r>
              <a:rPr lang="en-US" sz="1250" b="1" dirty="0">
                <a:solidFill>
                  <a:schemeClr val="tx2"/>
                </a:solidFill>
              </a:rPr>
              <a:t>Everything in the browser</a:t>
            </a:r>
            <a:endParaRPr lang="en-US" sz="1150" dirty="0"/>
          </a:p>
          <a:p>
            <a:pPr indent="0" marL="0">
              <a:buNone/>
            </a:pPr>
            <a:r>
              <a:rPr lang="en-US" sz="1050" dirty="0">
                <a:solidFill>
                  <a:schemeClr val="tx1"/>
                </a:solidFill>
              </a:rPr>
              <a:t>No GPU and no model server, so nothing can cold-start in front of a judge.</a:t>
            </a:r>
            <a:endParaRPr lang="en-US" sz="1150" dirty="0"/>
          </a:p>
        </p:txBody>
      </p:sp>
      <p:pic>
        <p:nvPicPr>
          <p:cNvPr id="32" name="Icon 100 scale" descr="D:\Projects\12. project\ppt\images\icons\scale.png">    </p:cNvPr>
          <p:cNvPicPr>
            <a:picLocks noChangeAspect="1"/>
          </p:cNvPicPr>
          <p:nvPr/>
        </p:nvPicPr>
        <p:blipFill>
          <a:blip r:embed="rId2"/>
          <a:stretch>
            <a:fillRect/>
          </a:stretch>
        </p:blipFill>
        <p:spPr>
          <a:xfrm>
            <a:off x="7589520" y="4588002"/>
            <a:ext cx="365760" cy="365760"/>
          </a:xfrm>
          <a:prstGeom prst="rect">
            <a:avLst/>
          </a:prstGeom>
        </p:spPr>
      </p:pic>
      <p:sp>
        <p:nvSpPr>
          <p:cNvPr id="33" name="Text 101"/>
          <p:cNvSpPr txBox="1"/>
          <p:nvPr/>
        </p:nvSpPr>
        <p:spPr>
          <a:xfrm>
            <a:off x="8065008" y="4551426"/>
            <a:ext cx="3806647" cy="573786"/>
          </a:xfrm>
          <a:prstGeom prst="rect">
            <a:avLst/>
          </a:prstGeom>
          <a:noFill/>
          <a:ln/>
        </p:spPr>
        <p:txBody>
          <a:bodyPr wrap="square" lIns="0" tIns="0" rIns="0" bIns="0" rtlCol="0" anchor="t"/>
          <a:lstStyle/>
          <a:p>
            <a:pPr indent="0" marL="0">
              <a:buNone/>
            </a:pPr>
            <a:r>
              <a:rPr lang="en-US" sz="1250" b="1" dirty="0">
                <a:solidFill>
                  <a:schemeClr val="tx2"/>
                </a:solidFill>
              </a:rPr>
              <a:t>An exact solver beside a heuristic</a:t>
            </a:r>
            <a:endParaRPr lang="en-US" sz="1150" dirty="0"/>
          </a:p>
          <a:p>
            <a:pPr indent="0" marL="0">
              <a:buNone/>
            </a:pPr>
            <a:r>
              <a:rPr lang="en-US" sz="1050" dirty="0">
                <a:solidFill>
                  <a:schemeClr val="tx1"/>
                </a:solidFill>
              </a:rPr>
              <a:t>A new rule is one line of a model, and the answer is provable. Both scores are shown.</a:t>
            </a:r>
            <a:endParaRPr lang="en-US" sz="1150" dirty="0"/>
          </a:p>
        </p:txBody>
      </p:sp>
      <p:pic>
        <p:nvPicPr>
          <p:cNvPr id="34" name="Icon 102 shield" descr="D:\Projects\12. project\ppt\images\icons\shield.png">    </p:cNvPr>
          <p:cNvPicPr>
            <a:picLocks noChangeAspect="1"/>
          </p:cNvPicPr>
          <p:nvPr/>
        </p:nvPicPr>
        <p:blipFill>
          <a:blip r:embed="rId3"/>
          <a:stretch>
            <a:fillRect/>
          </a:stretch>
        </p:blipFill>
        <p:spPr>
          <a:xfrm>
            <a:off x="7589520" y="5198364"/>
            <a:ext cx="365760" cy="365760"/>
          </a:xfrm>
          <a:prstGeom prst="rect">
            <a:avLst/>
          </a:prstGeom>
        </p:spPr>
      </p:pic>
      <p:sp>
        <p:nvSpPr>
          <p:cNvPr id="35" name="Text 103"/>
          <p:cNvSpPr txBox="1"/>
          <p:nvPr/>
        </p:nvSpPr>
        <p:spPr>
          <a:xfrm>
            <a:off x="8065008" y="5161788"/>
            <a:ext cx="3806647" cy="573786"/>
          </a:xfrm>
          <a:prstGeom prst="rect">
            <a:avLst/>
          </a:prstGeom>
          <a:noFill/>
          <a:ln/>
        </p:spPr>
        <p:txBody>
          <a:bodyPr wrap="square" lIns="0" tIns="0" rIns="0" bIns="0" rtlCol="0" anchor="t"/>
          <a:lstStyle/>
          <a:p>
            <a:pPr indent="0" marL="0">
              <a:buNone/>
            </a:pPr>
            <a:r>
              <a:rPr lang="en-US" sz="1250" b="1" dirty="0">
                <a:solidFill>
                  <a:schemeClr val="tx2"/>
                </a:solidFill>
              </a:rPr>
              <a:t>The model writes words, not numbers</a:t>
            </a:r>
            <a:endParaRPr lang="en-US" sz="1150" dirty="0"/>
          </a:p>
          <a:p>
            <a:pPr indent="0" marL="0">
              <a:buNone/>
            </a:pPr>
            <a:r>
              <a:rPr lang="en-US" sz="1050" dirty="0">
                <a:solidFill>
                  <a:schemeClr val="tx1"/>
                </a:solidFill>
              </a:rPr>
              <a:t>Every figure comes from the physics and is cross-checked on the server.</a:t>
            </a:r>
            <a:endParaRPr lang="en-US" sz="1150" dirty="0"/>
          </a:p>
        </p:txBody>
      </p:sp>
      <p:pic>
        <p:nvPicPr>
          <p:cNvPr id="36" name="Icon 104 sync" descr="D:\Projects\12. project\ppt\images\icons\sync.png">    </p:cNvPr>
          <p:cNvPicPr>
            <a:picLocks noChangeAspect="1"/>
          </p:cNvPicPr>
          <p:nvPr/>
        </p:nvPicPr>
        <p:blipFill>
          <a:blip r:embed="rId4"/>
          <a:stretch>
            <a:fillRect/>
          </a:stretch>
        </p:blipFill>
        <p:spPr>
          <a:xfrm>
            <a:off x="7589520" y="5808726"/>
            <a:ext cx="365760" cy="365760"/>
          </a:xfrm>
          <a:prstGeom prst="rect">
            <a:avLst/>
          </a:prstGeom>
        </p:spPr>
      </p:pic>
      <p:sp>
        <p:nvSpPr>
          <p:cNvPr id="37" name="Text 105"/>
          <p:cNvSpPr txBox="1"/>
          <p:nvPr/>
        </p:nvSpPr>
        <p:spPr>
          <a:xfrm>
            <a:off x="8065008" y="5772150"/>
            <a:ext cx="3806647" cy="573786"/>
          </a:xfrm>
          <a:prstGeom prst="rect">
            <a:avLst/>
          </a:prstGeom>
          <a:noFill/>
          <a:ln/>
        </p:spPr>
        <p:txBody>
          <a:bodyPr wrap="square" lIns="0" tIns="0" rIns="0" bIns="0" rtlCol="0" anchor="t"/>
          <a:lstStyle/>
          <a:p>
            <a:pPr indent="0" marL="0">
              <a:buNone/>
            </a:pPr>
            <a:r>
              <a:rPr lang="en-US" sz="1250" b="1" dirty="0">
                <a:solidFill>
                  <a:schemeClr val="tx2"/>
                </a:solidFill>
              </a:rPr>
              <a:t>One clock</a:t>
            </a:r>
            <a:endParaRPr lang="en-US" sz="1150" dirty="0"/>
          </a:p>
          <a:p>
            <a:pPr indent="0" marL="0">
              <a:buNone/>
            </a:pPr>
            <a:r>
              <a:rPr lang="en-US" sz="1050" dirty="0">
                <a:solidFill>
                  <a:schemeClr val="tx1"/>
                </a:solidFill>
              </a:rPr>
              <a:t>Seek backwards and every screen is correct. The same input gives the same site.</a:t>
            </a:r>
            <a:endParaRPr lang="en-US" sz="115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2103120" y="128016"/>
            <a:ext cx="7985455" cy="676656"/>
          </a:xfrm>
          <a:prstGeom prst="rect">
            <a:avLst/>
          </a:prstGeom>
          <a:noFill/>
          <a:ln/>
        </p:spPr>
        <p:txBody>
          <a:bodyPr wrap="square" lIns="0" tIns="0" rIns="0" bIns="0" rtlCol="0" anchor="ctr"/>
          <a:lstStyle/>
          <a:p>
            <a:pPr algn="ctr" indent="0" marL="0">
              <a:buNone/>
            </a:pPr>
            <a:r>
              <a:rPr lang="en-US" sz="3000" b="1" dirty="0">
                <a:solidFill>
                  <a:schemeClr val="tx2"/>
                </a:solidFill>
              </a:rPr>
              <a:t>OUR USP</a:t>
            </a:r>
            <a:endParaRPr lang="en-US" sz="3000" dirty="0"/>
          </a:p>
        </p:txBody>
      </p:sp>
      <p:sp>
        <p:nvSpPr>
          <p:cNvPr id="4" name="Bar 106"/>
          <p:cNvSpPr/>
          <p:nvPr/>
        </p:nvSpPr>
        <p:spPr>
          <a:xfrm>
            <a:off x="274320" y="1024128"/>
            <a:ext cx="11643055"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THE PLAN, NOT THE PICTURE: others detect and report. We hand over a deadline and a plan</a:t>
            </a:r>
            <a:endParaRPr lang="en-US" sz="1400" dirty="0"/>
          </a:p>
        </p:txBody>
      </p:sp>
      <p:sp>
        <p:nvSpPr>
          <p:cNvPr id="5" name="Frame 107"/>
          <p:cNvSpPr/>
          <p:nvPr/>
        </p:nvSpPr>
        <p:spPr>
          <a:xfrm>
            <a:off x="274320" y="1481328"/>
            <a:ext cx="4160520" cy="4901184"/>
          </a:xfrm>
          <a:prstGeom prst="rect">
            <a:avLst/>
          </a:prstGeom>
          <a:solidFill>
            <a:schemeClr val="bg1"/>
          </a:solidFill>
          <a:ln w="15875">
            <a:solidFill>
              <a:srgbClr val="0B3C6F"/>
            </a:solidFill>
            <a:prstDash val="solid"/>
          </a:ln>
        </p:spPr>
      </p:sp>
      <p:sp>
        <p:nvSpPr>
          <p:cNvPr id="6" name="Text 108"/>
          <p:cNvSpPr txBox="1"/>
          <p:nvPr/>
        </p:nvSpPr>
        <p:spPr>
          <a:xfrm>
            <a:off x="411480" y="1554480"/>
            <a:ext cx="3886200" cy="274320"/>
          </a:xfrm>
          <a:prstGeom prst="rect">
            <a:avLst/>
          </a:prstGeom>
          <a:noFill/>
          <a:ln/>
        </p:spPr>
        <p:txBody>
          <a:bodyPr wrap="square" lIns="0" tIns="0" rIns="0" bIns="0" rtlCol="0" anchor="t"/>
          <a:lstStyle/>
          <a:p>
            <a:pPr indent="0" marL="0">
              <a:buNone/>
            </a:pPr>
            <a:r>
              <a:rPr lang="en-US" sz="1250" b="1" dirty="0">
                <a:solidFill>
                  <a:schemeClr val="tx2"/>
                </a:solidFill>
              </a:rPr>
              <a:t>FOUR THINGS A DEFECT REPORT DOES NOT GIVE</a:t>
            </a:r>
            <a:endParaRPr lang="en-US" sz="1250" dirty="0"/>
          </a:p>
        </p:txBody>
      </p:sp>
      <p:pic>
        <p:nvPicPr>
          <p:cNvPr id="7" name="Icon 109 clock" descr="D:\Projects\12. project\ppt\images\icons\clock.png">    </p:cNvPr>
          <p:cNvPicPr>
            <a:picLocks noChangeAspect="1"/>
          </p:cNvPicPr>
          <p:nvPr/>
        </p:nvPicPr>
        <p:blipFill>
          <a:blip r:embed="rId1"/>
          <a:stretch>
            <a:fillRect/>
          </a:stretch>
        </p:blipFill>
        <p:spPr>
          <a:xfrm>
            <a:off x="411480" y="1929384"/>
            <a:ext cx="365760" cy="365760"/>
          </a:xfrm>
          <a:prstGeom prst="rect">
            <a:avLst/>
          </a:prstGeom>
        </p:spPr>
      </p:pic>
      <p:sp>
        <p:nvSpPr>
          <p:cNvPr id="8" name="Text 110"/>
          <p:cNvSpPr txBox="1"/>
          <p:nvPr/>
        </p:nvSpPr>
        <p:spPr>
          <a:xfrm>
            <a:off x="886968" y="1892808"/>
            <a:ext cx="3410712" cy="749808"/>
          </a:xfrm>
          <a:prstGeom prst="rect">
            <a:avLst/>
          </a:prstGeom>
          <a:noFill/>
          <a:ln/>
        </p:spPr>
        <p:txBody>
          <a:bodyPr wrap="square" lIns="0" tIns="0" rIns="0" bIns="0" rtlCol="0" anchor="t"/>
          <a:lstStyle/>
          <a:p>
            <a:pPr indent="0" marL="0">
              <a:buNone/>
            </a:pPr>
            <a:r>
              <a:rPr lang="en-US" sz="1250" b="1" dirty="0">
                <a:solidFill>
                  <a:schemeClr val="tx2"/>
                </a:solidFill>
              </a:rPr>
              <a:t>A computed deadline</a:t>
            </a:r>
            <a:endParaRPr lang="en-US" sz="1150" dirty="0"/>
          </a:p>
          <a:p>
            <a:pPr indent="0" marL="0">
              <a:buNone/>
            </a:pPr>
            <a:r>
              <a:rPr lang="en-US" sz="1050" dirty="0">
                <a:solidFill>
                  <a:schemeClr val="tx1"/>
                </a:solidFill>
              </a:rPr>
              <a:t>Not a flagged defect: an hour, worked out from the defect, its mechanism and the 72 h forecast.</a:t>
            </a:r>
            <a:endParaRPr lang="en-US" sz="1150" dirty="0"/>
          </a:p>
        </p:txBody>
      </p:sp>
      <p:pic>
        <p:nvPicPr>
          <p:cNvPr id="9" name="Icon 111 sync" descr="D:\Projects\12. project\ppt\images\icons\sync.png">    </p:cNvPr>
          <p:cNvPicPr>
            <a:picLocks noChangeAspect="1"/>
          </p:cNvPicPr>
          <p:nvPr/>
        </p:nvPicPr>
        <p:blipFill>
          <a:blip r:embed="rId2"/>
          <a:stretch>
            <a:fillRect/>
          </a:stretch>
        </p:blipFill>
        <p:spPr>
          <a:xfrm>
            <a:off x="411480" y="2715768"/>
            <a:ext cx="365760" cy="365760"/>
          </a:xfrm>
          <a:prstGeom prst="rect">
            <a:avLst/>
          </a:prstGeom>
        </p:spPr>
      </p:pic>
      <p:sp>
        <p:nvSpPr>
          <p:cNvPr id="10" name="Text 112"/>
          <p:cNvSpPr txBox="1"/>
          <p:nvPr/>
        </p:nvSpPr>
        <p:spPr>
          <a:xfrm>
            <a:off x="886968" y="2679192"/>
            <a:ext cx="3410712" cy="749808"/>
          </a:xfrm>
          <a:prstGeom prst="rect">
            <a:avLst/>
          </a:prstGeom>
          <a:noFill/>
          <a:ln/>
        </p:spPr>
        <p:txBody>
          <a:bodyPr wrap="square" lIns="0" tIns="0" rIns="0" bIns="0" rtlCol="0" anchor="t"/>
          <a:lstStyle/>
          <a:p>
            <a:pPr indent="0" marL="0">
              <a:buNone/>
            </a:pPr>
            <a:r>
              <a:rPr lang="en-US" sz="1250" b="1" dirty="0">
                <a:solidFill>
                  <a:schemeClr val="tx2"/>
                </a:solidFill>
              </a:rPr>
              <a:t>A plan that re-derives live</a:t>
            </a:r>
            <a:endParaRPr lang="en-US" sz="1150" dirty="0"/>
          </a:p>
          <a:p>
            <a:pPr indent="0" marL="0">
              <a:buNone/>
            </a:pPr>
            <a:r>
              <a:rPr lang="en-US" sz="1050" dirty="0">
                <a:solidFill>
                  <a:schemeClr val="tx1"/>
                </a:solidFill>
              </a:rPr>
              <a:t>Change the conditions and the queue, the deadlines and the crew day are worked out again.</a:t>
            </a:r>
            <a:endParaRPr lang="en-US" sz="1150" dirty="0"/>
          </a:p>
        </p:txBody>
      </p:sp>
      <p:pic>
        <p:nvPicPr>
          <p:cNvPr id="11" name="Icon 113 calc" descr="D:\Projects\12. project\ppt\images\icons\calc.png">    </p:cNvPr>
          <p:cNvPicPr>
            <a:picLocks noChangeAspect="1"/>
          </p:cNvPicPr>
          <p:nvPr/>
        </p:nvPicPr>
        <p:blipFill>
          <a:blip r:embed="rId3"/>
          <a:stretch>
            <a:fillRect/>
          </a:stretch>
        </p:blipFill>
        <p:spPr>
          <a:xfrm>
            <a:off x="411480" y="3502152"/>
            <a:ext cx="365760" cy="365760"/>
          </a:xfrm>
          <a:prstGeom prst="rect">
            <a:avLst/>
          </a:prstGeom>
        </p:spPr>
      </p:pic>
      <p:sp>
        <p:nvSpPr>
          <p:cNvPr id="12" name="Text 114"/>
          <p:cNvSpPr txBox="1"/>
          <p:nvPr/>
        </p:nvSpPr>
        <p:spPr>
          <a:xfrm>
            <a:off x="886968" y="3465576"/>
            <a:ext cx="3410712" cy="749808"/>
          </a:xfrm>
          <a:prstGeom prst="rect">
            <a:avLst/>
          </a:prstGeom>
          <a:noFill/>
          <a:ln/>
        </p:spPr>
        <p:txBody>
          <a:bodyPr wrap="square" lIns="0" tIns="0" rIns="0" bIns="0" rtlCol="0" anchor="t"/>
          <a:lstStyle/>
          <a:p>
            <a:pPr indent="0" marL="0">
              <a:buNone/>
            </a:pPr>
            <a:r>
              <a:rPr lang="en-US" sz="1250" b="1" dirty="0">
                <a:solidFill>
                  <a:schemeClr val="tx2"/>
                </a:solidFill>
              </a:rPr>
              <a:t>Arithmetic on screen</a:t>
            </a:r>
            <a:endParaRPr lang="en-US" sz="1150" dirty="0"/>
          </a:p>
          <a:p>
            <a:pPr indent="0" marL="0">
              <a:buNone/>
            </a:pPr>
            <a:r>
              <a:rPr lang="en-US" sz="1050" dirty="0">
                <a:solidFill>
                  <a:schemeClr val="tx1"/>
                </a:solidFill>
              </a:rPr>
              <a:t>The ranking formula with its inputs, and a ? on every number for where it came from.</a:t>
            </a:r>
            <a:endParaRPr lang="en-US" sz="1150" dirty="0"/>
          </a:p>
        </p:txBody>
      </p:sp>
      <p:pic>
        <p:nvPicPr>
          <p:cNvPr id="13" name="Icon 115 user" descr="D:\Projects\12. project\ppt\images\icons\user.png">    </p:cNvPr>
          <p:cNvPicPr>
            <a:picLocks noChangeAspect="1"/>
          </p:cNvPicPr>
          <p:nvPr/>
        </p:nvPicPr>
        <p:blipFill>
          <a:blip r:embed="rId4"/>
          <a:stretch>
            <a:fillRect/>
          </a:stretch>
        </p:blipFill>
        <p:spPr>
          <a:xfrm>
            <a:off x="411480" y="4288536"/>
            <a:ext cx="365760" cy="365760"/>
          </a:xfrm>
          <a:prstGeom prst="rect">
            <a:avLst/>
          </a:prstGeom>
        </p:spPr>
      </p:pic>
      <p:sp>
        <p:nvSpPr>
          <p:cNvPr id="14" name="Text 116"/>
          <p:cNvSpPr txBox="1"/>
          <p:nvPr/>
        </p:nvSpPr>
        <p:spPr>
          <a:xfrm>
            <a:off x="886968" y="4251960"/>
            <a:ext cx="3410712" cy="749808"/>
          </a:xfrm>
          <a:prstGeom prst="rect">
            <a:avLst/>
          </a:prstGeom>
          <a:noFill/>
          <a:ln/>
        </p:spPr>
        <p:txBody>
          <a:bodyPr wrap="square" lIns="0" tIns="0" rIns="0" bIns="0" rtlCol="0" anchor="t"/>
          <a:lstStyle/>
          <a:p>
            <a:pPr indent="0" marL="0">
              <a:buNone/>
            </a:pPr>
            <a:r>
              <a:rPr lang="en-US" sz="1250" b="1" dirty="0">
                <a:solidFill>
                  <a:schemeClr val="tx2"/>
                </a:solidFill>
              </a:rPr>
              <a:t>A human gate</a:t>
            </a:r>
            <a:endParaRPr lang="en-US" sz="1150" dirty="0"/>
          </a:p>
          <a:p>
            <a:pPr indent="0" marL="0">
              <a:buNone/>
            </a:pPr>
            <a:r>
              <a:rPr lang="en-US" sz="1050" dirty="0">
                <a:solidFill>
                  <a:schemeClr val="tx1"/>
                </a:solidFill>
              </a:rPr>
              <a:t>The agent proposes. Only an operator’s click creates a work order.</a:t>
            </a:r>
            <a:endParaRPr lang="en-US" sz="1150" dirty="0"/>
          </a:p>
        </p:txBody>
      </p:sp>
      <p:sp>
        <p:nvSpPr>
          <p:cNvPr id="15" name="Card 117"/>
          <p:cNvSpPr/>
          <p:nvPr/>
        </p:nvSpPr>
        <p:spPr>
          <a:xfrm>
            <a:off x="411480" y="5056632"/>
            <a:ext cx="3886200" cy="1216152"/>
          </a:xfrm>
          <a:prstGeom prst="roundRect">
            <a:avLst>
              <a:gd name="adj" fmla="val 3759"/>
            </a:avLst>
          </a:prstGeom>
          <a:solidFill>
            <a:schemeClr val="bg2"/>
          </a:solidFill>
          <a:ln w="9525">
            <a:solidFill>
              <a:srgbClr val="0B3C6F"/>
            </a:solidFill>
          </a:ln>
        </p:spPr>
        <p:txBody>
          <a:bodyPr wrap="square" lIns="63500" tIns="88900" rIns="88900" bIns="63500" rtlCol="0" anchor="ctr"/>
          <a:lstStyle/>
          <a:p>
            <a:pPr indent="0" marL="0">
              <a:buNone/>
            </a:pPr>
            <a:r>
              <a:rPr lang="en-US" sz="1250" b="1" dirty="0">
                <a:solidFill>
                  <a:schemeClr val="tx2"/>
                </a:solidFill>
              </a:rPr>
              <a:t>score = loss per day × severity × urgency ÷ access</a:t>
            </a:r>
            <a:endParaRPr lang="en-US" sz="1150" dirty="0"/>
          </a:p>
          <a:p>
            <a:pPr indent="0" marL="0">
              <a:buNone/>
            </a:pPr>
            <a:r>
              <a:rPr lang="en-US" sz="1150" b="1" dirty="0">
                <a:solidFill>
                  <a:schemeClr val="accent3"/>
                </a:solidFill>
              </a:rPr>
              <a:t>B-17 as captured: 1.01 MWh × 3.0 × 7.69 ÷ 1.0 = 23.29</a:t>
            </a:r>
            <a:endParaRPr lang="en-US" sz="1150" dirty="0"/>
          </a:p>
          <a:p>
            <a:pPr indent="0" marL="0">
              <a:buNone/>
            </a:pPr>
            <a:r>
              <a:rPr lang="en-US" sz="1050" dirty="0">
                <a:solidFill>
                  <a:schemeClr val="tx1"/>
                </a:solidFill>
              </a:rPr>
              <a:t>Urgency is 1 + 24 ÷ hours left, so the score climbs as the deadline closes. Next is A-08 at 0.81.</a:t>
            </a:r>
            <a:endParaRPr lang="en-US" sz="1150" dirty="0"/>
          </a:p>
        </p:txBody>
      </p:sp>
      <p:pic>
        <p:nvPicPr>
          <p:cNvPr id="16" name="Picture 05-queue-arithmetic.png" descr="middle: the repair queue on the Queue screen, each job with its arithmetic">    </p:cNvPr>
          <p:cNvPicPr>
            <a:picLocks noChangeAspect="1"/>
          </p:cNvPicPr>
          <p:nvPr/>
        </p:nvPicPr>
        <p:blipFill>
          <a:blip r:embed="rId5"/>
          <a:stretch>
            <a:fillRect/>
          </a:stretch>
        </p:blipFill>
        <p:spPr>
          <a:xfrm>
            <a:off x="4617720" y="1481328"/>
            <a:ext cx="2926080" cy="1791813"/>
          </a:xfrm>
          <a:prstGeom prst="rect">
            <a:avLst/>
          </a:prstGeom>
        </p:spPr>
      </p:pic>
      <p:sp>
        <p:nvSpPr>
          <p:cNvPr id="17" name="Picture frame 119"/>
          <p:cNvSpPr/>
          <p:nvPr/>
        </p:nvSpPr>
        <p:spPr>
          <a:xfrm>
            <a:off x="4617720" y="1481328"/>
            <a:ext cx="2926080" cy="1791813"/>
          </a:xfrm>
          <a:prstGeom prst="rect">
            <a:avLst/>
          </a:prstGeom>
          <a:ln w="12700">
            <a:solidFill>
              <a:srgbClr val="0B3C6F"/>
            </a:solidFill>
            <a:prstDash val="solid"/>
          </a:ln>
        </p:spPr>
      </p:sp>
      <p:sp>
        <p:nvSpPr>
          <p:cNvPr id="18" name="Text 120"/>
          <p:cNvSpPr txBox="1"/>
          <p:nvPr/>
        </p:nvSpPr>
        <p:spPr>
          <a:xfrm>
            <a:off x="4617720" y="3309717"/>
            <a:ext cx="2926080" cy="201168"/>
          </a:xfrm>
          <a:prstGeom prst="rect">
            <a:avLst/>
          </a:prstGeom>
          <a:noFill/>
          <a:ln/>
        </p:spPr>
        <p:txBody>
          <a:bodyPr wrap="square" lIns="0" tIns="0" rIns="0" bIns="0" rtlCol="0" anchor="t"/>
          <a:lstStyle/>
          <a:p>
            <a:pPr indent="0" marL="0">
              <a:buNone/>
            </a:pPr>
            <a:r>
              <a:rPr lang="en-US" sz="1000" dirty="0">
                <a:solidFill>
                  <a:schemeClr val="accent5"/>
                </a:solidFill>
              </a:rPr>
              <a:t>Every job shows its working.</a:t>
            </a:r>
            <a:endParaRPr lang="en-US" sz="1000" dirty="0"/>
          </a:p>
        </p:txBody>
      </p:sp>
      <p:pic>
        <p:nvPicPr>
          <p:cNvPr id="19" name="Picture 05-sandbox-hazard.png" descr="right: the Sandbox screen after a dust storm was dropped on Zone B">    </p:cNvPr>
          <p:cNvPicPr>
            <a:picLocks noChangeAspect="1"/>
          </p:cNvPicPr>
          <p:nvPr/>
        </p:nvPicPr>
        <p:blipFill>
          <a:blip r:embed="rId6"/>
          <a:stretch>
            <a:fillRect/>
          </a:stretch>
        </p:blipFill>
        <p:spPr>
          <a:xfrm>
            <a:off x="7680960" y="1481328"/>
            <a:ext cx="4236415" cy="2382984"/>
          </a:xfrm>
          <a:prstGeom prst="rect">
            <a:avLst/>
          </a:prstGeom>
        </p:spPr>
      </p:pic>
      <p:sp>
        <p:nvSpPr>
          <p:cNvPr id="20" name="Picture frame 122"/>
          <p:cNvSpPr/>
          <p:nvPr/>
        </p:nvSpPr>
        <p:spPr>
          <a:xfrm>
            <a:off x="7680960" y="1481328"/>
            <a:ext cx="4236415" cy="2382984"/>
          </a:xfrm>
          <a:prstGeom prst="rect">
            <a:avLst/>
          </a:prstGeom>
          <a:ln w="12700">
            <a:solidFill>
              <a:srgbClr val="0B3C6F"/>
            </a:solidFill>
            <a:prstDash val="solid"/>
          </a:ln>
        </p:spPr>
      </p:sp>
      <p:sp>
        <p:nvSpPr>
          <p:cNvPr id="21" name="Text 123"/>
          <p:cNvSpPr txBox="1"/>
          <p:nvPr/>
        </p:nvSpPr>
        <p:spPr>
          <a:xfrm>
            <a:off x="7680960" y="3900888"/>
            <a:ext cx="4236415" cy="201168"/>
          </a:xfrm>
          <a:prstGeom prst="rect">
            <a:avLst/>
          </a:prstGeom>
          <a:noFill/>
          <a:ln/>
        </p:spPr>
        <p:txBody>
          <a:bodyPr wrap="square" lIns="0" tIns="0" rIns="0" bIns="0" rtlCol="0" anchor="t"/>
          <a:lstStyle/>
          <a:p>
            <a:pPr indent="0" marL="0">
              <a:buNone/>
            </a:pPr>
            <a:r>
              <a:rPr lang="en-US" sz="1000" dirty="0">
                <a:solidFill>
                  <a:schemeClr val="accent5"/>
                </a:solidFill>
              </a:rPr>
              <a:t>What-if sandbox: a dust storm dropped on Zone B.</a:t>
            </a:r>
            <a:endParaRPr lang="en-US" sz="1000" dirty="0"/>
          </a:p>
        </p:txBody>
      </p:sp>
      <p:sp>
        <p:nvSpPr>
          <p:cNvPr id="22" name="Bar 124"/>
          <p:cNvSpPr/>
          <p:nvPr/>
        </p:nvSpPr>
        <p:spPr>
          <a:xfrm>
            <a:off x="4617720" y="4175208"/>
            <a:ext cx="7299655" cy="292608"/>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200" b="1" dirty="0">
                <a:solidFill>
                  <a:schemeClr val="bg1"/>
                </a:solidFill>
              </a:rPr>
              <a:t>THE LIVE DEMONSTRATION: name a hazard, drag it onto the field, the plan re-derives</a:t>
            </a:r>
            <a:endParaRPr lang="en-US" sz="1200" dirty="0"/>
          </a:p>
        </p:txBody>
      </p:sp>
      <p:sp>
        <p:nvSpPr>
          <p:cNvPr id="23" name="Card 125"/>
          <p:cNvSpPr/>
          <p:nvPr/>
        </p:nvSpPr>
        <p:spPr>
          <a:xfrm>
            <a:off x="4617720" y="4540968"/>
            <a:ext cx="2372258" cy="1841544"/>
          </a:xfrm>
          <a:prstGeom prst="roundRect">
            <a:avLst>
              <a:gd name="adj" fmla="val 2483"/>
            </a:avLst>
          </a:prstGeom>
          <a:solidFill>
            <a:schemeClr val="bg2"/>
          </a:solidFill>
          <a:ln w="9525">
            <a:solidFill>
              <a:srgbClr val="0B3C6F"/>
            </a:solidFill>
          </a:ln>
        </p:spPr>
        <p:txBody>
          <a:bodyPr wrap="square" lIns="63500" tIns="88900" rIns="88900" bIns="63500" rtlCol="0" anchor="ctr"/>
          <a:lstStyle/>
          <a:p>
            <a:pPr indent="0" marL="0">
              <a:buNone/>
            </a:pPr>
            <a:r>
              <a:rPr lang="en-US" sz="1200" b="1" dirty="0">
                <a:solidFill>
                  <a:schemeClr val="tx2"/>
                </a:solidFill>
              </a:rPr>
              <a:t>What the screen said</a:t>
            </a:r>
            <a:endParaRPr lang="en-US" sz="1150" dirty="0"/>
          </a:p>
          <a:p>
            <a:pPr indent="0" marL="0">
              <a:buNone/>
            </a:pPr>
            <a:r>
              <a:rPr lang="en-US" sz="1050" dirty="0">
                <a:solidFill>
                  <a:schemeClr val="tx1"/>
                </a:solidFill>
              </a:rPr>
              <a:t>8 arrays affected, 6 jobs added, 1 displaced, B-17 still first.</a:t>
            </a:r>
            <a:endParaRPr lang="en-US" sz="1150" dirty="0"/>
          </a:p>
        </p:txBody>
      </p:sp>
      <p:sp>
        <p:nvSpPr>
          <p:cNvPr id="24" name="Card 126"/>
          <p:cNvSpPr/>
          <p:nvPr/>
        </p:nvSpPr>
        <p:spPr>
          <a:xfrm>
            <a:off x="7081418" y="4540968"/>
            <a:ext cx="2372258" cy="1841544"/>
          </a:xfrm>
          <a:prstGeom prst="roundRect">
            <a:avLst>
              <a:gd name="adj" fmla="val 2483"/>
            </a:avLst>
          </a:prstGeom>
          <a:solidFill>
            <a:schemeClr val="bg2"/>
          </a:solidFill>
          <a:ln w="9525">
            <a:solidFill>
              <a:srgbClr val="0B3C6F"/>
            </a:solidFill>
          </a:ln>
        </p:spPr>
        <p:txBody>
          <a:bodyPr wrap="square" lIns="63500" tIns="88900" rIns="88900" bIns="63500" rtlCol="0" anchor="ctr"/>
          <a:lstStyle/>
          <a:p>
            <a:pPr indent="0" marL="0">
              <a:buNone/>
            </a:pPr>
            <a:r>
              <a:rPr lang="en-US" sz="1200" b="1" dirty="0">
                <a:solidFill>
                  <a:schemeClr val="tx2"/>
                </a:solidFill>
              </a:rPr>
              <a:t>What it costs, in rupees</a:t>
            </a:r>
            <a:endParaRPr lang="en-US" sz="1150" dirty="0"/>
          </a:p>
          <a:p>
            <a:pPr indent="0" marL="0">
              <a:buNone/>
            </a:pPr>
            <a:r>
              <a:rPr lang="en-US" sz="1050" dirty="0">
                <a:solidFill>
                  <a:schemeClr val="tx1"/>
                </a:solidFill>
              </a:rPr>
              <a:t>5.61 MWh, ₹13,714 over 72 h at ₹2.446/kWh. Band ₹12,518 to ₹14,880.</a:t>
            </a:r>
            <a:endParaRPr lang="en-US" sz="1150" dirty="0"/>
          </a:p>
        </p:txBody>
      </p:sp>
      <p:sp>
        <p:nvSpPr>
          <p:cNvPr id="25" name="Card 127"/>
          <p:cNvSpPr/>
          <p:nvPr/>
        </p:nvSpPr>
        <p:spPr>
          <a:xfrm>
            <a:off x="9545117" y="4540968"/>
            <a:ext cx="2372258" cy="1841544"/>
          </a:xfrm>
          <a:prstGeom prst="roundRect">
            <a:avLst>
              <a:gd name="adj" fmla="val 2483"/>
            </a:avLst>
          </a:prstGeom>
          <a:solidFill>
            <a:schemeClr val="bg2"/>
          </a:solidFill>
          <a:ln w="9525">
            <a:solidFill>
              <a:srgbClr val="0B3C6F"/>
            </a:solidFill>
          </a:ln>
        </p:spPr>
        <p:txBody>
          <a:bodyPr wrap="square" lIns="63500" tIns="88900" rIns="88900" bIns="63500" rtlCol="0" anchor="ctr"/>
          <a:lstStyle/>
          <a:p>
            <a:pPr indent="0" marL="0">
              <a:buNone/>
            </a:pPr>
            <a:r>
              <a:rPr lang="en-US" sz="1700" b="1" dirty="0">
                <a:solidFill>
                  <a:schemeClr val="accent3"/>
                </a:solidFill>
              </a:rPr>
              <a:t>31 to 40 ms</a:t>
            </a:r>
            <a:endParaRPr lang="en-US" sz="1150" dirty="0"/>
          </a:p>
          <a:p>
            <a:pPr indent="0" marL="0">
              <a:buNone/>
            </a:pPr>
            <a:r>
              <a:rPr lang="en-US" sz="1050" dirty="0">
                <a:solidFill>
                  <a:schemeClr val="tx1"/>
                </a:solidFill>
              </a:rPr>
              <a:t>from drop to the re-planned frame, measured in Chrome. Budget 150 ms. 60.1 fps.</a:t>
            </a:r>
            <a:endParaRPr lang="en-US" sz="115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2103120" y="128016"/>
            <a:ext cx="7985455" cy="676656"/>
          </a:xfrm>
          <a:prstGeom prst="rect">
            <a:avLst/>
          </a:prstGeom>
          <a:noFill/>
          <a:ln/>
        </p:spPr>
        <p:txBody>
          <a:bodyPr wrap="square" lIns="0" tIns="0" rIns="0" bIns="0" rtlCol="0" anchor="ctr"/>
          <a:lstStyle/>
          <a:p>
            <a:pPr algn="ctr" indent="0" marL="0">
              <a:buNone/>
            </a:pPr>
            <a:r>
              <a:rPr lang="en-US" sz="3000" b="1" dirty="0">
                <a:solidFill>
                  <a:schemeClr val="tx2"/>
                </a:solidFill>
              </a:rPr>
              <a:t>FEASIBILITY AND VIABILITY</a:t>
            </a:r>
            <a:endParaRPr lang="en-US" sz="3000" dirty="0"/>
          </a:p>
        </p:txBody>
      </p:sp>
      <p:sp>
        <p:nvSpPr>
          <p:cNvPr id="4" name="Bar 128"/>
          <p:cNvSpPr/>
          <p:nvPr/>
        </p:nvSpPr>
        <p:spPr>
          <a:xfrm>
            <a:off x="274320" y="1024128"/>
            <a:ext cx="6309360"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FEASIBILITY: it is built, and these are measurements, not targets</a:t>
            </a:r>
            <a:endParaRPr lang="en-US" sz="1400" dirty="0"/>
          </a:p>
        </p:txBody>
      </p:sp>
      <p:graphicFrame>
        <p:nvGraphicFramePr>
          <p:cNvPr id="7" name="Table 129"/>
          <p:cNvGraphicFramePr>
            <a:graphicFrameLocks noGrp="1"/>
          </p:cNvGraphicFramePr>
          <p:nvPr>
            <p:extLst>
              <p:ext uri="{D42A27DB-BD31-4B8C-83A1-F6EECF244321}">
                <p14:modId xmlns:p14="http://schemas.microsoft.com/office/powerpoint/2010/main" val="1579011935"/>
              </p:ext>
            </p:extLst>
          </p:nvPr>
        </p:nvGraphicFramePr>
        <p:xfrm>
          <a:off x="274320" y="1408176"/>
          <a:ext cx="6309360" cy="914400"/>
        </p:xfrm>
        <a:graphic>
          <a:graphicData uri="http://schemas.openxmlformats.org/drawingml/2006/table">
            <a:tbl>
              <a:tblPr/>
              <a:tblGrid>
                <a:gridCol w="2240280"/>
                <a:gridCol w="1783080"/>
                <a:gridCol w="2286000"/>
              </a:tblGrid>
              <a:tr h="0">
                <a:tc>
                  <a:txBody>
                    <a:bodyPr/>
                    <a:lstStyle/>
                    <a:p>
                      <a:pPr indent="0" marL="0">
                        <a:buNone/>
                      </a:pPr>
                      <a:r>
                        <a:rPr lang="en-US" sz="1000" b="1" dirty="0">
                          <a:solidFill>
                            <a:srgbClr val="FFFFFF"/>
                          </a:solidFill>
                        </a:rPr>
                        <a:t>What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c>
                  <a:txBody>
                    <a:bodyPr/>
                    <a:lstStyle/>
                    <a:p>
                      <a:pPr indent="0" marL="0">
                        <a:buNone/>
                      </a:pPr>
                      <a:r>
                        <a:rPr lang="en-US" sz="1000" b="1" dirty="0">
                          <a:solidFill>
                            <a:srgbClr val="FFFFFF"/>
                          </a:solidFill>
                        </a:rPr>
                        <a:t>Result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c>
                  <a:txBody>
                    <a:bodyPr/>
                    <a:lstStyle/>
                    <a:p>
                      <a:pPr indent="0" marL="0">
                        <a:buNone/>
                      </a:pPr>
                      <a:r>
                        <a:rPr lang="en-US" sz="1000" b="1" dirty="0">
                          <a:solidFill>
                            <a:srgbClr val="FFFFFF"/>
                          </a:solidFill>
                        </a:rPr>
                        <a:t>How it was measured</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r>
              <a:tr h="0">
                <a:tc>
                  <a:txBody>
                    <a:bodyPr/>
                    <a:lstStyle/>
                    <a:p>
                      <a:pPr indent="0" marL="0">
                        <a:buNone/>
                      </a:pPr>
                      <a:r>
                        <a:rPr lang="en-US" sz="1000" dirty="0">
                          <a:solidFill>
                            <a:srgbClr val="111827"/>
                          </a:solidFill>
                        </a:rPr>
                        <a:t>Automated tests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453 passing</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Every build, before it compiles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3D twin frame rate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60.1 fps, no frame over 20 ms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Chrome at 1366×768 and 1920×1080</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Hazard drop to re-planned frame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31 to 40 ms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Real pointer, Chrome. Budget 150 ms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Crew-plan solve, the site’s own days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10.8 ms; 1.1 ms in a heatwave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HiGHS, WebAssembly. Cut off at 50 ms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Detector, class Cracked</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AP@50 0.995</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Held-out test split, 42 images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Detector on the drone’s own frame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Cracked 0.89</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Real-time flight of B-17, in browser</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Physics in the browser</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Matches the Python model</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Golden test, on every build</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bl>
          </a:graphicData>
        </a:graphic>
      </p:graphicFrame>
      <p:sp>
        <p:nvSpPr>
          <p:cNvPr id="6" name="Bar 130"/>
          <p:cNvSpPr/>
          <p:nvPr/>
        </p:nvSpPr>
        <p:spPr>
          <a:xfrm>
            <a:off x="274320" y="3172968"/>
            <a:ext cx="6309360"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VIABILITY: how far it can go</a:t>
            </a:r>
            <a:endParaRPr lang="en-US" sz="1400" dirty="0"/>
          </a:p>
        </p:txBody>
      </p:sp>
      <p:pic>
        <p:nvPicPr>
          <p:cNvPr id="7" name="Icon 131 cubes" descr="D:\Projects\12. project\ppt\images\icons\cubes.png">    </p:cNvPr>
          <p:cNvPicPr>
            <a:picLocks noChangeAspect="1"/>
          </p:cNvPicPr>
          <p:nvPr/>
        </p:nvPicPr>
        <p:blipFill>
          <a:blip r:embed="rId1"/>
          <a:stretch>
            <a:fillRect/>
          </a:stretch>
        </p:blipFill>
        <p:spPr>
          <a:xfrm>
            <a:off x="320040" y="3611880"/>
            <a:ext cx="365760" cy="365760"/>
          </a:xfrm>
          <a:prstGeom prst="rect">
            <a:avLst/>
          </a:prstGeom>
        </p:spPr>
      </p:pic>
      <p:sp>
        <p:nvSpPr>
          <p:cNvPr id="8" name="Text 132"/>
          <p:cNvSpPr txBox="1"/>
          <p:nvPr/>
        </p:nvSpPr>
        <p:spPr>
          <a:xfrm>
            <a:off x="795528" y="3575304"/>
            <a:ext cx="5742432" cy="899160"/>
          </a:xfrm>
          <a:prstGeom prst="rect">
            <a:avLst/>
          </a:prstGeom>
          <a:noFill/>
          <a:ln/>
        </p:spPr>
        <p:txBody>
          <a:bodyPr wrap="square" lIns="0" tIns="0" rIns="0" bIns="0" rtlCol="0" anchor="t"/>
          <a:lstStyle/>
          <a:p>
            <a:pPr indent="0" marL="0">
              <a:buNone/>
            </a:pPr>
            <a:r>
              <a:rPr lang="en-US" sz="1250" b="1" dirty="0">
                <a:solidFill>
                  <a:schemeClr val="tx2"/>
                </a:solidFill>
              </a:rPr>
              <a:t>Scales by design</a:t>
            </a:r>
            <a:endParaRPr lang="en-US" sz="1150" dirty="0"/>
          </a:p>
          <a:p>
            <a:pPr indent="0" marL="0">
              <a:buNone/>
            </a:pPr>
            <a:r>
              <a:rPr lang="en-US" sz="1050" dirty="0">
                <a:solidFill>
                  <a:schemeClr val="tx1"/>
                </a:solidFill>
              </a:rPr>
              <a:t>Every array is evaluated by the same function: a larger plant is more rows, not a new design. Tested to 120 arrays; no larger figure claimed.</a:t>
            </a:r>
            <a:endParaRPr lang="en-US" sz="1150" dirty="0"/>
          </a:p>
        </p:txBody>
      </p:sp>
      <p:pic>
        <p:nvPicPr>
          <p:cNvPr id="9" name="Icon 133 globe" descr="D:\Projects\12. project\ppt\images\icons\globe.png">    </p:cNvPr>
          <p:cNvPicPr>
            <a:picLocks noChangeAspect="1"/>
          </p:cNvPicPr>
          <p:nvPr/>
        </p:nvPicPr>
        <p:blipFill>
          <a:blip r:embed="rId2"/>
          <a:stretch>
            <a:fillRect/>
          </a:stretch>
        </p:blipFill>
        <p:spPr>
          <a:xfrm>
            <a:off x="320040" y="4547616"/>
            <a:ext cx="365760" cy="365760"/>
          </a:xfrm>
          <a:prstGeom prst="rect">
            <a:avLst/>
          </a:prstGeom>
        </p:spPr>
      </p:pic>
      <p:sp>
        <p:nvSpPr>
          <p:cNvPr id="10" name="Text 134"/>
          <p:cNvSpPr txBox="1"/>
          <p:nvPr/>
        </p:nvSpPr>
        <p:spPr>
          <a:xfrm>
            <a:off x="795528" y="4511040"/>
            <a:ext cx="5742432" cy="899160"/>
          </a:xfrm>
          <a:prstGeom prst="rect">
            <a:avLst/>
          </a:prstGeom>
          <a:noFill/>
          <a:ln/>
        </p:spPr>
        <p:txBody>
          <a:bodyPr wrap="square" lIns="0" tIns="0" rIns="0" bIns="0" rtlCol="0" anchor="t"/>
          <a:lstStyle/>
          <a:p>
            <a:pPr indent="0" marL="0">
              <a:buNone/>
            </a:pPr>
            <a:r>
              <a:rPr lang="en-US" sz="1250" b="1" dirty="0">
                <a:solidFill>
                  <a:schemeClr val="tx2"/>
                </a:solidFill>
              </a:rPr>
              <a:t>Nothing to host per site</a:t>
            </a:r>
            <a:endParaRPr lang="en-US" sz="1150" dirty="0"/>
          </a:p>
          <a:p>
            <a:pPr indent="0" marL="0">
              <a:buNone/>
            </a:pPr>
            <a:r>
              <a:rPr lang="en-US" sz="1050" dirty="0">
                <a:solidFill>
                  <a:schemeClr val="tx1"/>
                </a:solidFill>
              </a:rPr>
              <a:t>The reasoning runs in the browser, so a new site needs no new server. The simulator is the one part to replace, with the plant’s own SCADA feed.</a:t>
            </a:r>
            <a:endParaRPr lang="en-US" sz="1150" dirty="0"/>
          </a:p>
        </p:txBody>
      </p:sp>
      <p:pic>
        <p:nvPicPr>
          <p:cNvPr id="11" name="Icon 135 industry" descr="D:\Projects\12. project\ppt\images\icons\industry.png">    </p:cNvPr>
          <p:cNvPicPr>
            <a:picLocks noChangeAspect="1"/>
          </p:cNvPicPr>
          <p:nvPr/>
        </p:nvPicPr>
        <p:blipFill>
          <a:blip r:embed="rId3"/>
          <a:stretch>
            <a:fillRect/>
          </a:stretch>
        </p:blipFill>
        <p:spPr>
          <a:xfrm>
            <a:off x="320040" y="5483352"/>
            <a:ext cx="365760" cy="365760"/>
          </a:xfrm>
          <a:prstGeom prst="rect">
            <a:avLst/>
          </a:prstGeom>
        </p:spPr>
      </p:pic>
      <p:sp>
        <p:nvSpPr>
          <p:cNvPr id="12" name="Text 136"/>
          <p:cNvSpPr txBox="1"/>
          <p:nvPr/>
        </p:nvSpPr>
        <p:spPr>
          <a:xfrm>
            <a:off x="795528" y="5446776"/>
            <a:ext cx="5742432" cy="899160"/>
          </a:xfrm>
          <a:prstGeom prst="rect">
            <a:avLst/>
          </a:prstGeom>
          <a:noFill/>
          <a:ln/>
        </p:spPr>
        <p:txBody>
          <a:bodyPr wrap="square" lIns="0" tIns="0" rIns="0" bIns="0" rtlCol="0" anchor="t"/>
          <a:lstStyle/>
          <a:p>
            <a:pPr indent="0" marL="0">
              <a:buNone/>
            </a:pPr>
            <a:r>
              <a:rPr lang="en-US" sz="1250" b="1" dirty="0">
                <a:solidFill>
                  <a:schemeClr val="tx2"/>
                </a:solidFill>
              </a:rPr>
              <a:t>A route to a product</a:t>
            </a:r>
            <a:endParaRPr lang="en-US" sz="1150" dirty="0"/>
          </a:p>
          <a:p>
            <a:pPr indent="0" marL="0">
              <a:buNone/>
            </a:pPr>
            <a:r>
              <a:rPr lang="en-US" sz="1050" dirty="0">
                <a:solidFill>
                  <a:schemeClr val="tx1"/>
                </a:solidFill>
              </a:rPr>
              <a:t>Likely users are O&amp;M contractors and plant owners. Commercial use needs a permissively licensed detector: today’s is AGPL-3.0 through Ultralytics.</a:t>
            </a:r>
            <a:endParaRPr lang="en-US" sz="1150" dirty="0"/>
          </a:p>
        </p:txBody>
      </p:sp>
      <p:sp>
        <p:nvSpPr>
          <p:cNvPr id="13" name="Bar 137"/>
          <p:cNvSpPr/>
          <p:nvPr/>
        </p:nvSpPr>
        <p:spPr>
          <a:xfrm>
            <a:off x="6766560" y="1024128"/>
            <a:ext cx="5150815"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WHAT IS REAL, AND WHAT IS NOT</a:t>
            </a:r>
            <a:endParaRPr lang="en-US" sz="1400" dirty="0"/>
          </a:p>
        </p:txBody>
      </p:sp>
      <p:sp>
        <p:nvSpPr>
          <p:cNvPr id="14" name="Card 138"/>
          <p:cNvSpPr/>
          <p:nvPr/>
        </p:nvSpPr>
        <p:spPr>
          <a:xfrm>
            <a:off x="6766560" y="1426464"/>
            <a:ext cx="2529688" cy="2135124"/>
          </a:xfrm>
          <a:prstGeom prst="roundRect">
            <a:avLst>
              <a:gd name="adj" fmla="val 2141"/>
            </a:avLst>
          </a:prstGeom>
          <a:solidFill>
            <a:schemeClr val="bg1"/>
          </a:solidFill>
          <a:ln w="9525">
            <a:solidFill>
              <a:srgbClr val="0B3C6F"/>
            </a:solidFill>
          </a:ln>
        </p:spPr>
        <p:txBody>
          <a:bodyPr wrap="square" lIns="63500" tIns="88900" rIns="88900" bIns="63500" rtlCol="0" anchor="t"/>
          <a:lstStyle/>
          <a:p>
            <a:pPr indent="0" marL="0">
              <a:spcAft>
                <a:spcPts val="300"/>
              </a:spcAft>
              <a:buNone/>
            </a:pPr>
            <a:r>
              <a:rPr lang="en-US" sz="1300" b="1" dirty="0">
                <a:solidFill>
                  <a:schemeClr val="accent4"/>
                </a:solidFill>
              </a:rPr>
              <a:t>Real</a:t>
            </a:r>
            <a:endParaRPr lang="en-US" sz="1150" dirty="0"/>
          </a:p>
          <a:p>
            <a:pPr marL="127000" indent="-127000">
              <a:spcAft>
                <a:spcPts val="300"/>
              </a:spcAft>
              <a:buSzPct val="100000"/>
              <a:buChar char="•"/>
            </a:pPr>
            <a:r>
              <a:rPr lang="en-US" sz="1050" dirty="0">
                <a:solidFill>
                  <a:schemeClr val="tx1"/>
                </a:solidFill>
              </a:rPr>
              <a:t>Detector trained by us, measured on a held-out split</a:t>
            </a:r>
            <a:endParaRPr lang="en-US" sz="1150" dirty="0"/>
          </a:p>
          <a:p>
            <a:pPr marL="127000" indent="-127000">
              <a:spcAft>
                <a:spcPts val="300"/>
              </a:spcAft>
              <a:buSzPct val="100000"/>
              <a:buChar char="•"/>
            </a:pPr>
            <a:r>
              <a:rPr lang="en-US" sz="1050" dirty="0">
                <a:solidFill>
                  <a:schemeClr val="tx1"/>
                </a:solidFill>
              </a:rPr>
              <a:t>Thermal band measured from a real UAV frame</a:t>
            </a:r>
            <a:endParaRPr lang="en-US" sz="1150" dirty="0"/>
          </a:p>
          <a:p>
            <a:pPr marL="127000" indent="-127000">
              <a:spcAft>
                <a:spcPts val="300"/>
              </a:spcAft>
              <a:buSzPct val="100000"/>
              <a:buChar char="•"/>
            </a:pPr>
            <a:r>
              <a:rPr lang="en-US" sz="1050" dirty="0">
                <a:solidFill>
                  <a:schemeClr val="tx1"/>
                </a:solidFill>
              </a:rPr>
              <a:t>Tariffs as awarded by SECI</a:t>
            </a:r>
            <a:endParaRPr lang="en-US" sz="1150" dirty="0"/>
          </a:p>
          <a:p>
            <a:pPr marL="127000" indent="-127000">
              <a:spcAft>
                <a:spcPts val="300"/>
              </a:spcAft>
              <a:buSzPct val="100000"/>
              <a:buChar char="•"/>
            </a:pPr>
            <a:r>
              <a:rPr lang="en-US" sz="1050" dirty="0">
                <a:solidFill>
                  <a:schemeClr val="tx1"/>
                </a:solidFill>
              </a:rPr>
              <a:t>PV equations from NREL PVWatts</a:t>
            </a:r>
            <a:endParaRPr lang="en-US" sz="1150" dirty="0"/>
          </a:p>
        </p:txBody>
      </p:sp>
      <p:sp>
        <p:nvSpPr>
          <p:cNvPr id="15" name="Card 139"/>
          <p:cNvSpPr/>
          <p:nvPr/>
        </p:nvSpPr>
        <p:spPr>
          <a:xfrm>
            <a:off x="9387688" y="1426464"/>
            <a:ext cx="2529688" cy="2135124"/>
          </a:xfrm>
          <a:prstGeom prst="roundRect">
            <a:avLst>
              <a:gd name="adj" fmla="val 2141"/>
            </a:avLst>
          </a:prstGeom>
          <a:solidFill>
            <a:schemeClr val="bg1"/>
          </a:solidFill>
          <a:ln w="9525">
            <a:solidFill>
              <a:srgbClr val="0B3C6F"/>
            </a:solidFill>
          </a:ln>
        </p:spPr>
        <p:txBody>
          <a:bodyPr wrap="square" lIns="63500" tIns="88900" rIns="88900" bIns="63500" rtlCol="0" anchor="t"/>
          <a:lstStyle/>
          <a:p>
            <a:pPr indent="0" marL="0">
              <a:spcAft>
                <a:spcPts val="300"/>
              </a:spcAft>
              <a:buNone/>
            </a:pPr>
            <a:r>
              <a:rPr lang="en-US" sz="1300" b="1" dirty="0">
                <a:solidFill>
                  <a:schemeClr val="tx2"/>
                </a:solidFill>
              </a:rPr>
              <a:t>Simulated</a:t>
            </a:r>
            <a:endParaRPr lang="en-US" sz="1150" dirty="0"/>
          </a:p>
          <a:p>
            <a:pPr marL="127000" indent="-127000">
              <a:spcAft>
                <a:spcPts val="300"/>
              </a:spcAft>
              <a:buSzPct val="100000"/>
              <a:buChar char="•"/>
            </a:pPr>
            <a:r>
              <a:rPr lang="en-US" sz="1050" dirty="0">
                <a:solidFill>
                  <a:schemeClr val="tx1"/>
                </a:solidFill>
              </a:rPr>
              <a:t>Telemetry for all 120 arrays, from the PV model with stated coefficients</a:t>
            </a:r>
            <a:endParaRPr lang="en-US" sz="1150" dirty="0"/>
          </a:p>
          <a:p>
            <a:pPr marL="127000" indent="-127000">
              <a:spcAft>
                <a:spcPts val="300"/>
              </a:spcAft>
              <a:buSzPct val="100000"/>
              <a:buChar char="•"/>
            </a:pPr>
            <a:r>
              <a:rPr lang="en-US" sz="1050" dirty="0">
                <a:solidFill>
                  <a:schemeClr val="tx1"/>
                </a:solidFill>
              </a:rPr>
              <a:t>The drone flight, in the 3D scene</a:t>
            </a:r>
            <a:endParaRPr lang="en-US" sz="1150" dirty="0"/>
          </a:p>
          <a:p>
            <a:pPr marL="127000" indent="-127000">
              <a:spcAft>
                <a:spcPts val="300"/>
              </a:spcAft>
              <a:buSzPct val="100000"/>
              <a:buChar char="•"/>
            </a:pPr>
            <a:r>
              <a:rPr lang="en-US" sz="1050" dirty="0">
                <a:solidFill>
                  <a:schemeClr val="tx1"/>
                </a:solidFill>
              </a:rPr>
              <a:t>The 72 h weather forecast</a:t>
            </a:r>
            <a:endParaRPr lang="en-US" sz="1150" dirty="0"/>
          </a:p>
        </p:txBody>
      </p:sp>
      <p:sp>
        <p:nvSpPr>
          <p:cNvPr id="16" name="Card 140"/>
          <p:cNvSpPr/>
          <p:nvPr/>
        </p:nvSpPr>
        <p:spPr>
          <a:xfrm>
            <a:off x="6766560" y="3653028"/>
            <a:ext cx="2529688" cy="2135124"/>
          </a:xfrm>
          <a:prstGeom prst="roundRect">
            <a:avLst>
              <a:gd name="adj" fmla="val 2141"/>
            </a:avLst>
          </a:prstGeom>
          <a:solidFill>
            <a:schemeClr val="bg1"/>
          </a:solidFill>
          <a:ln w="9525">
            <a:solidFill>
              <a:srgbClr val="0B3C6F"/>
            </a:solidFill>
          </a:ln>
        </p:spPr>
        <p:txBody>
          <a:bodyPr wrap="square" lIns="63500" tIns="88900" rIns="88900" bIns="63500" rtlCol="0" anchor="t"/>
          <a:lstStyle/>
          <a:p>
            <a:pPr indent="0" marL="0">
              <a:spcAft>
                <a:spcPts val="300"/>
              </a:spcAft>
              <a:buNone/>
            </a:pPr>
            <a:r>
              <a:rPr lang="en-US" sz="1300" b="1" dirty="0">
                <a:solidFill>
                  <a:schemeClr val="accent2"/>
                </a:solidFill>
              </a:rPr>
              <a:t>Declared assumption</a:t>
            </a:r>
            <a:endParaRPr lang="en-US" sz="1150" dirty="0"/>
          </a:p>
          <a:p>
            <a:pPr marL="127000" indent="-127000">
              <a:spcAft>
                <a:spcPts val="300"/>
              </a:spcAft>
              <a:buSzPct val="100000"/>
              <a:buChar char="•"/>
            </a:pPr>
            <a:r>
              <a:rPr lang="en-US" sz="1050" dirty="0">
                <a:solidFill>
                  <a:schemeClr val="tx1"/>
                </a:solidFill>
              </a:rPr>
              <a:t>Hazard strengths in the sandbox</a:t>
            </a:r>
            <a:endParaRPr lang="en-US" sz="1150" dirty="0"/>
          </a:p>
          <a:p>
            <a:pPr marL="127000" indent="-127000">
              <a:spcAft>
                <a:spcPts val="300"/>
              </a:spcAft>
              <a:buSzPct val="100000"/>
              <a:buChar char="•"/>
            </a:pPr>
            <a:r>
              <a:rPr lang="en-US" sz="1050" dirty="0">
                <a:solidFill>
                  <a:schemeClr val="tx1"/>
                </a:solidFill>
              </a:rPr>
              <a:t>Crew hours for each kind of repair</a:t>
            </a:r>
            <a:endParaRPr lang="en-US" sz="1150" dirty="0"/>
          </a:p>
          <a:p>
            <a:pPr marL="127000" indent="-127000">
              <a:spcAft>
                <a:spcPts val="300"/>
              </a:spcAft>
              <a:buSzPct val="100000"/>
              <a:buChar char="•"/>
            </a:pPr>
            <a:r>
              <a:rPr lang="en-US" sz="1050" dirty="0">
                <a:solidFill>
                  <a:schemeClr val="tx1"/>
                </a:solidFill>
              </a:rPr>
              <a:t>Forecast band, ±5 % widening to ±15 %</a:t>
            </a:r>
            <a:endParaRPr lang="en-US" sz="1150" dirty="0"/>
          </a:p>
          <a:p>
            <a:pPr marL="127000" indent="-127000">
              <a:spcAft>
                <a:spcPts val="300"/>
              </a:spcAft>
              <a:buSzPct val="100000"/>
              <a:buChar char="•"/>
            </a:pPr>
            <a:r>
              <a:rPr lang="en-US" sz="1050" dirty="0">
                <a:solidFill>
                  <a:schemeClr val="tx1"/>
                </a:solidFill>
              </a:rPr>
              <a:t>Thermal span and the dose threshold behind the deadline</a:t>
            </a:r>
            <a:endParaRPr lang="en-US" sz="1150" dirty="0"/>
          </a:p>
        </p:txBody>
      </p:sp>
      <p:sp>
        <p:nvSpPr>
          <p:cNvPr id="17" name="Card 141"/>
          <p:cNvSpPr/>
          <p:nvPr/>
        </p:nvSpPr>
        <p:spPr>
          <a:xfrm>
            <a:off x="9387688" y="3653028"/>
            <a:ext cx="2529688" cy="2135124"/>
          </a:xfrm>
          <a:prstGeom prst="roundRect">
            <a:avLst>
              <a:gd name="adj" fmla="val 2141"/>
            </a:avLst>
          </a:prstGeom>
          <a:solidFill>
            <a:schemeClr val="bg1"/>
          </a:solidFill>
          <a:ln w="9525">
            <a:solidFill>
              <a:srgbClr val="0B3C6F"/>
            </a:solidFill>
          </a:ln>
        </p:spPr>
        <p:txBody>
          <a:bodyPr wrap="square" lIns="63500" tIns="88900" rIns="88900" bIns="63500" rtlCol="0" anchor="t"/>
          <a:lstStyle/>
          <a:p>
            <a:pPr indent="0" marL="0">
              <a:spcAft>
                <a:spcPts val="300"/>
              </a:spcAft>
              <a:buNone/>
            </a:pPr>
            <a:r>
              <a:rPr lang="en-US" sz="1300" b="1" dirty="0">
                <a:solidFill>
                  <a:schemeClr val="accent3"/>
                </a:solidFill>
              </a:rPr>
              <a:t>Not built</a:t>
            </a:r>
            <a:endParaRPr lang="en-US" sz="1150" dirty="0"/>
          </a:p>
          <a:p>
            <a:pPr marL="127000" indent="-127000">
              <a:spcAft>
                <a:spcPts val="300"/>
              </a:spcAft>
              <a:buSzPct val="100000"/>
              <a:buChar char="•"/>
            </a:pPr>
            <a:r>
              <a:rPr lang="en-US" sz="1050" dirty="0">
                <a:solidFill>
                  <a:schemeClr val="tx1"/>
                </a:solidFill>
              </a:rPr>
              <a:t>Thermal classifier: no model, no metric</a:t>
            </a:r>
            <a:endParaRPr lang="en-US" sz="1150" dirty="0"/>
          </a:p>
          <a:p>
            <a:pPr marL="127000" indent="-127000">
              <a:spcAft>
                <a:spcPts val="300"/>
              </a:spcAft>
              <a:buSzPct val="100000"/>
              <a:buChar char="•"/>
            </a:pPr>
            <a:r>
              <a:rPr lang="en-US" sz="1050" dirty="0">
                <a:solidFill>
                  <a:schemeClr val="tx1"/>
                </a:solidFill>
              </a:rPr>
              <a:t>Connection to a real SCADA system or drone</a:t>
            </a:r>
            <a:endParaRPr lang="en-US" sz="1150" dirty="0"/>
          </a:p>
          <a:p>
            <a:pPr marL="127000" indent="-127000">
              <a:spcAft>
                <a:spcPts val="300"/>
              </a:spcAft>
              <a:buSzPct val="100000"/>
              <a:buChar char="•"/>
            </a:pPr>
            <a:r>
              <a:rPr lang="en-US" sz="1050" dirty="0">
                <a:solidFill>
                  <a:schemeClr val="tx1"/>
                </a:solidFill>
              </a:rPr>
              <a:t>Any deviation settlement charge</a:t>
            </a:r>
            <a:endParaRPr lang="en-US" sz="1150" dirty="0"/>
          </a:p>
        </p:txBody>
      </p:sp>
      <p:sp>
        <p:nvSpPr>
          <p:cNvPr id="18" name="Card 142"/>
          <p:cNvSpPr/>
          <p:nvPr/>
        </p:nvSpPr>
        <p:spPr>
          <a:xfrm>
            <a:off x="6766560" y="5879592"/>
            <a:ext cx="5150815" cy="502920"/>
          </a:xfrm>
          <a:prstGeom prst="roundRect">
            <a:avLst>
              <a:gd name="adj" fmla="val 9091"/>
            </a:avLst>
          </a:prstGeom>
          <a:solidFill>
            <a:schemeClr val="bg2"/>
          </a:solidFill>
          <a:ln w="9525">
            <a:solidFill>
              <a:srgbClr val="0B3C6F"/>
            </a:solidFill>
          </a:ln>
        </p:spPr>
        <p:txBody>
          <a:bodyPr wrap="square" lIns="63500" tIns="88900" rIns="88900" bIns="63500" rtlCol="0" anchor="ctr"/>
          <a:lstStyle/>
          <a:p>
            <a:pPr indent="0" marL="0">
              <a:buNone/>
            </a:pPr>
            <a:r>
              <a:rPr lang="en-US" sz="1050" b="1" dirty="0">
                <a:solidFill>
                  <a:schemeClr val="tx2"/>
                </a:solidFill>
              </a:rPr>
              <a:t>Evidence stays with the array it was captured on. </a:t>
            </a:r>
            <a:pPr indent="0" marL="0">
              <a:buNone/>
            </a:pPr>
            <a:r>
              <a:rPr lang="en-US" sz="1050" dirty="0">
                <a:solidFill>
                  <a:schemeClr val="tx1"/>
                </a:solidFill>
              </a:rPr>
              <a:t>We hold real imagery for B-17 only, and no other array may show it.</a:t>
            </a:r>
            <a:endParaRPr lang="en-US" sz="105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2103120" y="128016"/>
            <a:ext cx="7985455" cy="676656"/>
          </a:xfrm>
          <a:prstGeom prst="rect">
            <a:avLst/>
          </a:prstGeom>
          <a:noFill/>
          <a:ln/>
        </p:spPr>
        <p:txBody>
          <a:bodyPr wrap="square" lIns="0" tIns="0" rIns="0" bIns="0" rtlCol="0" anchor="ctr"/>
          <a:lstStyle/>
          <a:p>
            <a:pPr algn="ctr" indent="0" marL="0">
              <a:buNone/>
            </a:pPr>
            <a:r>
              <a:rPr lang="en-US" sz="3000" b="1" dirty="0">
                <a:solidFill>
                  <a:schemeClr val="tx2"/>
                </a:solidFill>
              </a:rPr>
              <a:t>IMPACT AND BENEFITS</a:t>
            </a:r>
            <a:endParaRPr lang="en-US" sz="3000" dirty="0"/>
          </a:p>
        </p:txBody>
      </p:sp>
      <p:sp>
        <p:nvSpPr>
          <p:cNvPr id="4" name="Bar 143"/>
          <p:cNvSpPr/>
          <p:nvPr/>
        </p:nvSpPr>
        <p:spPr>
          <a:xfrm>
            <a:off x="274320" y="1024128"/>
            <a:ext cx="11643055"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WHAT A FAULT COSTS, AND WHAT WAITING COSTS: every figure with its working</a:t>
            </a:r>
            <a:endParaRPr lang="en-US" sz="1400" dirty="0"/>
          </a:p>
        </p:txBody>
      </p:sp>
      <p:sp>
        <p:nvSpPr>
          <p:cNvPr id="5" name="Card 144"/>
          <p:cNvSpPr/>
          <p:nvPr/>
        </p:nvSpPr>
        <p:spPr>
          <a:xfrm>
            <a:off x="274320" y="1463040"/>
            <a:ext cx="2842184" cy="1261872"/>
          </a:xfrm>
          <a:prstGeom prst="roundRect">
            <a:avLst>
              <a:gd name="adj" fmla="val 3623"/>
            </a:avLst>
          </a:prstGeom>
          <a:solidFill>
            <a:schemeClr val="bg2"/>
          </a:solidFill>
          <a:ln w="9525">
            <a:solidFill>
              <a:srgbClr val="0B3C6F"/>
            </a:solidFill>
          </a:ln>
        </p:spPr>
        <p:txBody>
          <a:bodyPr wrap="square" lIns="63500" tIns="88900" rIns="88900" bIns="63500" rtlCol="0" anchor="ctr"/>
          <a:lstStyle/>
          <a:p>
            <a:pPr indent="0" marL="0">
              <a:buNone/>
            </a:pPr>
            <a:r>
              <a:rPr lang="en-US" sz="1900" b="1" dirty="0">
                <a:solidFill>
                  <a:schemeClr val="tx2"/>
                </a:solidFill>
              </a:rPr>
              <a:t>₹2.446/kWh</a:t>
            </a:r>
            <a:endParaRPr lang="en-US" sz="1150" dirty="0"/>
          </a:p>
          <a:p>
            <a:pPr indent="0" marL="0">
              <a:buNone/>
            </a:pPr>
            <a:r>
              <a:rPr lang="en-US" sz="1050" dirty="0">
                <a:solidFill>
                  <a:schemeClr val="tx1"/>
                </a:solidFill>
              </a:rPr>
              <a:t>(200 MW × ₹2.44 + 300 MW × ₹2.45) ÷ 500 MW. The two SECI Bhadla Phase-III lots, blended by capacity</a:t>
            </a:r>
            <a:endParaRPr lang="en-US" sz="1150" dirty="0"/>
          </a:p>
        </p:txBody>
      </p:sp>
      <p:sp>
        <p:nvSpPr>
          <p:cNvPr id="6" name="Card 145"/>
          <p:cNvSpPr/>
          <p:nvPr/>
        </p:nvSpPr>
        <p:spPr>
          <a:xfrm>
            <a:off x="3207944" y="1463040"/>
            <a:ext cx="2842184" cy="1261872"/>
          </a:xfrm>
          <a:prstGeom prst="roundRect">
            <a:avLst>
              <a:gd name="adj" fmla="val 3623"/>
            </a:avLst>
          </a:prstGeom>
          <a:solidFill>
            <a:schemeClr val="bg2"/>
          </a:solidFill>
          <a:ln w="9525">
            <a:solidFill>
              <a:srgbClr val="0B3C6F"/>
            </a:solidFill>
          </a:ln>
        </p:spPr>
        <p:txBody>
          <a:bodyPr wrap="square" lIns="63500" tIns="88900" rIns="88900" bIns="63500" rtlCol="0" anchor="ctr"/>
          <a:lstStyle/>
          <a:p>
            <a:pPr indent="0" marL="0">
              <a:buNone/>
            </a:pPr>
            <a:r>
              <a:rPr lang="en-US" sz="1900" b="1" dirty="0">
                <a:solidFill>
                  <a:schemeClr val="accent3"/>
                </a:solidFill>
              </a:rPr>
              <a:t>3.07 MWh  =  ₹7,509</a:t>
            </a:r>
            <a:endParaRPr lang="en-US" sz="1150" dirty="0"/>
          </a:p>
          <a:p>
            <a:pPr indent="0" marL="0">
              <a:buNone/>
            </a:pPr>
            <a:r>
              <a:rPr lang="en-US" sz="1050" dirty="0">
                <a:solidFill>
                  <a:schemeClr val="tx1"/>
                </a:solidFill>
              </a:rPr>
              <a:t>what one cracked array, B-17, loses over the 72 h forecast if nobody acts</a:t>
            </a:r>
            <a:endParaRPr lang="en-US" sz="1150" dirty="0"/>
          </a:p>
        </p:txBody>
      </p:sp>
      <p:sp>
        <p:nvSpPr>
          <p:cNvPr id="7" name="Card 146"/>
          <p:cNvSpPr/>
          <p:nvPr/>
        </p:nvSpPr>
        <p:spPr>
          <a:xfrm>
            <a:off x="6141568" y="1463040"/>
            <a:ext cx="2842184" cy="1261872"/>
          </a:xfrm>
          <a:prstGeom prst="roundRect">
            <a:avLst>
              <a:gd name="adj" fmla="val 3623"/>
            </a:avLst>
          </a:prstGeom>
          <a:solidFill>
            <a:schemeClr val="bg2"/>
          </a:solidFill>
          <a:ln w="9525">
            <a:solidFill>
              <a:srgbClr val="0B3C6F"/>
            </a:solidFill>
          </a:ln>
        </p:spPr>
        <p:txBody>
          <a:bodyPr wrap="square" lIns="63500" tIns="88900" rIns="88900" bIns="63500" rtlCol="0" anchor="ctr"/>
          <a:lstStyle/>
          <a:p>
            <a:pPr indent="0" marL="0">
              <a:buNone/>
            </a:pPr>
            <a:r>
              <a:rPr lang="en-US" sz="1900" b="1" dirty="0">
                <a:solidFill>
                  <a:schemeClr val="accent2"/>
                </a:solidFill>
              </a:rPr>
              <a:t>₹74,114</a:t>
            </a:r>
            <a:endParaRPr lang="en-US" sz="1150" dirty="0"/>
          </a:p>
          <a:p>
            <a:pPr indent="0" marL="0">
              <a:buNone/>
            </a:pPr>
            <a:r>
              <a:rPr lang="en-US" sz="1050" dirty="0">
                <a:solidFill>
                  <a:schemeClr val="tx1"/>
                </a:solidFill>
              </a:rPr>
              <a:t>the same array left 30 days: 1.01 MWh/day × 30. An illustration that assumes a constant loss, not a measurement</a:t>
            </a:r>
            <a:endParaRPr lang="en-US" sz="1150" dirty="0"/>
          </a:p>
        </p:txBody>
      </p:sp>
      <p:sp>
        <p:nvSpPr>
          <p:cNvPr id="8" name="Card 147"/>
          <p:cNvSpPr/>
          <p:nvPr/>
        </p:nvSpPr>
        <p:spPr>
          <a:xfrm>
            <a:off x="9075191" y="1463040"/>
            <a:ext cx="2842184" cy="1261872"/>
          </a:xfrm>
          <a:prstGeom prst="roundRect">
            <a:avLst>
              <a:gd name="adj" fmla="val 3623"/>
            </a:avLst>
          </a:prstGeom>
          <a:solidFill>
            <a:schemeClr val="bg2"/>
          </a:solidFill>
          <a:ln w="9525">
            <a:solidFill>
              <a:srgbClr val="0B3C6F"/>
            </a:solidFill>
          </a:ln>
        </p:spPr>
        <p:txBody>
          <a:bodyPr wrap="square" lIns="63500" tIns="88900" rIns="88900" bIns="63500" rtlCol="0" anchor="ctr"/>
          <a:lstStyle/>
          <a:p>
            <a:pPr indent="0" marL="0">
              <a:buNone/>
            </a:pPr>
            <a:r>
              <a:rPr lang="en-US" sz="1900" b="1" dirty="0">
                <a:solidFill>
                  <a:schemeClr val="accent4"/>
                </a:solidFill>
              </a:rPr>
              <a:t>Annual  &gt;  continuous</a:t>
            </a:r>
            <a:endParaRPr lang="en-US" sz="1150" dirty="0"/>
          </a:p>
          <a:p>
            <a:pPr indent="0" marL="0">
              <a:buNone/>
            </a:pPr>
            <a:r>
              <a:rPr lang="en-US" sz="1050" dirty="0">
                <a:solidFill>
                  <a:schemeClr val="tx1"/>
                </a:solidFill>
              </a:rPr>
              <a:t>aerial surveys are usually yearly, so faults sit for weeks to months. This watches every array all the time</a:t>
            </a:r>
            <a:endParaRPr lang="en-US" sz="1150" dirty="0"/>
          </a:p>
        </p:txBody>
      </p:sp>
      <p:sp>
        <p:nvSpPr>
          <p:cNvPr id="9" name="Frame 148"/>
          <p:cNvSpPr/>
          <p:nvPr/>
        </p:nvSpPr>
        <p:spPr>
          <a:xfrm>
            <a:off x="274320" y="2880360"/>
            <a:ext cx="4297680" cy="3502152"/>
          </a:xfrm>
          <a:prstGeom prst="rect">
            <a:avLst/>
          </a:prstGeom>
          <a:solidFill>
            <a:schemeClr val="bg1"/>
          </a:solidFill>
          <a:ln w="15875">
            <a:solidFill>
              <a:srgbClr val="0B3C6F"/>
            </a:solidFill>
            <a:prstDash val="solid"/>
          </a:ln>
        </p:spPr>
      </p:sp>
      <p:sp>
        <p:nvSpPr>
          <p:cNvPr id="10" name="Text 149"/>
          <p:cNvSpPr txBox="1"/>
          <p:nvPr/>
        </p:nvSpPr>
        <p:spPr>
          <a:xfrm>
            <a:off x="411480" y="2953512"/>
            <a:ext cx="4023360" cy="256032"/>
          </a:xfrm>
          <a:prstGeom prst="rect">
            <a:avLst/>
          </a:prstGeom>
          <a:noFill/>
          <a:ln/>
        </p:spPr>
        <p:txBody>
          <a:bodyPr wrap="square" lIns="0" tIns="0" rIns="0" bIns="0" rtlCol="0" anchor="t"/>
          <a:lstStyle/>
          <a:p>
            <a:pPr indent="0" marL="0">
              <a:buNone/>
            </a:pPr>
            <a:r>
              <a:rPr lang="en-US" sz="1250" b="1" dirty="0">
                <a:solidFill>
                  <a:schemeClr val="tx2"/>
                </a:solidFill>
              </a:rPr>
              <a:t>THE COST OF WAITING, ON SCREEN</a:t>
            </a:r>
            <a:endParaRPr lang="en-US" sz="1250" dirty="0"/>
          </a:p>
        </p:txBody>
      </p:sp>
      <p:pic>
        <p:nvPicPr>
          <p:cNvPr id="11" name="Picture 07-cost-of-waiting.png" descr="lower left: the cost-of-waiting table from the B-17 incident screen">    </p:cNvPr>
          <p:cNvPicPr>
            <a:picLocks noChangeAspect="1"/>
          </p:cNvPicPr>
          <p:nvPr/>
        </p:nvPicPr>
        <p:blipFill>
          <a:blip r:embed="rId1"/>
          <a:stretch>
            <a:fillRect/>
          </a:stretch>
        </p:blipFill>
        <p:spPr>
          <a:xfrm>
            <a:off x="411480" y="3264408"/>
            <a:ext cx="4023360" cy="2469785"/>
          </a:xfrm>
          <a:prstGeom prst="rect">
            <a:avLst/>
          </a:prstGeom>
        </p:spPr>
      </p:pic>
      <p:sp>
        <p:nvSpPr>
          <p:cNvPr id="12" name="Picture frame 151"/>
          <p:cNvSpPr/>
          <p:nvPr/>
        </p:nvSpPr>
        <p:spPr>
          <a:xfrm>
            <a:off x="411480" y="3264408"/>
            <a:ext cx="4023360" cy="2469785"/>
          </a:xfrm>
          <a:prstGeom prst="rect">
            <a:avLst/>
          </a:prstGeom>
          <a:ln w="12700">
            <a:solidFill>
              <a:srgbClr val="0B3C6F"/>
            </a:solidFill>
            <a:prstDash val="solid"/>
          </a:ln>
        </p:spPr>
      </p:sp>
      <p:sp>
        <p:nvSpPr>
          <p:cNvPr id="13" name="Text 152"/>
          <p:cNvSpPr txBox="1"/>
          <p:nvPr/>
        </p:nvSpPr>
        <p:spPr>
          <a:xfrm>
            <a:off x="411480" y="5807345"/>
            <a:ext cx="4023360" cy="685800"/>
          </a:xfrm>
          <a:prstGeom prst="rect">
            <a:avLst/>
          </a:prstGeom>
          <a:noFill/>
          <a:ln/>
        </p:spPr>
        <p:txBody>
          <a:bodyPr wrap="square" lIns="0" tIns="0" rIns="0" bIns="0" rtlCol="0" anchor="t"/>
          <a:lstStyle/>
          <a:p>
            <a:pPr indent="0" marL="0">
              <a:buNone/>
            </a:pPr>
            <a:r>
              <a:rPr lang="en-US" sz="1050" dirty="0">
                <a:solidFill>
                  <a:schemeClr val="tx1"/>
                </a:solidFill>
              </a:rPr>
              <a:t>From the B-17 incident: repair now, in 6 h, tomorrow or in 3 days, in MWh and rupees. As captured; the figures move with site time. A defect report cannot give this.</a:t>
            </a:r>
            <a:endParaRPr lang="en-US" sz="1050" dirty="0"/>
          </a:p>
        </p:txBody>
      </p:sp>
      <p:sp>
        <p:nvSpPr>
          <p:cNvPr id="14" name="Bar 153"/>
          <p:cNvSpPr/>
          <p:nvPr/>
        </p:nvSpPr>
        <p:spPr>
          <a:xfrm>
            <a:off x="4754880" y="2880360"/>
            <a:ext cx="7162495" cy="292608"/>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250" b="1" dirty="0">
                <a:solidFill>
                  <a:schemeClr val="bg1"/>
                </a:solidFill>
              </a:rPr>
              <a:t>WHO GAINS, AND HOW</a:t>
            </a:r>
            <a:endParaRPr lang="en-US" sz="1250" dirty="0"/>
          </a:p>
        </p:txBody>
      </p:sp>
      <p:pic>
        <p:nvPicPr>
          <p:cNvPr id="15" name="Icon 154 tools" descr="D:\Projects\12. project\ppt\images\icons\tools.png">    </p:cNvPr>
          <p:cNvPicPr>
            <a:picLocks noChangeAspect="1"/>
          </p:cNvPicPr>
          <p:nvPr/>
        </p:nvPicPr>
        <p:blipFill>
          <a:blip r:embed="rId2"/>
          <a:stretch>
            <a:fillRect/>
          </a:stretch>
        </p:blipFill>
        <p:spPr>
          <a:xfrm>
            <a:off x="4754880" y="3300984"/>
            <a:ext cx="365760" cy="365760"/>
          </a:xfrm>
          <a:prstGeom prst="rect">
            <a:avLst/>
          </a:prstGeom>
        </p:spPr>
      </p:pic>
      <p:sp>
        <p:nvSpPr>
          <p:cNvPr id="16" name="Text 155"/>
          <p:cNvSpPr txBox="1"/>
          <p:nvPr/>
        </p:nvSpPr>
        <p:spPr>
          <a:xfrm>
            <a:off x="5230368" y="3264408"/>
            <a:ext cx="3037180" cy="899160"/>
          </a:xfrm>
          <a:prstGeom prst="rect">
            <a:avLst/>
          </a:prstGeom>
          <a:noFill/>
          <a:ln/>
        </p:spPr>
        <p:txBody>
          <a:bodyPr wrap="square" lIns="0" tIns="0" rIns="0" bIns="0" rtlCol="0" anchor="t"/>
          <a:lstStyle/>
          <a:p>
            <a:pPr indent="0" marL="0">
              <a:buNone/>
            </a:pPr>
            <a:r>
              <a:rPr lang="en-US" sz="1250" b="1" dirty="0">
                <a:solidFill>
                  <a:schemeClr val="tx2"/>
                </a:solidFill>
              </a:rPr>
              <a:t>Operators and O&amp;M crews</a:t>
            </a:r>
            <a:endParaRPr lang="en-US" sz="1150" dirty="0"/>
          </a:p>
          <a:p>
            <a:pPr indent="0" marL="0">
              <a:buNone/>
            </a:pPr>
            <a:r>
              <a:rPr lang="en-US" sz="1050" dirty="0">
                <a:solidFill>
                  <a:schemeClr val="tx1"/>
                </a:solidFill>
              </a:rPr>
              <a:t>A ranked list with reasons: which array, what repair, by when. No guessing which alarm matters.</a:t>
            </a:r>
            <a:endParaRPr lang="en-US" sz="1150" dirty="0"/>
          </a:p>
        </p:txBody>
      </p:sp>
      <p:pic>
        <p:nvPicPr>
          <p:cNvPr id="17" name="Icon 156 rupee" descr="D:\Projects\12. project\ppt\images\icons\rupee.png">    </p:cNvPr>
          <p:cNvPicPr>
            <a:picLocks noChangeAspect="1"/>
          </p:cNvPicPr>
          <p:nvPr/>
        </p:nvPicPr>
        <p:blipFill>
          <a:blip r:embed="rId3"/>
          <a:stretch>
            <a:fillRect/>
          </a:stretch>
        </p:blipFill>
        <p:spPr>
          <a:xfrm>
            <a:off x="8404708" y="3300984"/>
            <a:ext cx="365760" cy="365760"/>
          </a:xfrm>
          <a:prstGeom prst="rect">
            <a:avLst/>
          </a:prstGeom>
        </p:spPr>
      </p:pic>
      <p:sp>
        <p:nvSpPr>
          <p:cNvPr id="18" name="Text 157"/>
          <p:cNvSpPr txBox="1"/>
          <p:nvPr/>
        </p:nvSpPr>
        <p:spPr>
          <a:xfrm>
            <a:off x="8880196" y="3264408"/>
            <a:ext cx="3037180" cy="899160"/>
          </a:xfrm>
          <a:prstGeom prst="rect">
            <a:avLst/>
          </a:prstGeom>
          <a:noFill/>
          <a:ln/>
        </p:spPr>
        <p:txBody>
          <a:bodyPr wrap="square" lIns="0" tIns="0" rIns="0" bIns="0" rtlCol="0" anchor="t"/>
          <a:lstStyle/>
          <a:p>
            <a:pPr indent="0" marL="0">
              <a:buNone/>
            </a:pPr>
            <a:r>
              <a:rPr lang="en-US" sz="1250" b="1" dirty="0">
                <a:solidFill>
                  <a:schemeClr val="tx2"/>
                </a:solidFill>
              </a:rPr>
              <a:t>Asset owners</a:t>
            </a:r>
            <a:endParaRPr lang="en-US" sz="1150" dirty="0"/>
          </a:p>
          <a:p>
            <a:pPr indent="0" marL="0">
              <a:buNone/>
            </a:pPr>
            <a:r>
              <a:rPr lang="en-US" sz="1050" dirty="0">
                <a:solidFill>
                  <a:schemeClr val="tx1"/>
                </a:solidFill>
              </a:rPr>
              <a:t>Loss in MWh and in rupees at the plant’s own tariff, with the source shown.</a:t>
            </a:r>
            <a:endParaRPr lang="en-US" sz="1150" dirty="0"/>
          </a:p>
        </p:txBody>
      </p:sp>
      <p:pic>
        <p:nvPicPr>
          <p:cNvPr id="19" name="Icon 158 bolt" descr="D:\Projects\12. project\ppt\images\icons\bolt.png">    </p:cNvPr>
          <p:cNvPicPr>
            <a:picLocks noChangeAspect="1"/>
          </p:cNvPicPr>
          <p:nvPr/>
        </p:nvPicPr>
        <p:blipFill>
          <a:blip r:embed="rId4"/>
          <a:stretch>
            <a:fillRect/>
          </a:stretch>
        </p:blipFill>
        <p:spPr>
          <a:xfrm>
            <a:off x="4754880" y="4236720"/>
            <a:ext cx="365760" cy="365760"/>
          </a:xfrm>
          <a:prstGeom prst="rect">
            <a:avLst/>
          </a:prstGeom>
        </p:spPr>
      </p:pic>
      <p:sp>
        <p:nvSpPr>
          <p:cNvPr id="20" name="Text 159"/>
          <p:cNvSpPr txBox="1"/>
          <p:nvPr/>
        </p:nvSpPr>
        <p:spPr>
          <a:xfrm>
            <a:off x="5230368" y="4200144"/>
            <a:ext cx="3037180" cy="899160"/>
          </a:xfrm>
          <a:prstGeom prst="rect">
            <a:avLst/>
          </a:prstGeom>
          <a:noFill/>
          <a:ln/>
        </p:spPr>
        <p:txBody>
          <a:bodyPr wrap="square" lIns="0" tIns="0" rIns="0" bIns="0" rtlCol="0" anchor="t"/>
          <a:lstStyle/>
          <a:p>
            <a:pPr indent="0" marL="0">
              <a:buNone/>
            </a:pPr>
            <a:r>
              <a:rPr lang="en-US" sz="1250" b="1" dirty="0">
                <a:solidFill>
                  <a:schemeClr val="tx2"/>
                </a:solidFill>
              </a:rPr>
              <a:t>The grid and its off-taker</a:t>
            </a:r>
            <a:endParaRPr lang="en-US" sz="1150" dirty="0"/>
          </a:p>
          <a:p>
            <a:pPr indent="0" marL="0">
              <a:buNone/>
            </a:pPr>
            <a:r>
              <a:rPr lang="en-US" sz="1050" dirty="0">
                <a:solidFill>
                  <a:schemeClr val="tx1"/>
                </a:solidFill>
              </a:rPr>
              <a:t>More of the contracted clean energy actually delivered from capacity already built.</a:t>
            </a:r>
            <a:endParaRPr lang="en-US" sz="1150" dirty="0"/>
          </a:p>
        </p:txBody>
      </p:sp>
      <p:pic>
        <p:nvPicPr>
          <p:cNvPr id="21" name="Icon 160 hat" descr="D:\Projects\12. project\ppt\images\icons\hat.png">    </p:cNvPr>
          <p:cNvPicPr>
            <a:picLocks noChangeAspect="1"/>
          </p:cNvPicPr>
          <p:nvPr/>
        </p:nvPicPr>
        <p:blipFill>
          <a:blip r:embed="rId5"/>
          <a:stretch>
            <a:fillRect/>
          </a:stretch>
        </p:blipFill>
        <p:spPr>
          <a:xfrm>
            <a:off x="8404708" y="4236720"/>
            <a:ext cx="365760" cy="365760"/>
          </a:xfrm>
          <a:prstGeom prst="rect">
            <a:avLst/>
          </a:prstGeom>
        </p:spPr>
      </p:pic>
      <p:sp>
        <p:nvSpPr>
          <p:cNvPr id="22" name="Text 161"/>
          <p:cNvSpPr txBox="1"/>
          <p:nvPr/>
        </p:nvSpPr>
        <p:spPr>
          <a:xfrm>
            <a:off x="8880196" y="4200144"/>
            <a:ext cx="3037180" cy="899160"/>
          </a:xfrm>
          <a:prstGeom prst="rect">
            <a:avLst/>
          </a:prstGeom>
          <a:noFill/>
          <a:ln/>
        </p:spPr>
        <p:txBody>
          <a:bodyPr wrap="square" lIns="0" tIns="0" rIns="0" bIns="0" rtlCol="0" anchor="t"/>
          <a:lstStyle/>
          <a:p>
            <a:pPr indent="0" marL="0">
              <a:buNone/>
            </a:pPr>
            <a:r>
              <a:rPr lang="en-US" sz="1250" b="1" dirty="0">
                <a:solidFill>
                  <a:schemeClr val="tx2"/>
                </a:solidFill>
              </a:rPr>
              <a:t>Crew safety</a:t>
            </a:r>
            <a:endParaRPr lang="en-US" sz="1150" dirty="0"/>
          </a:p>
          <a:p>
            <a:pPr indent="0" marL="0">
              <a:buNone/>
            </a:pPr>
            <a:r>
              <a:rPr lang="en-US" sz="1050" dirty="0">
                <a:solidFill>
                  <a:schemeClr val="tx1"/>
                </a:solidFill>
              </a:rPr>
              <a:t>The planner keeps field work out of the hours above 40 °C.</a:t>
            </a:r>
            <a:endParaRPr lang="en-US" sz="1150" dirty="0"/>
          </a:p>
        </p:txBody>
      </p:sp>
      <p:pic>
        <p:nvPicPr>
          <p:cNvPr id="23" name="Icon 162 plane" descr="D:\Projects\12. project\ppt\images\icons\plane.png">    </p:cNvPr>
          <p:cNvPicPr>
            <a:picLocks noChangeAspect="1"/>
          </p:cNvPicPr>
          <p:nvPr/>
        </p:nvPicPr>
        <p:blipFill>
          <a:blip r:embed="rId6"/>
          <a:stretch>
            <a:fillRect/>
          </a:stretch>
        </p:blipFill>
        <p:spPr>
          <a:xfrm>
            <a:off x="4754880" y="5172456"/>
            <a:ext cx="365760" cy="365760"/>
          </a:xfrm>
          <a:prstGeom prst="rect">
            <a:avLst/>
          </a:prstGeom>
        </p:spPr>
      </p:pic>
      <p:sp>
        <p:nvSpPr>
          <p:cNvPr id="24" name="Text 163"/>
          <p:cNvSpPr txBox="1"/>
          <p:nvPr/>
        </p:nvSpPr>
        <p:spPr>
          <a:xfrm>
            <a:off x="5230368" y="5135880"/>
            <a:ext cx="3037180" cy="899160"/>
          </a:xfrm>
          <a:prstGeom prst="rect">
            <a:avLst/>
          </a:prstGeom>
          <a:noFill/>
          <a:ln/>
        </p:spPr>
        <p:txBody>
          <a:bodyPr wrap="square" lIns="0" tIns="0" rIns="0" bIns="0" rtlCol="0" anchor="t"/>
          <a:lstStyle/>
          <a:p>
            <a:pPr indent="0" marL="0">
              <a:buNone/>
            </a:pPr>
            <a:r>
              <a:rPr lang="en-US" sz="1250" b="1" dirty="0">
                <a:solidFill>
                  <a:schemeClr val="tx2"/>
                </a:solidFill>
              </a:rPr>
              <a:t>Fewer needless flights</a:t>
            </a:r>
            <a:endParaRPr lang="en-US" sz="1150" dirty="0"/>
          </a:p>
          <a:p>
            <a:pPr indent="0" marL="0">
              <a:buNone/>
            </a:pPr>
            <a:r>
              <a:rPr lang="en-US" sz="1050" dirty="0">
                <a:solidFill>
                  <a:schemeClr val="tx1"/>
                </a:solidFill>
              </a:rPr>
              <a:t>No drone is sent where imaging adds nothing, such as a soiled array.</a:t>
            </a:r>
            <a:endParaRPr lang="en-US" sz="1150" dirty="0"/>
          </a:p>
        </p:txBody>
      </p:sp>
      <p:pic>
        <p:nvPicPr>
          <p:cNvPr id="25" name="Icon 164 industry" descr="D:\Projects\12. project\ppt\images\icons\industry.png">    </p:cNvPr>
          <p:cNvPicPr>
            <a:picLocks noChangeAspect="1"/>
          </p:cNvPicPr>
          <p:nvPr/>
        </p:nvPicPr>
        <p:blipFill>
          <a:blip r:embed="rId7"/>
          <a:stretch>
            <a:fillRect/>
          </a:stretch>
        </p:blipFill>
        <p:spPr>
          <a:xfrm>
            <a:off x="8404708" y="5172456"/>
            <a:ext cx="365760" cy="365760"/>
          </a:xfrm>
          <a:prstGeom prst="rect">
            <a:avLst/>
          </a:prstGeom>
        </p:spPr>
      </p:pic>
      <p:sp>
        <p:nvSpPr>
          <p:cNvPr id="26" name="Text 165"/>
          <p:cNvSpPr txBox="1"/>
          <p:nvPr/>
        </p:nvSpPr>
        <p:spPr>
          <a:xfrm>
            <a:off x="8880196" y="5135880"/>
            <a:ext cx="3037180" cy="899160"/>
          </a:xfrm>
          <a:prstGeom prst="rect">
            <a:avLst/>
          </a:prstGeom>
          <a:noFill/>
          <a:ln/>
        </p:spPr>
        <p:txBody>
          <a:bodyPr wrap="square" lIns="0" tIns="0" rIns="0" bIns="0" rtlCol="0" anchor="t"/>
          <a:lstStyle/>
          <a:p>
            <a:pPr indent="0" marL="0">
              <a:buNone/>
            </a:pPr>
            <a:r>
              <a:rPr lang="en-US" sz="1250" b="1" dirty="0">
                <a:solidFill>
                  <a:schemeClr val="tx2"/>
                </a:solidFill>
              </a:rPr>
              <a:t>Industry 4.0, end to end</a:t>
            </a:r>
            <a:endParaRPr lang="en-US" sz="1150" dirty="0"/>
          </a:p>
          <a:p>
            <a:pPr indent="0" marL="0">
              <a:buNone/>
            </a:pPr>
            <a:r>
              <a:rPr lang="en-US" sz="1050" dirty="0">
                <a:solidFill>
                  <a:schemeClr val="tx1"/>
                </a:solidFill>
              </a:rPr>
              <a:t>A digital twin, predictive maintenance and automation, with a person in the loop.</a:t>
            </a:r>
            <a:endParaRPr lang="en-US" sz="1150" dirty="0"/>
          </a:p>
        </p:txBody>
      </p:sp>
      <p:sp>
        <p:nvSpPr>
          <p:cNvPr id="27" name="Text 166"/>
          <p:cNvSpPr txBox="1"/>
          <p:nvPr/>
        </p:nvSpPr>
        <p:spPr>
          <a:xfrm>
            <a:off x="4754880" y="6126480"/>
            <a:ext cx="7162495" cy="256032"/>
          </a:xfrm>
          <a:prstGeom prst="rect">
            <a:avLst/>
          </a:prstGeom>
          <a:noFill/>
          <a:ln/>
        </p:spPr>
        <p:txBody>
          <a:bodyPr wrap="square" lIns="0" tIns="0" rIns="0" bIns="0" rtlCol="0" anchor="t"/>
          <a:lstStyle/>
          <a:p>
            <a:pPr indent="0" marL="0">
              <a:buNone/>
            </a:pPr>
            <a:r>
              <a:rPr lang="en-US" sz="1000" dirty="0">
                <a:solidFill>
                  <a:schemeClr val="accent5"/>
                </a:solidFill>
              </a:rPr>
              <a:t>No deviation settlement charge is computed or claimed. Rupees are lost energy times the tariff, and nothing else.</a:t>
            </a:r>
            <a:endParaRPr lang="en-US" sz="100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2103120" y="128016"/>
            <a:ext cx="7985455" cy="676656"/>
          </a:xfrm>
          <a:prstGeom prst="rect">
            <a:avLst/>
          </a:prstGeom>
          <a:noFill/>
          <a:ln/>
        </p:spPr>
        <p:txBody>
          <a:bodyPr wrap="square" lIns="0" tIns="0" rIns="0" bIns="0" rtlCol="0" anchor="ctr"/>
          <a:lstStyle/>
          <a:p>
            <a:pPr algn="ctr" indent="0" marL="0">
              <a:buNone/>
            </a:pPr>
            <a:r>
              <a:rPr lang="en-US" sz="3000" b="1" dirty="0">
                <a:solidFill>
                  <a:schemeClr val="tx2"/>
                </a:solidFill>
              </a:rPr>
              <a:t>RESEARCH AND REFERENCES</a:t>
            </a:r>
            <a:endParaRPr lang="en-US" sz="3000" dirty="0"/>
          </a:p>
        </p:txBody>
      </p:sp>
      <p:sp>
        <p:nvSpPr>
          <p:cNvPr id="4" name="Bar 167"/>
          <p:cNvSpPr/>
          <p:nvPr/>
        </p:nvSpPr>
        <p:spPr>
          <a:xfrm>
            <a:off x="274320" y="1024128"/>
            <a:ext cx="5760720"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FUTURE SCOPE: research, patent, startup</a:t>
            </a:r>
            <a:endParaRPr lang="en-US" sz="1400" dirty="0"/>
          </a:p>
        </p:txBody>
      </p:sp>
      <p:pic>
        <p:nvPicPr>
          <p:cNvPr id="5" name="Icon 168 flask" descr="D:\Projects\12. project\ppt\images\icons\flask.png">    </p:cNvPr>
          <p:cNvPicPr>
            <a:picLocks noChangeAspect="1"/>
          </p:cNvPicPr>
          <p:nvPr/>
        </p:nvPicPr>
        <p:blipFill>
          <a:blip r:embed="rId1"/>
          <a:stretch>
            <a:fillRect/>
          </a:stretch>
        </p:blipFill>
        <p:spPr>
          <a:xfrm>
            <a:off x="320040" y="1463040"/>
            <a:ext cx="365760" cy="365760"/>
          </a:xfrm>
          <a:prstGeom prst="rect">
            <a:avLst/>
          </a:prstGeom>
        </p:spPr>
      </p:pic>
      <p:sp>
        <p:nvSpPr>
          <p:cNvPr id="6" name="Text 169"/>
          <p:cNvSpPr txBox="1"/>
          <p:nvPr/>
        </p:nvSpPr>
        <p:spPr>
          <a:xfrm>
            <a:off x="795528" y="1426464"/>
            <a:ext cx="5193792" cy="749808"/>
          </a:xfrm>
          <a:prstGeom prst="rect">
            <a:avLst/>
          </a:prstGeom>
          <a:noFill/>
          <a:ln/>
        </p:spPr>
        <p:txBody>
          <a:bodyPr wrap="square" lIns="0" tIns="0" rIns="0" bIns="0" rtlCol="0" anchor="t"/>
          <a:lstStyle/>
          <a:p>
            <a:pPr indent="0" marL="0">
              <a:buNone/>
            </a:pPr>
            <a:r>
              <a:rPr lang="en-US" sz="1250" b="1" dirty="0">
                <a:solidFill>
                  <a:schemeClr val="tx2"/>
                </a:solidFill>
              </a:rPr>
              <a:t>Research</a:t>
            </a:r>
            <a:endParaRPr lang="en-US" sz="1150" dirty="0"/>
          </a:p>
          <a:p>
            <a:pPr indent="0" marL="0">
              <a:buNone/>
            </a:pPr>
            <a:r>
              <a:rPr lang="en-US" sz="1050" dirty="0">
                <a:solidFill>
                  <a:schemeClr val="tx1"/>
                </a:solidFill>
              </a:rPr>
              <a:t>Finish the thermal classifier and report its held-out metric per class. Fit the forecast band to real forecast misses. Radiometric thermal data, and field validation of the deadline model.</a:t>
            </a:r>
            <a:endParaRPr lang="en-US" sz="1150" dirty="0"/>
          </a:p>
        </p:txBody>
      </p:sp>
      <p:pic>
        <p:nvPicPr>
          <p:cNvPr id="7" name="Icon 170 file" descr="D:\Projects\12. project\ppt\images\icons\file.png">    </p:cNvPr>
          <p:cNvPicPr>
            <a:picLocks noChangeAspect="1"/>
          </p:cNvPicPr>
          <p:nvPr/>
        </p:nvPicPr>
        <p:blipFill>
          <a:blip r:embed="rId2"/>
          <a:stretch>
            <a:fillRect/>
          </a:stretch>
        </p:blipFill>
        <p:spPr>
          <a:xfrm>
            <a:off x="320040" y="2249424"/>
            <a:ext cx="365760" cy="365760"/>
          </a:xfrm>
          <a:prstGeom prst="rect">
            <a:avLst/>
          </a:prstGeom>
        </p:spPr>
      </p:pic>
      <p:sp>
        <p:nvSpPr>
          <p:cNvPr id="8" name="Text 171"/>
          <p:cNvSpPr txBox="1"/>
          <p:nvPr/>
        </p:nvSpPr>
        <p:spPr>
          <a:xfrm>
            <a:off x="795528" y="2212848"/>
            <a:ext cx="5193792" cy="749808"/>
          </a:xfrm>
          <a:prstGeom prst="rect">
            <a:avLst/>
          </a:prstGeom>
          <a:noFill/>
          <a:ln/>
        </p:spPr>
        <p:txBody>
          <a:bodyPr wrap="square" lIns="0" tIns="0" rIns="0" bIns="0" rtlCol="0" anchor="t"/>
          <a:lstStyle/>
          <a:p>
            <a:pPr indent="0" marL="0">
              <a:buNone/>
            </a:pPr>
            <a:r>
              <a:rPr lang="en-US" sz="1250" b="1" dirty="0">
                <a:solidFill>
                  <a:schemeClr val="tx2"/>
                </a:solidFill>
              </a:rPr>
              <a:t>Patent</a:t>
            </a:r>
            <a:endParaRPr lang="en-US" sz="1150" dirty="0"/>
          </a:p>
          <a:p>
            <a:pPr indent="0" marL="0">
              <a:buNone/>
            </a:pPr>
            <a:r>
              <a:rPr lang="en-US" sz="1050" dirty="0">
                <a:solidFill>
                  <a:schemeClr val="tx1"/>
                </a:solidFill>
              </a:rPr>
              <a:t>None filed. Candidate for a novelty search: a defect, its mechanism and a forecast turned into a repair deadline and a crew plan that re-derives live.</a:t>
            </a:r>
            <a:endParaRPr lang="en-US" sz="1150" dirty="0"/>
          </a:p>
        </p:txBody>
      </p:sp>
      <p:pic>
        <p:nvPicPr>
          <p:cNvPr id="9" name="Icon 172 rocket" descr="D:\Projects\12. project\ppt\images\icons\rocket.png">    </p:cNvPr>
          <p:cNvPicPr>
            <a:picLocks noChangeAspect="1"/>
          </p:cNvPicPr>
          <p:nvPr/>
        </p:nvPicPr>
        <p:blipFill>
          <a:blip r:embed="rId3"/>
          <a:stretch>
            <a:fillRect/>
          </a:stretch>
        </p:blipFill>
        <p:spPr>
          <a:xfrm>
            <a:off x="320040" y="3035808"/>
            <a:ext cx="365760" cy="365760"/>
          </a:xfrm>
          <a:prstGeom prst="rect">
            <a:avLst/>
          </a:prstGeom>
        </p:spPr>
      </p:pic>
      <p:sp>
        <p:nvSpPr>
          <p:cNvPr id="10" name="Text 173"/>
          <p:cNvSpPr txBox="1"/>
          <p:nvPr/>
        </p:nvSpPr>
        <p:spPr>
          <a:xfrm>
            <a:off x="795528" y="2999232"/>
            <a:ext cx="5193792" cy="749808"/>
          </a:xfrm>
          <a:prstGeom prst="rect">
            <a:avLst/>
          </a:prstGeom>
          <a:noFill/>
          <a:ln/>
        </p:spPr>
        <p:txBody>
          <a:bodyPr wrap="square" lIns="0" tIns="0" rIns="0" bIns="0" rtlCol="0" anchor="t"/>
          <a:lstStyle/>
          <a:p>
            <a:pPr indent="0" marL="0">
              <a:buNone/>
            </a:pPr>
            <a:r>
              <a:rPr lang="en-US" sz="1250" b="1" dirty="0">
                <a:solidFill>
                  <a:schemeClr val="tx2"/>
                </a:solidFill>
              </a:rPr>
              <a:t>Startup</a:t>
            </a:r>
            <a:endParaRPr lang="en-US" sz="1150" dirty="0"/>
          </a:p>
          <a:p>
            <a:pPr indent="0" marL="0">
              <a:buNone/>
            </a:pPr>
            <a:r>
              <a:rPr lang="en-US" sz="1050" dirty="0">
                <a:solidFill>
                  <a:schemeClr val="tx1"/>
                </a:solidFill>
              </a:rPr>
              <a:t>Software for O&amp;M contractors and owners of utility-scale plants, fed by the plant’s own SCADA. Needs a permissively licensed detector first.</a:t>
            </a:r>
            <a:endParaRPr lang="en-US" sz="1150" dirty="0"/>
          </a:p>
        </p:txBody>
      </p:sp>
      <p:sp>
        <p:nvSpPr>
          <p:cNvPr id="11" name="Bar 174"/>
          <p:cNvSpPr/>
          <p:nvPr/>
        </p:nvSpPr>
        <p:spPr>
          <a:xfrm>
            <a:off x="274320" y="3822192"/>
            <a:ext cx="5760720"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REFERENCES</a:t>
            </a:r>
            <a:endParaRPr lang="en-US" sz="1400" dirty="0"/>
          </a:p>
        </p:txBody>
      </p:sp>
      <p:sp>
        <p:nvSpPr>
          <p:cNvPr id="12" name="Text 175"/>
          <p:cNvSpPr txBox="1"/>
          <p:nvPr/>
        </p:nvSpPr>
        <p:spPr>
          <a:xfrm>
            <a:off x="320040" y="4224528"/>
            <a:ext cx="5669280" cy="2157984"/>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1. Sheppard, Cook, Perullo (Turbine Logic); Fregosi, Bolen (EPRI). Field Experience Detecting PV Underperformance in Real Time Using Existing Instrumentation. osti.gov/servlets/purl/1960134</a:t>
            </a:r>
            <a:endParaRPr lang="en-US" sz="1050" dirty="0"/>
          </a:p>
          <a:p>
            <a:pPr indent="0" marL="0">
              <a:spcAft>
                <a:spcPts val="300"/>
              </a:spcAft>
              <a:buNone/>
            </a:pPr>
            <a:r>
              <a:rPr lang="en-US" sz="1050" dirty="0">
                <a:solidFill>
                  <a:schemeClr val="tx1"/>
                </a:solidFill>
              </a:rPr>
              <a:t>2. NREL. PVWatts Version 5 Manual, NREL/TP-6A20-60272. docs.nrel.gov/docs/fy14osti/60272.pdf</a:t>
            </a:r>
            <a:endParaRPr lang="en-US" sz="1050" dirty="0"/>
          </a:p>
          <a:p>
            <a:pPr indent="0" marL="0">
              <a:spcAft>
                <a:spcPts val="300"/>
              </a:spcAft>
              <a:buNone/>
            </a:pPr>
            <a:r>
              <a:rPr lang="en-US" sz="1050" dirty="0">
                <a:solidFill>
                  <a:schemeClr val="tx1"/>
                </a:solidFill>
              </a:rPr>
              <a:t>3. SECI auction, Bhadla Phase-III Solar Park, 2017. iea.org/policies/6373-auction-of-solar-corporation-of-india-seci and pv-magazine-india.com/?p=1613</a:t>
            </a:r>
            <a:endParaRPr lang="en-US" sz="1050" dirty="0"/>
          </a:p>
          <a:p>
            <a:pPr indent="0" marL="0">
              <a:spcAft>
                <a:spcPts val="300"/>
              </a:spcAft>
              <a:buNone/>
            </a:pPr>
            <a:r>
              <a:rPr lang="en-US" sz="1050" dirty="0">
                <a:solidFill>
                  <a:schemeClr val="tx1"/>
                </a:solidFill>
              </a:rPr>
              <a:t>4. Raptor Maps. InfraredSolarModules dataset. github.com/RaptorMaps/InfraredSolarModules</a:t>
            </a:r>
            <a:endParaRPr lang="en-US" sz="1050" dirty="0"/>
          </a:p>
          <a:p>
            <a:pPr indent="0" marL="0">
              <a:spcAft>
                <a:spcPts val="300"/>
              </a:spcAft>
              <a:buNone/>
            </a:pPr>
            <a:r>
              <a:rPr lang="en-US" sz="1050" dirty="0">
                <a:solidFill>
                  <a:schemeClr val="tx1"/>
                </a:solidFill>
              </a:rPr>
              <a:t>5. Solar Panel Fault Detection v2, Roboflow Universe. universe.roboflow.com/solarvision-gwljt/solar-panel-fault-detection</a:t>
            </a:r>
            <a:endParaRPr lang="en-US" sz="1050" dirty="0"/>
          </a:p>
          <a:p>
            <a:pPr indent="0" marL="0">
              <a:buNone/>
            </a:pPr>
            <a:r>
              <a:rPr lang="en-US" sz="1050" dirty="0">
                <a:solidFill>
                  <a:schemeClr val="tx1"/>
                </a:solidFill>
              </a:rPr>
              <a:t>6. CERC Deviation Settlement Mechanism Regulations, 2024: cited as context only. No charge is computed from it.</a:t>
            </a:r>
            <a:endParaRPr lang="en-US" sz="1050" dirty="0"/>
          </a:p>
        </p:txBody>
      </p:sp>
      <p:sp>
        <p:nvSpPr>
          <p:cNvPr id="13" name="Bar 176"/>
          <p:cNvSpPr/>
          <p:nvPr/>
        </p:nvSpPr>
        <p:spPr>
          <a:xfrm>
            <a:off x="6217920" y="1024128"/>
            <a:ext cx="5699455" cy="329184"/>
          </a:xfrm>
          <a:prstGeom prst="rect">
            <a:avLst/>
          </a:prstGeom>
          <a:solidFill>
            <a:schemeClr val="accent1"/>
          </a:solidFill>
          <a:ln>
            <a:solidFill>
              <a:srgbClr val="1565C0"/>
            </a:solidFill>
          </a:ln>
        </p:spPr>
        <p:txBody>
          <a:bodyPr wrap="square" lIns="12700" tIns="101600" rIns="101600" bIns="12700" rtlCol="0" anchor="ctr"/>
          <a:lstStyle/>
          <a:p>
            <a:pPr indent="0" marL="0">
              <a:buNone/>
            </a:pPr>
            <a:r>
              <a:rPr lang="en-US" sz="1400" b="1" dirty="0">
                <a:solidFill>
                  <a:schemeClr val="bg1"/>
                </a:solidFill>
              </a:rPr>
              <a:t>WHAT WE BUILT ON: third-party work, declared</a:t>
            </a:r>
            <a:endParaRPr lang="en-US" sz="1400" dirty="0"/>
          </a:p>
        </p:txBody>
      </p:sp>
      <p:graphicFrame>
        <p:nvGraphicFramePr>
          <p:cNvPr id="9" name="Table 177"/>
          <p:cNvGraphicFramePr>
            <a:graphicFrameLocks noGrp="1"/>
          </p:cNvGraphicFramePr>
          <p:nvPr>
            <p:extLst>
              <p:ext uri="{D42A27DB-BD31-4B8C-83A1-F6EECF244321}">
                <p14:modId xmlns:p14="http://schemas.microsoft.com/office/powerpoint/2010/main" val="1579011935"/>
              </p:ext>
            </p:extLst>
          </p:nvPr>
        </p:nvGraphicFramePr>
        <p:xfrm>
          <a:off x="6217920" y="1408176"/>
          <a:ext cx="5699455" cy="914400"/>
        </p:xfrm>
        <a:graphic>
          <a:graphicData uri="http://schemas.openxmlformats.org/drawingml/2006/table">
            <a:tbl>
              <a:tblPr/>
              <a:tblGrid>
                <a:gridCol w="1234440"/>
                <a:gridCol w="3093415"/>
                <a:gridCol w="1371600"/>
              </a:tblGrid>
              <a:tr h="0">
                <a:tc>
                  <a:txBody>
                    <a:bodyPr/>
                    <a:lstStyle/>
                    <a:p>
                      <a:pPr indent="0" marL="0">
                        <a:buNone/>
                      </a:pPr>
                      <a:r>
                        <a:rPr lang="en-US" sz="1000" b="1" dirty="0">
                          <a:solidFill>
                            <a:srgbClr val="FFFFFF"/>
                          </a:solidFill>
                        </a:rPr>
                        <a:t>Kind</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c>
                  <a:txBody>
                    <a:bodyPr/>
                    <a:lstStyle/>
                    <a:p>
                      <a:pPr indent="0" marL="0">
                        <a:buNone/>
                      </a:pPr>
                      <a:r>
                        <a:rPr lang="en-US" sz="1000" b="1" dirty="0">
                          <a:solidFill>
                            <a:srgbClr val="FFFFFF"/>
                          </a:solidFill>
                        </a:rPr>
                        <a:t>What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c>
                  <a:txBody>
                    <a:bodyPr/>
                    <a:lstStyle/>
                    <a:p>
                      <a:pPr indent="0" marL="0">
                        <a:buNone/>
                      </a:pPr>
                      <a:r>
                        <a:rPr lang="en-US" sz="1000" b="1" dirty="0">
                          <a:solidFill>
                            <a:srgbClr val="FFFFFF"/>
                          </a:solidFill>
                        </a:rPr>
                        <a:t>Licence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0B3C6F"/>
                    </a:solidFill>
                  </a:tcPr>
                </a:tc>
              </a:tr>
              <a:tr h="0">
                <a:tc>
                  <a:txBody>
                    <a:bodyPr/>
                    <a:lstStyle/>
                    <a:p>
                      <a:pPr indent="0" marL="0">
                        <a:buNone/>
                      </a:pPr>
                      <a:r>
                        <a:rPr lang="en-US" sz="1000" dirty="0">
                          <a:solidFill>
                            <a:srgbClr val="111827"/>
                          </a:solidFill>
                        </a:rPr>
                        <a:t>Dataset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Solar Panel Fault Detection v2, Roboflow: 921 images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CC BY 4.0</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Dataset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InfraredSolarModules, Raptor Maps: 20,000 images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MIT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Pre-trained model</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Ultralytics YOLOv8n, fine-tuned by us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AGPL-3.0</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External API</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Groq, model openai/gpt-oss-120b</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Groq terms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Libraries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Next.js, React, three, React Three Fiber, drei, zustand, zod, Tailwind</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MIT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Libraries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onnxruntime-web, highs (HiGHS in WebAssembly)</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MIT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Libraries</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postprocessing; lucide-react; playwright-core, TypeScript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Zlib; ISC; Apache-2.0</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11827"/>
                          </a:solidFill>
                        </a:rPr>
                        <a:t>Typeface</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IBM Plex, in the product</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c>
                  <a:txBody>
                    <a:bodyPr/>
                    <a:lstStyle/>
                    <a:p>
                      <a:pPr indent="0" marL="0">
                        <a:buNone/>
                      </a:pPr>
                      <a:r>
                        <a:rPr lang="en-US" sz="1000" dirty="0">
                          <a:solidFill>
                            <a:srgbClr val="111827"/>
                          </a:solidFill>
                        </a:rPr>
                        <a:t>OFL</a:t>
                      </a:r>
                      <a:endParaRPr lang="en-US" sz="1000" dirty="0"/>
                    </a:p>
                  </a:txBody>
                  <a:tcPr marL="63500" marR="63500" marT="25400" marB="25400" anchor="ctr">
                    <a:lnL w="9525" cap="flat" cmpd="sng" algn="ctr">
                      <a:solidFill>
                        <a:srgbClr val="0B3C6F"/>
                      </a:solidFill>
                      <a:prstDash val="solid"/>
                      <a:round/>
                      <a:headEnd type="none" w="med" len="med"/>
                      <a:tailEnd type="none" w="med" len="med"/>
                    </a:lnL>
                    <a:lnR w="9525" cap="flat" cmpd="sng" algn="ctr">
                      <a:solidFill>
                        <a:srgbClr val="0B3C6F"/>
                      </a:solidFill>
                      <a:prstDash val="solid"/>
                      <a:round/>
                      <a:headEnd type="none" w="med" len="med"/>
                      <a:tailEnd type="none" w="med" len="med"/>
                    </a:lnR>
                    <a:lnT w="9525" cap="flat" cmpd="sng" algn="ctr">
                      <a:solidFill>
                        <a:srgbClr val="0B3C6F"/>
                      </a:solidFill>
                      <a:prstDash val="solid"/>
                      <a:round/>
                      <a:headEnd type="none" w="med" len="med"/>
                      <a:tailEnd type="none" w="med" len="med"/>
                    </a:lnT>
                    <a:lnB w="9525" cap="flat" cmpd="sng" algn="ctr">
                      <a:solidFill>
                        <a:srgbClr val="0B3C6F"/>
                      </a:solidFill>
                      <a:prstDash val="solid"/>
                      <a:round/>
                      <a:headEnd type="none" w="med" len="med"/>
                      <a:tailEnd type="none" w="med" len="med"/>
                    </a:lnB>
                    <a:solidFill>
                      <a:srgbClr val="FFFFFF"/>
                    </a:solidFill>
                  </a:tcPr>
                </a:tc>
              </a:tr>
            </a:tbl>
          </a:graphicData>
        </a:graphic>
      </p:graphicFrame>
      <p:sp>
        <p:nvSpPr>
          <p:cNvPr id="15" name="Card 178"/>
          <p:cNvSpPr/>
          <p:nvPr/>
        </p:nvSpPr>
        <p:spPr>
          <a:xfrm>
            <a:off x="6217920" y="3675888"/>
            <a:ext cx="5699455" cy="1188720"/>
          </a:xfrm>
          <a:prstGeom prst="roundRect">
            <a:avLst>
              <a:gd name="adj" fmla="val 3846"/>
            </a:avLst>
          </a:prstGeom>
          <a:solidFill>
            <a:schemeClr val="bg2"/>
          </a:solidFill>
          <a:ln w="9525">
            <a:solidFill>
              <a:srgbClr val="0B3C6F"/>
            </a:solidFill>
          </a:ln>
        </p:spPr>
        <p:txBody>
          <a:bodyPr wrap="square" lIns="63500" tIns="88900" rIns="88900" bIns="63500" rtlCol="0" anchor="ctr"/>
          <a:lstStyle/>
          <a:p>
            <a:pPr indent="0" marL="0">
              <a:buNone/>
            </a:pPr>
            <a:r>
              <a:rPr lang="en-US" sz="1100" b="1" dirty="0">
                <a:solidFill>
                  <a:schemeClr val="tx2"/>
                </a:solidFill>
              </a:rPr>
              <a:t>Reference we owe: </a:t>
            </a:r>
            <a:pPr indent="0" marL="0">
              <a:buNone/>
            </a:pPr>
            <a:r>
              <a:rPr lang="en-US" sz="1100" dirty="0">
                <a:solidFill>
                  <a:schemeClr val="tx1"/>
                </a:solidFill>
              </a:rPr>
              <a:t>the loop follows the RAISE-winning Robinsun solar agent. We rebuilt it with a trained defect model and a physics-grounded simulation in place of a physical drone.</a:t>
            </a:r>
            <a:endParaRPr lang="en-US" sz="1100" dirty="0"/>
          </a:p>
          <a:p>
            <a:pPr indent="0" marL="0">
              <a:buNone/>
            </a:pPr>
            <a:r>
              <a:rPr lang="en-US" sz="1100" b="1" dirty="0">
                <a:solidFill>
                  <a:schemeClr val="tx2"/>
                </a:solidFill>
              </a:rPr>
              <a:t>Data: </a:t>
            </a:r>
            <a:pPr indent="0" marL="0">
              <a:buNone/>
            </a:pPr>
            <a:r>
              <a:rPr lang="en-US" sz="1100" dirty="0">
                <a:solidFill>
                  <a:schemeClr val="tx1"/>
                </a:solidFill>
              </a:rPr>
              <a:t>no personal or proprietary data is used. Both datasets are public and openly licensed. Telemetry is simulated.</a:t>
            </a:r>
            <a:endParaRPr lang="en-US" sz="1100" dirty="0"/>
          </a:p>
        </p:txBody>
      </p:sp>
      <p:sp>
        <p:nvSpPr>
          <p:cNvPr id="16" name="Card 179"/>
          <p:cNvSpPr/>
          <p:nvPr/>
        </p:nvSpPr>
        <p:spPr>
          <a:xfrm>
            <a:off x="6217920" y="4956048"/>
            <a:ext cx="5699455" cy="1426464"/>
          </a:xfrm>
          <a:prstGeom prst="roundRect">
            <a:avLst>
              <a:gd name="adj" fmla="val 3205"/>
            </a:avLst>
          </a:prstGeom>
          <a:solidFill>
            <a:schemeClr val="bg2"/>
          </a:solidFill>
          <a:ln w="9525">
            <a:solidFill>
              <a:srgbClr val="0B3C6F"/>
            </a:solidFill>
          </a:ln>
        </p:spPr>
        <p:txBody>
          <a:bodyPr wrap="square" lIns="63500" tIns="88900" rIns="88900" bIns="63500" rtlCol="0" anchor="ctr"/>
          <a:lstStyle/>
          <a:p>
            <a:pPr indent="0" marL="0">
              <a:buNone/>
            </a:pPr>
            <a:r>
              <a:rPr lang="en-US" sz="1300" b="1" dirty="0">
                <a:solidFill>
                  <a:schemeClr val="tx2"/>
                </a:solidFill>
              </a:rPr>
              <a:t>Team SIGMOID</a:t>
            </a:r>
            <a:endParaRPr lang="en-US" sz="1150" dirty="0"/>
          </a:p>
          <a:p>
            <a:pPr indent="0" marL="0">
              <a:buNone/>
            </a:pPr>
            <a:r>
              <a:rPr lang="en-US" sz="1100" dirty="0">
                <a:solidFill>
                  <a:schemeClr val="tx1"/>
                </a:solidFill>
              </a:rPr>
              <a:t>Rehaan Ahmad Khan, Shantanu Singh, Lakshita Rawat, Krishna Agarwal</a:t>
            </a:r>
            <a:endParaRPr lang="en-US" sz="1150" dirty="0"/>
          </a:p>
          <a:p>
            <a:pPr indent="0" marL="0">
              <a:buNone/>
            </a:pPr>
            <a:r>
              <a:rPr lang="en-US" sz="1050" dirty="0">
                <a:solidFill>
                  <a:schemeClr val="accent5"/>
                </a:solidFill>
              </a:rPr>
              <a:t>Code: github.com/RAK2315/solar-proj (AGPL-3.0)</a:t>
            </a:r>
            <a:endParaRPr lang="en-US" sz="1150" dirty="0"/>
          </a:p>
        </p:txBody>
      </p:sp>
      <p:sp>
        <p:nvSpPr>
          <p:cNvPr id="25" name="Slide Number Placeholder 0"/>
          <p:cNvSpPr>
            <a:spLocks noGrp="1"/>
          </p:cNvSpPr>
          <p:nvPr>
            <p:ph type="sldNum" sz="quarter" idx="4294967295"/>
          </p:nvPr>
        </p:nvSpPr>
        <p:spPr>
          <a:xfrm>
            <a:off x="11277295" y="6510528"/>
            <a:ext cx="640080" cy="347472"/>
          </a:xfrm>
          <a:prstGeom prst="rect">
            <a:avLst/>
          </a:prstGeom>
          <a:extLst>
            <a:ext uri="{C572A759-6A51-4108-AA02-DFA0A04FC94B}">
              <ma14:wrappingTextBoxFlag xmlns:ma14="http://schemas.microsoft.com/office/mac/drawingml/2011/main" val="0"/>
            </a:ext>
          </a:extLst>
        </p:spPr>
        <p:txBody>
          <a:bodyPr anchor="ctr"/>
          <a:lstStyle>
            <a:lvl1pPr>
              <a:defRPr sz="1100">
                <a:solidFill>
                  <a:srgbClr val="FFFFFF"/>
                </a:solidFill>
              </a:defRPr>
            </a:lvl1pPr>
          </a:lstStyle>
          <a:p>
            <a:pPr algn="r"/>
            <a:fld id="{F7021451-1387-4CA6-816F-3879F97B5CBC}" type="slidenum">
              <a:rPr b="1" lang="en-US"/>
              <a:t>8</a:t>
            </a:fld>
            <a:endParaRPr lang="en-US"/>
          </a:p>
        </p:txBody>
      </p:sp>
    </p:spTree>
  </p:cSld>
  <p:clrMapOvr>
    <a:masterClrMapping/>
  </p:clrMapOvr>
</p:sld>
</file>

<file path=ppt/theme/theme1.xml><?xml version="1.0" encoding="utf-8"?>
<a:theme xmlns:a="http://schemas.openxmlformats.org/drawingml/2006/main" name="Surya Light">
  <a:themeElements>
    <a:clrScheme name="Surya Light">
      <a:dk1>
        <a:srgbClr val="111827"/>
      </a:dk1>
      <a:lt1>
        <a:srgbClr val="FFFFFF"/>
      </a:lt1>
      <a:dk2>
        <a:srgbClr val="0B3C6F"/>
      </a:dk2>
      <a:lt2>
        <a:srgbClr val="EAF2FB"/>
      </a:lt2>
      <a:accent1>
        <a:srgbClr val="1565C0"/>
      </a:accent1>
      <a:accent2>
        <a:srgbClr val="D9730D"/>
      </a:accent2>
      <a:accent3>
        <a:srgbClr val="C62828"/>
      </a:accent3>
      <a:accent4>
        <a:srgbClr val="00796B"/>
      </a:accent4>
      <a:accent5>
        <a:srgbClr val="55606F"/>
      </a:accent5>
      <a:accent6>
        <a:srgbClr val="F4B400"/>
      </a:accent6>
      <a:hlink>
        <a:srgbClr val="1565C0"/>
      </a:hlink>
      <a:folHlink>
        <a:srgbClr val="55606F"/>
      </a:folHlink>
    </a:clrScheme>
    <a:fontScheme name="Surya L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Team SIGMOID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SURYA AGENT - Round 1</dc:title>
  <dc:subject>PptxGenJS Presentation</dc:subject>
  <dc:creator>Team SIGMOID</dc:creator>
  <cp:lastModifiedBy>Team SIGMOID</cp:lastModifiedBy>
  <cp:revision>1</cp:revision>
  <dcterms:created xsi:type="dcterms:W3CDTF">2026-10-07T12:15:05Z</dcterms:created>
  <dcterms:modified xsi:type="dcterms:W3CDTF">2026-10-07T12:15:05Z</dcterms:modified>
</cp:coreProperties>
</file>