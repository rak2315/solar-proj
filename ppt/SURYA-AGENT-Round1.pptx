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df32ef1-c689-c78d-fb04-3002e5d03233}">
          <p14:sldIdLst>
            <p14:sldId id="256"/>
          </p14:sldIdLst>
        </p14:section>
        <p14:section name="1 Problem" id="{f1b5cc30-cf3d-be8c-0e52-4819715dd2f8}">
          <p14:sldIdLst>
            <p14:sldId id="257"/>
          </p14:sldIdLst>
        </p14:section>
        <p14:section name="2 Gaps" id="{25f0b62c-e2f9-0542-b1c4-e762e88effe4}">
          <p14:sldIdLst>
            <p14:sldId id="258"/>
          </p14:sldIdLst>
        </p14:section>
        <p14:section name="3 Solution" id="{8996dd77-ffe4-8249-fd02-4b9cde201f3f}">
          <p14:sldIdLst>
            <p14:sldId id="259"/>
            <p14:sldId id="260"/>
            <p14:sldId id="261"/>
          </p14:sldIdLst>
        </p14:section>
        <p14:section name="4 Innovation" id="{1a6a16e3-7ac3-6152-979d-35c5cc133073}">
          <p14:sldIdLst>
            <p14:sldId id="262"/>
            <p14:sldId id="263"/>
            <p14:sldId id="264"/>
          </p14:sldIdLst>
        </p14:section>
        <p14:section name="5 Impact" id="{4a49b9b1-ef29-5997-5ea0-a32561b9858c}">
          <p14:sldIdLst>
            <p14:sldId id="265"/>
          </p14:sldIdLst>
        </p14:section>
        <p14:section name="6 Prototype" id="{7e687d26-f32a-c2ae-28b9-b836c52c788b}">
          <p14:sldIdLst>
            <p14:sldId id="266"/>
            <p14:sldId id="267"/>
            <p14:sldId id="268"/>
          </p14:sldIdLst>
        </p14:section>
        <p14:section name="7 Future" id="{6a97f725-7644-7875-86fb-2f91e64dcd81}">
          <p14:sldIdLst>
            <p14:sldId id="269"/>
          </p14:sldIdLst>
        </p14:section>
        <p14:section name="Declarations" id="{164a0e96-0271-d2b8-7157-3ad6f3c8aff9}">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Surya watches a 500 MW block of Bhadla Solar Park, sends a drone to verify what telemetry cannot, and hands the operator a ranked, deadlined repair plan to approve. Say "a 500 MW block of Bhadla" out loud: it is accurate and it answers "why only 120 arrays" before it is asked. The picture is the product's own landing page: the 3D field with two drones flying inspection loops. Team departments are not on the slide because they were not supplied; add them here if the organisers want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continuous against annual, not fast against slow. The two quotations are from Sheppard, Cook and Perullo of Turbine Logic with Fregosi and Bolen of EPRI, "Field Experience Detecting PV Underperformance in Real Time Using Existing Instrumentation", hosted on OSTI. It is not an NREL paper; do not call it one. The three figures on the right come from our own model of one faulted array, B-17: 5 of its 7 strings are bypassed, so the array is 41.7 % down while the worst string is 58.4 % down. Those are two different quantities. The rupee figure is 3.07 MWh at the blended Bhadla Phase-III tariff of Rs 2.446 per kWh. Do not quote a soiling-loss percentage or a national rupee figure: we hold no source for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the incumbents: Raptor Maps, Zeitview and Sitemark already do drone thermal imaging with AI classification at utility scale, and Raptor Maps and Sitemark are building georeferenced 3D twins. So the twin and the detection are table stakes and we do not pitch either as our difference. This comparison is from our own prior-art sweep of 4 October 2026, read from their public material; it is not a benchmark. The gap is what happens after detection: a deadline, a crew plan, a re-plan when the weather changes, and a person signing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Seven of the eight steps run without a person; the eighth is a person on purpose. The drone is not the product: it is how the agent gets evidence it cannot infer from telemetry. The picture is the main view of the prototype: a 3D twin of the modelled block, 120 arrays in three zones, with the repair queue on the right. At the moment captured, B-17 is critical and first in the queue, and the plan line reads "Optimal plan. The heuristic matched the optimum." The loop follows the RAISE-winning Robinsun solar agent, which we credit on the last slide. Where they had a physical drone, we put a trained defect model and a physics-grounded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"meaningful application of AI". Each technique is used where it fits and nowhere else. The detector: YOLOv8n fine-tuned on the Roboflow solar panel fault detection dataset, version 2, CC BY 4.0, 921 images split 797 train, 82 validation, 42 test. Cracked AP at 50 is 0.995 on the held-out test split. The four-class mean is 0.9813; the fifth class, Dirty, has no test images so we report it as undefined, not zero. The language model, openai/gpt-oss-120b on Groq, writes the triage and the prognosis in words. It never supplies a number: the server recomputes every fact from the physics and rejects a reply whose figures disagree. The queue order is deliberately not AI: it is a fixed formula, because a ranking that changes between two runs is one nobody can trust. The thermal classifier is in progress. The training notebook and 119 modelled frames exist. There is no trained model and no metric, so no score appears anywhere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pictures are from the running prototype on 7 October 2026. The flight was flown at 60 times site speed. Left: the frame the drone's camera returned over B-17, with the box our detector drew on it in the browser. On this flight it returned Cracked at 0.90. On the photograph the committed figure was measured on, the same weights return 0.91 against a committed 0.9084, and there is a Verify button that reruns it in front of a judge. Middle: the same pass in false colour. It is a rendering of the 3D scene, not a thermal capture; say so. Right: the real evidence. A UAV thermal frame from Raptor Maps' open dataset, 24 by 40 pixels, processed with classical image processing into the panel's 5 by 7 cells. Four hot cells in row 2, columns 3 to 6, about 2.8 degrees above the rest, one connected band. That is the signature of a bypassed substring. The figure is a cell mean under a declared 25 degree span, which is why it is lower than a thermographer's peak-pixel figure. Vocabulary matters: B-17 is diagnosed, because it has a real capture. The other 119 arrays are flagged from modelled signature. The build fails if the word "diagnosed" is used for an array without a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difference, and it is deliberately not the twin and not the detection. Four things the incumbents' reports do not give. One, a deadline that is computed from the defect, the mechanism and the forecast. Two, a plan that is derived, not stored, so it re-derives when conditions change. Three, the arithmetic on screen. Four, a human gate. The picture is the Queue screen. Every job prints its own working. At the moment captured, 10:23 site time, B-17 reads 1.01 MWh a day, times 3.0 for critical, times 7.65 urgency, divided by 1.0 access, equals 23.17. Urgency is 1 plus 24 over the hours left, so the score rises as the deadline closes; it will read differently at a different minute. Beside it is the day plan for two crews. It says honestly that B-17 finishes after its deadline, because the repair takes longer than the time left, and it is planned as early as it can be. If a judge asks how it prioritises, open src/lib/ranking.ts.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demonstration. A judge names a hazard; we drag it onto the field. In this capture a dust storm was dropped over part of Zone B. The line under the queue reads: 8 arrays affected, 6 jobs added, 1 displaced, site output 0.2 MW lower, B-17 still first. The queue went from 3 jobs to 9. The Hazards panel puts a cost on it: over the next 72 hours the dust costs the modelled arrays 5.62 MWh, 13,742 rupees at 2.446 rupees per kWh, with a forecast band of 12,544 to 14,911. Measured in Chrome on our laptop: from releasing the pointer to the re-planned frame being painted takes 31 to 40 milliseconds, against a budget of 150, and the twin holds 60.1 frames a second at both 1366 by 768 and 1920 by 1080. Be straight about three things. The hazard strengths are declared assumptions, printed behind the question mark; none is a measurement of Bhadla. The forecast band is a declared plus or minus 5 to 15 per cent on irradiance, not a fitted error model. And at this moment the heuristic matched the optimum; we do not claim the solver beats it here. A 5.8 per cent difference does exist on one ordinary afternoon, 14:17 site time, with three cracks queued against the end of the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incident file for B-17 after the drone has returned. Left to right: the reading, the evidence chain in six plain steps, and the cost of waiting. B-17 is 41.7 per cent below expected. Over 72 hours that is 3.07 MWh, 7,509 rupees at 2.446 rupees per kWh. The deadline is 14:00: it is the hour at which the cracked cell has spent its 5-hour budget above 65 degrees. Both of those are declared engineering thresholds, and the budget is solved to reproduce the 14:00 figure; say so if asked. The cost-of-waiting table is the thing a detector cannot give you: start now, in 6 hours, tomorrow, or in 3 days, each with the energy and rupees lost. The figures in the picture are as captured and move with site time. The last step of the evidence chain is "What a person decided: waiting for an operator. Nothing is scheduled until a person approves it." The red Approve button is the loudest control on the screen. Clicking it creates work order INC-B17 and the array turns to scheduled. The operator can also override with a reason. That gate is our answer to "would you let this run unsupervised":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is argued from arithmetic a judge can check, not from a market statistic we cannot source. The picture is the Analytics screen: expected against actual for the modelled arrays over the next 72 hours, with a forecast band, and the gap drawn again by cause. As captured: 178 kW short of the model now, which is 0.6 per cent of the arrays' output; 9.66 MWh lost over the 72 hours out of 903 expected; 23,623 rupees, band 21,529 to 25,665. The two lines nearly coincide because the shortfall is small against total output, and the screen says so. The tariff: Bhadla Phase-III was auctioned by SECI in 2017 as two lots, 200 MW to ACME at 2.44 and 300 MW to SBG Cleantech at 2.45 rupees per kWh. Blended by capacity that is 2.446. We never quote 2.44 alone. No deviation settlement charge is computed or claimed: the CERC formula depends on a parameter the regulation does not publish. The 30-day line is an illustration and is labelled as one: B-17 loses 1.01 MWh a day, so 30 days is 30.3 MWh, which is 74,114 rupees at 2.446. It assumes the loss stays constant, which our own prognosis says it would not; the diode is projected to fail and the strings go open. It is there to show why continuous matters against an annual survey. Wider benefit, stated qualitatively: more of the installed clean capacity is delivered; crews are not sent out in the hottest hours, the planner has a 40 degree rule; and no drone is flown where imaging would add nothing, for example a soiled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Before the build: Python scripts hold the PV model and generate the site and its telemetry; a Colab notebook trained the detector and exported it to ONNX; a classical image-processing script turned a real thermal frame into the cell grid. The build gate runs in order: sync artefacts, validate every data file against its Zod schema and 16 invariants, scan the source for hardcoded numbers and forbidden wording, run 463 tests, then compile. The TypeScript physics is golden-tested against the Python line for line. At run time, in the browser, there is one clock, the site time. Everything on screen is a pure function of that clock and the scenario events, which is why you can seek backwards and a dropped hazard un-happens. The detector and the solver both run as WebAssembly on the operator's machine. There is exactly one network call in the product: the triage route, which calls Groq and cross-checks the reply against the physics on the server. There is no database and no second service. A work order is created only by the operator's click. This diagram is drawn from native shapes so it can be edited.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measurement taken on our own laptop, in Chrome, and each is recorded in the repository. The frame rate and the drop-to-re-plan time come from a script that drives a real pointer in a real Chrome window on the real GPU; headless Chrome would measure a software renderer. The solver times are for the site's own days. Two synthetic stress days of 12 to 20 loosely constrained jobs took 60 to 170 ms, which is why the solve is cut off at 50 ms and then reports "best plan found, gap to the solver's bound" and is never called optimal. The detector figure is per class on the held-out test split of 42 images, not a mean and not a validation figure. The layout check fails the build on any text under 14 pixels, anything clipped, or a 3D canvas that does not fill the window, at both 1920 by 1080 and 1366 by 768. If a judge asks to see any of these, each has a command: npm test, npm run measure:hero, npm run check:layout.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 judge has to ask. It is the reason the rest of the deck can be believed. Real: the detector is trained and measured; the thermal band comes from a real UAV frame; the tariffs are the awarded SECI figures; the PV equations are NREL PVWatts. Simulated: there is no live plant behind this. Telemetry for the 120 arrays is generated from the PV model with stated coefficients: temperature coefficient minus 0.0037 per degree, NOCT 45 degrees, inverter efficiency 0.98, soiling derate 0.97. The drone flight is a 3D simulation and the 72-hour forecast is generated. Declared assumptions, each labelled on screen: the hazard strengths; crew hours per repair, for example 3 hours for a module replacement and 1 hour for a wash; the forecast band; the 25 degree thermal span; the 65 degree threshold and 5-hour budget behind the deadline. Three coefficients are solved to reproduce the fault we demonstrate, and the README says which. Not built: the thermal classifier has no model and no metric. Nothing is connected to a real SCADA system or a real drone. No deviation settlement charge is computed. Only B-17 has captured evidence; the product refuses to show evidence on any other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first. Each array is evaluated by the same pure function, so going from 120 arrays to a whole plant is more rows, not a new design. All of the reasoning runs on the operator's machine, so a new site does not need a new server. The simulator is the one part that would be replaced, by a feed from the plant's own SCADA. We have not tested above 120 arrays and we do not claim a figure. Research: finish the thermal classifier on InfraredSolarModules and report its held-out macro-F1 per class; replace the declared forecast band with an error model fitted to real forecast misses; move from 8-bit normalised thermal images to radiometric ones; and validate the deadline model against real field failures. Patent: nothing has been filed. If we pursue one, the candidate to examine first is the method that turns a defect, its mechanism and a forecast into a repair deadline and a crew plan that re-derives live. That needs a proper novelty search before any claim. Startup: the natural customers are O&amp;M contractors and asset owners of utility-scale plants. One practical point we already know: the detector is trained with Ultralytics YOLOv8, which is AGPL-3.0 and makes this repository AGPL-3.0. A commercial version would retrain on a permissively licensed detector; the README notes that switching to RF-DETR, Apache-2.0, touches one script. OWNER TO CONFIRM: the patent and startup lines state only what the repository supports. Replace them with the team's actual intentions if there are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code-of-conduct declaration: every third-party library, model, dataset and external API. No personal data and no proprietary data is used. The two datasets are public and openly licensed. Versions are read from the installed packages. Credit two things out loud. The loop follows the RAISE-winning Robinsun solar agent: we rebuilt the loop, and where they had a physical drone we put a trained defect model and a physics-grounded simulation. And the thermal data is Raptor Maps' own open dataset. The repository is github.com/RAK2315/solar-proj, licensed AGPL-3.0 because the Ultralytics weights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90D1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rtlCol="0"/>
          <a:lstStyle>
            <a:lvl1pPr indent="0" marL="0">
              <a:buNone/>
              <a:defRPr lang="en-US" sz="1300" b="1" dirty="0">
                <a:solidFill>
                  <a:schemeClr val="accent1"/>
                </a:solidFill>
              </a:defRPr>
            </a:lvl1pPr>
          </a:lstStyle>
          <a:p>
            <a:pPr indent="0" marL="0">
              <a:buNone/>
            </a:pPr>
            <a:r>
              <a:rPr lang="en-US" sz="1300" b="1" dirty="0">
                <a:solidFill>
                  <a:schemeClr val="accent1"/>
                </a:solidFill>
              </a:rPr>
              <a:t>Section</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Title</a:t>
            </a:r>
            <a:endParaRPr lang="en-US" sz="2800" dirty="0"/>
          </a:p>
        </p:txBody>
      </p:sp>
      <p:sp>
        <p:nvSpPr>
          <p:cNvPr id="4" name="Text 0"/>
          <p:cNvSpPr/>
          <p:nvPr/>
        </p:nvSpPr>
        <p:spPr>
          <a:xfrm>
            <a:off x="548640" y="6455664"/>
            <a:ext cx="8229600" cy="237744"/>
          </a:xfrm>
          <a:prstGeom prst="rect">
            <a:avLst/>
          </a:prstGeom>
          <a:noFill/>
          <a:ln/>
        </p:spPr>
        <p:txBody>
          <a:bodyPr wrap="square" lIns="0" tIns="0" rIns="0" bIns="0" rtlCol="0" anchor="ctr"/>
          <a:lstStyle/>
          <a:p>
            <a:pPr indent="0" marL="0">
              <a:buNone/>
            </a:pPr>
            <a:r>
              <a:rPr lang="en-US" sz="1000" dirty="0">
                <a:solidFill>
                  <a:schemeClr val="tx2"/>
                </a:solidFill>
              </a:rPr>
              <a:t>SURYA AGENT  |  Team SIGMOID  |  JSS AI FORGE 36, AI for Industry 4.0</a:t>
            </a:r>
            <a:endParaRPr lang="en-US" sz="10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90D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Picture 01-landing-field.png" descr="right half of the cover: the 3D field from the landing page, cropped to leave out the page's own text">    </p:cNvPr>
          <p:cNvPicPr>
            <a:picLocks noChangeAspect="1"/>
          </p:cNvPicPr>
          <p:nvPr/>
        </p:nvPicPr>
        <p:blipFill>
          <a:blip r:embed="rId1"/>
          <a:stretch>
            <a:fillRect/>
          </a:stretch>
        </p:blipFill>
        <p:spPr>
          <a:xfrm>
            <a:off x="5440680" y="1234440"/>
            <a:ext cx="6217920" cy="3936525"/>
          </a:xfrm>
          <a:prstGeom prst="rect">
            <a:avLst/>
          </a:prstGeom>
        </p:spPr>
      </p:pic>
      <p:sp>
        <p:nvSpPr>
          <p:cNvPr id="4" name="Text 2"/>
          <p:cNvSpPr txBox="1"/>
          <p:nvPr/>
        </p:nvSpPr>
        <p:spPr>
          <a:xfrm>
            <a:off x="548640" y="1097280"/>
            <a:ext cx="4663440" cy="320040"/>
          </a:xfrm>
          <a:prstGeom prst="rect">
            <a:avLst/>
          </a:prstGeom>
          <a:noFill/>
          <a:ln/>
        </p:spPr>
        <p:txBody>
          <a:bodyPr wrap="square" lIns="0" tIns="0" rIns="0" bIns="0" rtlCol="0" anchor="t"/>
          <a:lstStyle/>
          <a:p>
            <a:pPr indent="0" marL="0">
              <a:buNone/>
            </a:pPr>
            <a:r>
              <a:rPr lang="en-US" sz="1300" b="1" dirty="0">
                <a:solidFill>
                  <a:schemeClr val="accent1"/>
                </a:solidFill>
              </a:rPr>
              <a:t>JSS AI FORGE 36  |  Round 1  |  AI for Industry 4.0</a:t>
            </a:r>
            <a:endParaRPr lang="en-US" sz="1300" dirty="0"/>
          </a:p>
        </p:txBody>
      </p:sp>
      <p:sp>
        <p:nvSpPr>
          <p:cNvPr id="5" name="Text 3"/>
          <p:cNvSpPr txBox="1"/>
          <p:nvPr/>
        </p:nvSpPr>
        <p:spPr>
          <a:xfrm>
            <a:off x="548640" y="1554480"/>
            <a:ext cx="4663440" cy="777240"/>
          </a:xfrm>
          <a:prstGeom prst="rect">
            <a:avLst/>
          </a:prstGeom>
          <a:noFill/>
          <a:ln/>
        </p:spPr>
        <p:txBody>
          <a:bodyPr wrap="square" lIns="0" tIns="0" rIns="0" bIns="0" rtlCol="0" anchor="t"/>
          <a:lstStyle/>
          <a:p>
            <a:pPr indent="0" marL="0">
              <a:buNone/>
            </a:pPr>
            <a:r>
              <a:rPr lang="en-US" sz="4800" b="1" dirty="0">
                <a:solidFill>
                  <a:schemeClr val="tx1"/>
                </a:solidFill>
              </a:rPr>
              <a:t>SURYA AGENT</a:t>
            </a:r>
            <a:endParaRPr lang="en-US" sz="4800" dirty="0"/>
          </a:p>
        </p:txBody>
      </p:sp>
      <p:sp>
        <p:nvSpPr>
          <p:cNvPr id="6" name="Text 4"/>
          <p:cNvSpPr txBox="1"/>
          <p:nvPr/>
        </p:nvSpPr>
        <p:spPr>
          <a:xfrm>
            <a:off x="548640" y="2377440"/>
            <a:ext cx="4663440" cy="502920"/>
          </a:xfrm>
          <a:prstGeom prst="rect">
            <a:avLst/>
          </a:prstGeom>
          <a:noFill/>
          <a:ln/>
        </p:spPr>
        <p:txBody>
          <a:bodyPr wrap="square" lIns="0" tIns="0" rIns="0" bIns="0" rtlCol="0" anchor="t"/>
          <a:lstStyle/>
          <a:p>
            <a:pPr indent="0" marL="0">
              <a:buNone/>
            </a:pPr>
            <a:r>
              <a:rPr lang="en-US" sz="2600" dirty="0">
                <a:solidFill>
                  <a:schemeClr val="accent4"/>
                </a:solidFill>
              </a:rPr>
              <a:t>The plan, not the picture.</a:t>
            </a:r>
            <a:endParaRPr lang="en-US" sz="2600" dirty="0"/>
          </a:p>
        </p:txBody>
      </p:sp>
      <p:sp>
        <p:nvSpPr>
          <p:cNvPr id="7" name="Text 5"/>
          <p:cNvSpPr txBox="1"/>
          <p:nvPr/>
        </p:nvSpPr>
        <p:spPr>
          <a:xfrm>
            <a:off x="548640" y="3108960"/>
            <a:ext cx="4572000" cy="1600200"/>
          </a:xfrm>
          <a:prstGeom prst="rect">
            <a:avLst/>
          </a:prstGeom>
          <a:noFill/>
          <a:ln/>
        </p:spPr>
        <p:txBody>
          <a:bodyPr wrap="square" lIns="0" tIns="0" rIns="0" bIns="0" rtlCol="0" anchor="t"/>
          <a:lstStyle/>
          <a:p>
            <a:pPr indent="0" marL="0">
              <a:buNone/>
            </a:pPr>
            <a:r>
              <a:rPr lang="en-US" sz="1600" dirty="0">
                <a:solidFill>
                  <a:schemeClr val="tx2"/>
                </a:solidFill>
              </a:rPr>
              <a:t>An AI agent that watches a 500 MW block of Bhadla Solar Park, sends a drone to verify what telemetry cannot, and hands the operator a ranked repair plan with a computed deadline. A person approves it before anything is scheduled.</a:t>
            </a:r>
            <a:endParaRPr lang="en-US" sz="1600" dirty="0"/>
          </a:p>
        </p:txBody>
      </p:sp>
      <p:sp>
        <p:nvSpPr>
          <p:cNvPr id="8" name="Text 6"/>
          <p:cNvSpPr txBox="1"/>
          <p:nvPr/>
        </p:nvSpPr>
        <p:spPr>
          <a:xfrm>
            <a:off x="548640" y="4983480"/>
            <a:ext cx="4663440" cy="9144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Team SIGMOID</a:t>
            </a:r>
            <a:endParaRPr lang="en-US" sz="1400" dirty="0"/>
          </a:p>
          <a:p>
            <a:pPr indent="0" marL="0">
              <a:buNone/>
            </a:pPr>
            <a:r>
              <a:rPr lang="en-US" sz="1400" dirty="0">
                <a:solidFill>
                  <a:schemeClr val="tx2"/>
                </a:solidFill>
              </a:rPr>
              <a:t>Rehaan Ahmad Khan  |  Shantanu Singh</a:t>
            </a:r>
            <a:endParaRPr lang="en-US" sz="1400" dirty="0"/>
          </a:p>
          <a:p>
            <a:pPr indent="0" marL="0">
              <a:buNone/>
            </a:pPr>
            <a:r>
              <a:rPr lang="en-US" sz="1400" dirty="0">
                <a:solidFill>
                  <a:schemeClr val="tx2"/>
                </a:solidFill>
              </a:rPr>
              <a:t>Lakshita Rawat  |  Krishna Agarwal</a:t>
            </a:r>
            <a:endParaRPr lang="en-US" sz="1400" dirty="0"/>
          </a:p>
        </p:txBody>
      </p:sp>
      <p:sp>
        <p:nvSpPr>
          <p:cNvPr id="9" name="Text 7"/>
          <p:cNvSpPr txBox="1"/>
          <p:nvPr/>
        </p:nvSpPr>
        <p:spPr>
          <a:xfrm>
            <a:off x="5440680" y="5257800"/>
            <a:ext cx="6217920" cy="274320"/>
          </a:xfrm>
          <a:prstGeom prst="rect">
            <a:avLst/>
          </a:prstGeom>
          <a:noFill/>
          <a:ln/>
        </p:spPr>
        <p:txBody>
          <a:bodyPr wrap="square" lIns="0" tIns="0" rIns="0" bIns="0" rtlCol="0" anchor="t"/>
          <a:lstStyle/>
          <a:p>
            <a:pPr algn="r" indent="0" marL="0">
              <a:buNone/>
            </a:pPr>
            <a:r>
              <a:rPr lang="en-US" sz="1100" dirty="0">
                <a:solidFill>
                  <a:schemeClr val="tx2"/>
                </a:solidFill>
              </a:rPr>
              <a:t>Picture: the running prototype, not a mock-up.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1  Problem statement and target beneficiaries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The plant knows its output fell, not why or how long it can wait</a:t>
            </a:r>
            <a:endParaRPr lang="en-US" sz="2800" dirty="0"/>
          </a:p>
        </p:txBody>
      </p:sp>
      <p:sp>
        <p:nvSpPr>
          <p:cNvPr id="5" name="Card 8"/>
          <p:cNvSpPr/>
          <p:nvPr/>
        </p:nvSpPr>
        <p:spPr>
          <a:xfrm>
            <a:off x="548640" y="1600200"/>
            <a:ext cx="3566160" cy="1508760"/>
          </a:xfrm>
          <a:prstGeom prst="roundRect">
            <a:avLst>
              <a:gd name="adj" fmla="val 4848"/>
            </a:avLst>
          </a:prstGeom>
          <a:solidFill>
            <a:schemeClr val="bg2"/>
          </a:solidFill>
          <a:ln>
            <a:solidFill>
              <a:srgbClr val="141A25"/>
            </a:solidFill>
          </a:ln>
        </p:spPr>
        <p:txBody>
          <a:bodyPr wrap="square" lIns="127000" tIns="152400" rIns="152400" bIns="127000" rtlCol="0" anchor="ctr"/>
          <a:lstStyle/>
          <a:p>
            <a:pPr indent="0" marL="0">
              <a:spcAft>
                <a:spcPts val="400"/>
              </a:spcAft>
              <a:buNone/>
            </a:pPr>
            <a:r>
              <a:rPr lang="en-US" sz="3400" b="1" dirty="0">
                <a:solidFill>
                  <a:schemeClr val="accent4"/>
                </a:solidFill>
              </a:rPr>
              <a:t>Annual</a:t>
            </a:r>
            <a:endParaRPr lang="en-US" sz="1400" dirty="0"/>
          </a:p>
          <a:p>
            <a:pPr indent="0" marL="0">
              <a:buNone/>
            </a:pPr>
            <a:r>
              <a:rPr lang="en-US" sz="1400" dirty="0">
                <a:solidFill>
                  <a:schemeClr val="tx2"/>
                </a:solidFill>
              </a:rPr>
              <a:t>the usual cadence of aerial infrared inspection at utility-scale PV</a:t>
            </a:r>
            <a:endParaRPr lang="en-US" sz="1400" dirty="0"/>
          </a:p>
        </p:txBody>
      </p:sp>
      <p:sp>
        <p:nvSpPr>
          <p:cNvPr id="6" name="Card 9"/>
          <p:cNvSpPr/>
          <p:nvPr/>
        </p:nvSpPr>
        <p:spPr>
          <a:xfrm>
            <a:off x="4297680" y="1600200"/>
            <a:ext cx="3566160" cy="1508760"/>
          </a:xfrm>
          <a:prstGeom prst="roundRect">
            <a:avLst>
              <a:gd name="adj" fmla="val 4848"/>
            </a:avLst>
          </a:prstGeom>
          <a:solidFill>
            <a:schemeClr val="bg2"/>
          </a:solidFill>
          <a:ln>
            <a:solidFill>
              <a:srgbClr val="141A25"/>
            </a:solidFill>
          </a:ln>
        </p:spPr>
        <p:txBody>
          <a:bodyPr wrap="square" lIns="127000" tIns="152400" rIns="152400" bIns="127000" rtlCol="0" anchor="ctr"/>
          <a:lstStyle/>
          <a:p>
            <a:pPr indent="0" marL="0">
              <a:spcAft>
                <a:spcPts val="400"/>
              </a:spcAft>
              <a:buNone/>
            </a:pPr>
            <a:r>
              <a:rPr lang="en-US" sz="3400" b="1" dirty="0">
                <a:solidFill>
                  <a:schemeClr val="accent1"/>
                </a:solidFill>
              </a:rPr>
              <a:t>Weeks to months</a:t>
            </a:r>
            <a:endParaRPr lang="en-US" sz="1400" dirty="0"/>
          </a:p>
          <a:p>
            <a:pPr indent="0" marL="0">
              <a:buNone/>
            </a:pPr>
            <a:r>
              <a:rPr lang="en-US" sz="1400" dirty="0">
                <a:solidFill>
                  <a:schemeClr val="tx2"/>
                </a:solidFill>
              </a:rPr>
              <a:t>how long faults below the inverter go undetected between those flights</a:t>
            </a:r>
            <a:endParaRPr lang="en-US" sz="1400" dirty="0"/>
          </a:p>
        </p:txBody>
      </p:sp>
      <p:sp>
        <p:nvSpPr>
          <p:cNvPr id="7" name="Card 10"/>
          <p:cNvSpPr/>
          <p:nvPr/>
        </p:nvSpPr>
        <p:spPr>
          <a:xfrm>
            <a:off x="8046720" y="1600200"/>
            <a:ext cx="3566160" cy="1508760"/>
          </a:xfrm>
          <a:prstGeom prst="roundRect">
            <a:avLst>
              <a:gd name="adj" fmla="val 4848"/>
            </a:avLst>
          </a:prstGeom>
          <a:solidFill>
            <a:schemeClr val="bg2"/>
          </a:solidFill>
          <a:ln>
            <a:solidFill>
              <a:srgbClr val="141A25"/>
            </a:solidFill>
          </a:ln>
        </p:spPr>
        <p:txBody>
          <a:bodyPr wrap="square" lIns="127000" tIns="152400" rIns="152400" bIns="127000" rtlCol="0" anchor="ctr"/>
          <a:lstStyle/>
          <a:p>
            <a:pPr indent="0" marL="0">
              <a:spcAft>
                <a:spcPts val="400"/>
              </a:spcAft>
              <a:buNone/>
            </a:pPr>
            <a:r>
              <a:rPr lang="en-US" sz="3400" b="1" dirty="0">
                <a:solidFill>
                  <a:schemeClr val="accent2"/>
                </a:solidFill>
              </a:rPr>
              <a:t>−41.7 %</a:t>
            </a:r>
            <a:endParaRPr lang="en-US" sz="1400" dirty="0"/>
          </a:p>
          <a:p>
            <a:pPr indent="0" marL="0">
              <a:buNone/>
            </a:pPr>
            <a:r>
              <a:rPr lang="en-US" sz="1400" dirty="0">
                <a:solidFill>
                  <a:schemeClr val="tx2"/>
                </a:solidFill>
              </a:rPr>
              <a:t>one cracked array in our model: 3.07 MWh and ₹7,509 lost over 72 h if nobody acts</a:t>
            </a:r>
            <a:endParaRPr lang="en-US" sz="1400" dirty="0"/>
          </a:p>
        </p:txBody>
      </p:sp>
      <p:sp>
        <p:nvSpPr>
          <p:cNvPr id="8" name="Text 11"/>
          <p:cNvSpPr txBox="1"/>
          <p:nvPr/>
        </p:nvSpPr>
        <p:spPr>
          <a:xfrm>
            <a:off x="548640" y="3200400"/>
            <a:ext cx="11094415" cy="411480"/>
          </a:xfrm>
          <a:prstGeom prst="rect">
            <a:avLst/>
          </a:prstGeom>
          <a:noFill/>
          <a:ln/>
        </p:spPr>
        <p:txBody>
          <a:bodyPr wrap="square" lIns="0" tIns="0" rIns="0" bIns="0" rtlCol="0" anchor="t"/>
          <a:lstStyle/>
          <a:p>
            <a:pPr indent="0" marL="0">
              <a:buNone/>
            </a:pPr>
            <a:r>
              <a:rPr lang="en-US" sz="1100" dirty="0">
                <a:solidFill>
                  <a:schemeClr val="tx2"/>
                </a:solidFill>
              </a:rPr>
              <a:t>Source for the first two: Turbine Logic and EPRI, "Field Experience Detecting PV Underperformance in Real Time Using Existing Instrumentation", osti.gov/servlets/purl/1960134. Third: our PV model, tariff ₹2.446/kWh.</a:t>
            </a:r>
            <a:endParaRPr lang="en-US" sz="1100" dirty="0"/>
          </a:p>
        </p:txBody>
      </p:sp>
      <p:sp>
        <p:nvSpPr>
          <p:cNvPr id="9" name="Card 12"/>
          <p:cNvSpPr/>
          <p:nvPr/>
        </p:nvSpPr>
        <p:spPr>
          <a:xfrm>
            <a:off x="548640" y="3794760"/>
            <a:ext cx="5486400" cy="2057400"/>
          </a:xfrm>
          <a:prstGeom prst="roundRect">
            <a:avLst>
              <a:gd name="adj" fmla="val 3556"/>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What plant monitoring sees, and what it cannot</a:t>
            </a:r>
            <a:endParaRPr lang="en-US" sz="1400" dirty="0"/>
          </a:p>
          <a:p>
            <a:pPr indent="0" marL="0">
              <a:buNone/>
            </a:pPr>
            <a:r>
              <a:rPr lang="en-US" sz="1400" dirty="0">
                <a:solidFill>
                  <a:schemeClr val="tx1"/>
                </a:solidFill>
              </a:rPr>
              <a:t>SCADA reports that an inverter or string is short. It does not say which module, whether it is dirt or damage, or how urgent it is. In our model the two look the same from telemetry: only imaging separates them. So someone drives out to look, or the fault waits for the next survey.</a:t>
            </a:r>
            <a:endParaRPr lang="en-US" sz="1400" dirty="0"/>
          </a:p>
        </p:txBody>
      </p:sp>
      <p:sp>
        <p:nvSpPr>
          <p:cNvPr id="10" name="Card 13"/>
          <p:cNvSpPr/>
          <p:nvPr/>
        </p:nvSpPr>
        <p:spPr>
          <a:xfrm>
            <a:off x="6217920" y="3794760"/>
            <a:ext cx="5425135" cy="2057400"/>
          </a:xfrm>
          <a:prstGeom prst="roundRect">
            <a:avLst>
              <a:gd name="adj" fmla="val 3556"/>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Who this is for</a:t>
            </a:r>
            <a:endParaRPr lang="en-US" sz="1400" dirty="0"/>
          </a:p>
          <a:p>
            <a:pPr marL="342900" indent="-342900">
              <a:spcAft>
                <a:spcPts val="600"/>
              </a:spcAft>
              <a:buSzPct val="100000"/>
              <a:buChar char="•"/>
            </a:pPr>
            <a:r>
              <a:rPr lang="en-US" sz="1400" dirty="0">
                <a:solidFill>
                  <a:schemeClr val="tx1"/>
                </a:solidFill>
              </a:rPr>
              <a:t>Plant operators and O&amp;M crews: which array, what repair, in what order, by when</a:t>
            </a:r>
            <a:endParaRPr lang="en-US" sz="1400" dirty="0"/>
          </a:p>
          <a:p>
            <a:pPr marL="342900" indent="-342900">
              <a:spcAft>
                <a:spcPts val="600"/>
              </a:spcAft>
              <a:buSzPct val="100000"/>
              <a:buChar char="•"/>
            </a:pPr>
            <a:r>
              <a:rPr lang="en-US" sz="1400" dirty="0">
                <a:solidFill>
                  <a:schemeClr val="tx1"/>
                </a:solidFill>
              </a:rPr>
              <a:t>Asset owners: lost energy stated in MWh and in rupees at the plant’s own tariff</a:t>
            </a:r>
            <a:endParaRPr lang="en-US" sz="1400" dirty="0"/>
          </a:p>
          <a:p>
            <a:pPr marL="342900" indent="-342900">
              <a:spcAft>
                <a:spcPts val="600"/>
              </a:spcAft>
              <a:buSzPct val="100000"/>
              <a:buChar char="•"/>
            </a:pPr>
            <a:r>
              <a:rPr lang="en-US" sz="1400" dirty="0">
                <a:solidFill>
                  <a:schemeClr val="tx1"/>
                </a:solidFill>
              </a:rPr>
              <a:t>The grid off-taker: more of the contracted energy actually delivered</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2  Existing gaps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Today’s tools detect and report. None of them hands over a plan</a:t>
            </a:r>
            <a:endParaRPr lang="en-US" sz="2800" dirty="0"/>
          </a:p>
        </p:txBody>
      </p:sp>
      <p:graphicFrame>
        <p:nvGraphicFramePr>
          <p:cNvPr id="4" name="Table 14"/>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8960"/>
                <a:gridCol w="3840480"/>
                <a:gridCol w="4144975"/>
              </a:tblGrid>
              <a:tr h="0">
                <a:tc>
                  <a:txBody>
                    <a:bodyPr/>
                    <a:lstStyle/>
                    <a:p>
                      <a:pPr indent="0" marL="0">
                        <a:buNone/>
                      </a:pPr>
                      <a:r>
                        <a:rPr lang="en-US" sz="1400" b="1" dirty="0">
                          <a:solidFill>
                            <a:schemeClr val="tx2"/>
                          </a:solidFill>
                        </a:rPr>
                        <a:t>Approach</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What it gives the operator</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What is still missing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r>
              <a:tr h="0">
                <a:tc>
                  <a:txBody>
                    <a:bodyPr/>
                    <a:lstStyle/>
                    <a:p>
                      <a:pPr indent="0" marL="0">
                        <a:buNone/>
                      </a:pPr>
                      <a:r>
                        <a:rPr lang="en-US" sz="1400" dirty="0">
                          <a:solidFill>
                            <a:schemeClr val="tx1"/>
                          </a:solidFill>
                        </a:rPr>
                        <a:t>Plant SCADA and inverter monitoring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Output fell, at an inverter or a string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Which module, why, and how urgent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Periodic aerial infrared survey</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A thermal map of the whole field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Typically flown once a year, so faults sit for weeks to months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Drone and AI inspection platforms (Raptor Maps, Zeitview, Sitemark)</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Thermal imaging, AI defect classification, 3D twins under way</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A report of defects. No deadline, no crew plan, no re-plan when conditions change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b="1" dirty="0">
                          <a:solidFill>
                            <a:schemeClr val="accent4"/>
                          </a:solidFill>
                        </a:rPr>
                        <a:t>SURYA AGENT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b="1" dirty="0">
                          <a:solidFill>
                            <a:schemeClr val="tx1"/>
                          </a:solidFill>
                        </a:rPr>
                        <a:t>A ranked work order with a computed deadline, re-derived live, with its arithmetic on screen</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Built as a prototype on simulated telemetry. Not yet connected to a real plant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bl>
          </a:graphicData>
        </a:graphic>
      </p:graphicFrame>
      <p:sp>
        <p:nvSpPr>
          <p:cNvPr id="6" name="Card 15"/>
          <p:cNvSpPr/>
          <p:nvPr/>
        </p:nvSpPr>
        <p:spPr>
          <a:xfrm>
            <a:off x="548640" y="4434840"/>
            <a:ext cx="11094415" cy="868680"/>
          </a:xfrm>
          <a:prstGeom prst="roundRect">
            <a:avLst>
              <a:gd name="adj" fmla="val 8421"/>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We do not claim the twin or the detection as new. </a:t>
            </a:r>
            <a:pPr indent="0" marL="0">
              <a:buNone/>
            </a:pPr>
            <a:r>
              <a:rPr lang="en-US" sz="1400" dirty="0">
                <a:solidFill>
                  <a:schemeClr val="tx1"/>
                </a:solidFill>
              </a:rPr>
              <a:t>Our thermal evidence even comes from Raptor Maps’ own open dataset, InfraredSolarModules, and we say so on screen. What we add is the step after the picture.</a:t>
            </a:r>
            <a:endParaRPr lang="en-US" sz="1400" dirty="0"/>
          </a:p>
        </p:txBody>
      </p:sp>
      <p:sp>
        <p:nvSpPr>
          <p:cNvPr id="7" name="Text 16"/>
          <p:cNvSpPr txBox="1"/>
          <p:nvPr/>
        </p:nvSpPr>
        <p:spPr>
          <a:xfrm>
            <a:off x="548640" y="5440680"/>
            <a:ext cx="11094415" cy="256032"/>
          </a:xfrm>
          <a:prstGeom prst="rect">
            <a:avLst/>
          </a:prstGeom>
          <a:noFill/>
          <a:ln/>
        </p:spPr>
        <p:txBody>
          <a:bodyPr wrap="square" lIns="0" tIns="0" rIns="0" bIns="0" rtlCol="0" anchor="t"/>
          <a:lstStyle/>
          <a:p>
            <a:pPr indent="0" marL="0">
              <a:buNone/>
            </a:pPr>
            <a:r>
              <a:rPr lang="en-US" sz="1100" dirty="0">
                <a:solidFill>
                  <a:schemeClr val="tx2"/>
                </a:solidFill>
              </a:rPr>
              <a:t>Comparison from our prior-art sweep of 4 Oct 2026, from each company’s public material. Survey cadence: Turbine Logic and EPRI, on OSTI.</a:t>
            </a:r>
            <a:endParaRPr lang="en-US" sz="11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3  Proposed AI solution</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One closed loop, from a telemetry anomaly to a work order</a:t>
            </a:r>
            <a:endParaRPr lang="en-US" sz="2800" dirty="0"/>
          </a:p>
        </p:txBody>
      </p:sp>
      <p:sp>
        <p:nvSpPr>
          <p:cNvPr id="5" name="Card 17"/>
          <p:cNvSpPr/>
          <p:nvPr/>
        </p:nvSpPr>
        <p:spPr>
          <a:xfrm>
            <a:off x="548640"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1</a:t>
            </a:r>
            <a:endParaRPr lang="en-US" sz="1400" dirty="0"/>
          </a:p>
          <a:p>
            <a:pPr indent="0" marL="0">
              <a:buNone/>
            </a:pPr>
            <a:r>
              <a:rPr lang="en-US" sz="1400" b="1" dirty="0">
                <a:solidFill>
                  <a:schemeClr val="tx1"/>
                </a:solidFill>
              </a:rPr>
              <a:t>Telemetry anomaly</a:t>
            </a:r>
            <a:endParaRPr lang="en-US" sz="1400" dirty="0"/>
          </a:p>
        </p:txBody>
      </p:sp>
      <p:sp>
        <p:nvSpPr>
          <p:cNvPr id="6" name="Arrow 18"/>
          <p:cNvSpPr/>
          <p:nvPr/>
        </p:nvSpPr>
        <p:spPr>
          <a:xfrm>
            <a:off x="1810512" y="1938528"/>
            <a:ext cx="127102" cy="182880"/>
          </a:xfrm>
          <a:prstGeom prst="rightArrow">
            <a:avLst/>
          </a:prstGeom>
          <a:solidFill>
            <a:schemeClr val="accent1"/>
          </a:solidFill>
          <a:ln w="12700">
            <a:solidFill>
              <a:srgbClr val="F08B2A"/>
            </a:solidFill>
            <a:prstDash val="solid"/>
          </a:ln>
        </p:spPr>
      </p:sp>
      <p:sp>
        <p:nvSpPr>
          <p:cNvPr id="7" name="Card 19"/>
          <p:cNvSpPr/>
          <p:nvPr/>
        </p:nvSpPr>
        <p:spPr>
          <a:xfrm>
            <a:off x="1955902"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2</a:t>
            </a:r>
            <a:endParaRPr lang="en-US" sz="1400" dirty="0"/>
          </a:p>
          <a:p>
            <a:pPr indent="0" marL="0">
              <a:buNone/>
            </a:pPr>
            <a:r>
              <a:rPr lang="en-US" sz="1400" b="1" dirty="0">
                <a:solidFill>
                  <a:schemeClr val="tx1"/>
                </a:solidFill>
              </a:rPr>
              <a:t>Agent triage</a:t>
            </a:r>
            <a:endParaRPr lang="en-US" sz="1400" dirty="0"/>
          </a:p>
        </p:txBody>
      </p:sp>
      <p:sp>
        <p:nvSpPr>
          <p:cNvPr id="8" name="Arrow 20"/>
          <p:cNvSpPr/>
          <p:nvPr/>
        </p:nvSpPr>
        <p:spPr>
          <a:xfrm>
            <a:off x="3217774" y="1938528"/>
            <a:ext cx="127102" cy="182880"/>
          </a:xfrm>
          <a:prstGeom prst="rightArrow">
            <a:avLst/>
          </a:prstGeom>
          <a:solidFill>
            <a:schemeClr val="accent1"/>
          </a:solidFill>
          <a:ln w="12700">
            <a:solidFill>
              <a:srgbClr val="F08B2A"/>
            </a:solidFill>
            <a:prstDash val="solid"/>
          </a:ln>
        </p:spPr>
      </p:sp>
      <p:sp>
        <p:nvSpPr>
          <p:cNvPr id="9" name="Card 21"/>
          <p:cNvSpPr/>
          <p:nvPr/>
        </p:nvSpPr>
        <p:spPr>
          <a:xfrm>
            <a:off x="3363163"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3</a:t>
            </a:r>
            <a:endParaRPr lang="en-US" sz="1400" dirty="0"/>
          </a:p>
          <a:p>
            <a:pPr indent="0" marL="0">
              <a:buNone/>
            </a:pPr>
            <a:r>
              <a:rPr lang="en-US" sz="1400" b="1" dirty="0">
                <a:solidFill>
                  <a:schemeClr val="tx1"/>
                </a:solidFill>
              </a:rPr>
              <a:t>Drone dispatch</a:t>
            </a:r>
            <a:endParaRPr lang="en-US" sz="1400" dirty="0"/>
          </a:p>
        </p:txBody>
      </p:sp>
      <p:sp>
        <p:nvSpPr>
          <p:cNvPr id="10" name="Arrow 22"/>
          <p:cNvSpPr/>
          <p:nvPr/>
        </p:nvSpPr>
        <p:spPr>
          <a:xfrm>
            <a:off x="4625035" y="1938528"/>
            <a:ext cx="127102" cy="182880"/>
          </a:xfrm>
          <a:prstGeom prst="rightArrow">
            <a:avLst/>
          </a:prstGeom>
          <a:solidFill>
            <a:schemeClr val="accent1"/>
          </a:solidFill>
          <a:ln w="12700">
            <a:solidFill>
              <a:srgbClr val="F08B2A"/>
            </a:solidFill>
            <a:prstDash val="solid"/>
          </a:ln>
        </p:spPr>
      </p:sp>
      <p:sp>
        <p:nvSpPr>
          <p:cNvPr id="11" name="Card 23"/>
          <p:cNvSpPr/>
          <p:nvPr/>
        </p:nvSpPr>
        <p:spPr>
          <a:xfrm>
            <a:off x="4770425"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4</a:t>
            </a:r>
            <a:endParaRPr lang="en-US" sz="1400" dirty="0"/>
          </a:p>
          <a:p>
            <a:pPr indent="0" marL="0">
              <a:buNone/>
            </a:pPr>
            <a:r>
              <a:rPr lang="en-US" sz="1400" b="1" dirty="0">
                <a:solidFill>
                  <a:schemeClr val="tx1"/>
                </a:solidFill>
              </a:rPr>
              <a:t>Evidence capture</a:t>
            </a:r>
            <a:endParaRPr lang="en-US" sz="1400" dirty="0"/>
          </a:p>
        </p:txBody>
      </p:sp>
      <p:sp>
        <p:nvSpPr>
          <p:cNvPr id="12" name="Arrow 24"/>
          <p:cNvSpPr/>
          <p:nvPr/>
        </p:nvSpPr>
        <p:spPr>
          <a:xfrm>
            <a:off x="6032297" y="1938528"/>
            <a:ext cx="127102" cy="182880"/>
          </a:xfrm>
          <a:prstGeom prst="rightArrow">
            <a:avLst/>
          </a:prstGeom>
          <a:solidFill>
            <a:schemeClr val="accent1"/>
          </a:solidFill>
          <a:ln w="12700">
            <a:solidFill>
              <a:srgbClr val="F08B2A"/>
            </a:solidFill>
            <a:prstDash val="solid"/>
          </a:ln>
        </p:spPr>
      </p:sp>
      <p:sp>
        <p:nvSpPr>
          <p:cNvPr id="13" name="Card 25"/>
          <p:cNvSpPr/>
          <p:nvPr/>
        </p:nvSpPr>
        <p:spPr>
          <a:xfrm>
            <a:off x="6177686"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5</a:t>
            </a:r>
            <a:endParaRPr lang="en-US" sz="1400" dirty="0"/>
          </a:p>
          <a:p>
            <a:pPr indent="0" marL="0">
              <a:buNone/>
            </a:pPr>
            <a:r>
              <a:rPr lang="en-US" sz="1400" b="1" dirty="0">
                <a:solidFill>
                  <a:schemeClr val="tx1"/>
                </a:solidFill>
              </a:rPr>
              <a:t>Vision analysis</a:t>
            </a:r>
            <a:endParaRPr lang="en-US" sz="1400" dirty="0"/>
          </a:p>
        </p:txBody>
      </p:sp>
      <p:sp>
        <p:nvSpPr>
          <p:cNvPr id="14" name="Arrow 26"/>
          <p:cNvSpPr/>
          <p:nvPr/>
        </p:nvSpPr>
        <p:spPr>
          <a:xfrm>
            <a:off x="7439558" y="1938528"/>
            <a:ext cx="127102" cy="182880"/>
          </a:xfrm>
          <a:prstGeom prst="rightArrow">
            <a:avLst/>
          </a:prstGeom>
          <a:solidFill>
            <a:schemeClr val="accent1"/>
          </a:solidFill>
          <a:ln w="12700">
            <a:solidFill>
              <a:srgbClr val="F08B2A"/>
            </a:solidFill>
            <a:prstDash val="solid"/>
          </a:ln>
        </p:spPr>
      </p:sp>
      <p:sp>
        <p:nvSpPr>
          <p:cNvPr id="15" name="Card 27"/>
          <p:cNvSpPr/>
          <p:nvPr/>
        </p:nvSpPr>
        <p:spPr>
          <a:xfrm>
            <a:off x="7584948"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6</a:t>
            </a:r>
            <a:endParaRPr lang="en-US" sz="1400" dirty="0"/>
          </a:p>
          <a:p>
            <a:pPr indent="0" marL="0">
              <a:buNone/>
            </a:pPr>
            <a:r>
              <a:rPr lang="en-US" sz="1400" b="1" dirty="0">
                <a:solidFill>
                  <a:schemeClr val="tx1"/>
                </a:solidFill>
              </a:rPr>
              <a:t>Prognosis and deadline</a:t>
            </a:r>
            <a:endParaRPr lang="en-US" sz="1400" dirty="0"/>
          </a:p>
        </p:txBody>
      </p:sp>
      <p:sp>
        <p:nvSpPr>
          <p:cNvPr id="16" name="Arrow 28"/>
          <p:cNvSpPr/>
          <p:nvPr/>
        </p:nvSpPr>
        <p:spPr>
          <a:xfrm>
            <a:off x="8846820" y="1938528"/>
            <a:ext cx="127102" cy="182880"/>
          </a:xfrm>
          <a:prstGeom prst="rightArrow">
            <a:avLst/>
          </a:prstGeom>
          <a:solidFill>
            <a:schemeClr val="accent1"/>
          </a:solidFill>
          <a:ln w="12700">
            <a:solidFill>
              <a:srgbClr val="F08B2A"/>
            </a:solidFill>
            <a:prstDash val="solid"/>
          </a:ln>
        </p:spPr>
      </p:sp>
      <p:sp>
        <p:nvSpPr>
          <p:cNvPr id="17" name="Card 29"/>
          <p:cNvSpPr/>
          <p:nvPr/>
        </p:nvSpPr>
        <p:spPr>
          <a:xfrm>
            <a:off x="8992210"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7</a:t>
            </a:r>
            <a:endParaRPr lang="en-US" sz="1400" dirty="0"/>
          </a:p>
          <a:p>
            <a:pPr indent="0" marL="0">
              <a:buNone/>
            </a:pPr>
            <a:r>
              <a:rPr lang="en-US" sz="1400" b="1" dirty="0">
                <a:solidFill>
                  <a:schemeClr val="tx1"/>
                </a:solidFill>
              </a:rPr>
              <a:t>Ranked plan</a:t>
            </a:r>
            <a:endParaRPr lang="en-US" sz="1400" dirty="0"/>
          </a:p>
        </p:txBody>
      </p:sp>
      <p:sp>
        <p:nvSpPr>
          <p:cNvPr id="18" name="Arrow 30"/>
          <p:cNvSpPr/>
          <p:nvPr/>
        </p:nvSpPr>
        <p:spPr>
          <a:xfrm>
            <a:off x="10254082" y="1938528"/>
            <a:ext cx="127102" cy="182880"/>
          </a:xfrm>
          <a:prstGeom prst="rightArrow">
            <a:avLst/>
          </a:prstGeom>
          <a:solidFill>
            <a:schemeClr val="accent1"/>
          </a:solidFill>
          <a:ln w="12700">
            <a:solidFill>
              <a:srgbClr val="F08B2A"/>
            </a:solidFill>
            <a:prstDash val="solid"/>
          </a:ln>
        </p:spPr>
      </p:sp>
      <p:sp>
        <p:nvSpPr>
          <p:cNvPr id="19" name="Card 31"/>
          <p:cNvSpPr/>
          <p:nvPr/>
        </p:nvSpPr>
        <p:spPr>
          <a:xfrm>
            <a:off x="10399471" y="1554480"/>
            <a:ext cx="1243584" cy="960120"/>
          </a:xfrm>
          <a:prstGeom prst="roundRect">
            <a:avLst>
              <a:gd name="adj" fmla="val 7619"/>
            </a:avLst>
          </a:prstGeom>
          <a:solidFill>
            <a:schemeClr val="accent4"/>
          </a:solidFill>
          <a:ln>
            <a:solidFill>
              <a:srgbClr val="141A25"/>
            </a:solidFill>
          </a:ln>
        </p:spPr>
        <p:txBody>
          <a:bodyPr wrap="square" lIns="76200" tIns="101600" rIns="101600" bIns="76200" rtlCol="0" anchor="ctr"/>
          <a:lstStyle/>
          <a:p>
            <a:pPr indent="0" marL="0">
              <a:buNone/>
            </a:pPr>
            <a:r>
              <a:rPr lang="en-US" sz="1400" b="1" dirty="0">
                <a:solidFill>
                  <a:schemeClr val="bg1"/>
                </a:solidFill>
              </a:rPr>
              <a:t>8</a:t>
            </a:r>
            <a:endParaRPr lang="en-US" sz="1400" dirty="0"/>
          </a:p>
          <a:p>
            <a:pPr indent="0" marL="0">
              <a:buNone/>
            </a:pPr>
            <a:r>
              <a:rPr lang="en-US" sz="1400" b="1" dirty="0">
                <a:solidFill>
                  <a:schemeClr val="bg1"/>
                </a:solidFill>
              </a:rPr>
              <a:t>Human approval</a:t>
            </a:r>
            <a:endParaRPr lang="en-US" sz="1400" dirty="0"/>
          </a:p>
        </p:txBody>
      </p:sp>
      <p:pic>
        <p:nvPicPr>
          <p:cNvPr id="20" name="Picture 04-twin-site.png" descr="lower left: the twin at rest, the main view of the console">    </p:cNvPr>
          <p:cNvPicPr>
            <a:picLocks noChangeAspect="1"/>
          </p:cNvPicPr>
          <p:nvPr/>
        </p:nvPicPr>
        <p:blipFill>
          <a:blip r:embed="rId1"/>
          <a:stretch>
            <a:fillRect/>
          </a:stretch>
        </p:blipFill>
        <p:spPr>
          <a:xfrm>
            <a:off x="548640" y="2743200"/>
            <a:ext cx="6172200" cy="3471863"/>
          </a:xfrm>
          <a:prstGeom prst="rect">
            <a:avLst/>
          </a:prstGeom>
        </p:spPr>
      </p:pic>
      <p:sp>
        <p:nvSpPr>
          <p:cNvPr id="21" name="Text 33"/>
          <p:cNvSpPr txBox="1"/>
          <p:nvPr/>
        </p:nvSpPr>
        <p:spPr>
          <a:xfrm>
            <a:off x="548640" y="6269927"/>
            <a:ext cx="6172200" cy="256032"/>
          </a:xfrm>
          <a:prstGeom prst="rect">
            <a:avLst/>
          </a:prstGeom>
          <a:noFill/>
          <a:ln/>
        </p:spPr>
        <p:txBody>
          <a:bodyPr wrap="square" lIns="0" tIns="0" rIns="0" bIns="0" rtlCol="0" anchor="t"/>
          <a:lstStyle/>
          <a:p>
            <a:pPr indent="0" marL="0">
              <a:buNone/>
            </a:pPr>
            <a:r>
              <a:rPr lang="en-US" sz="1100" dirty="0">
                <a:solidFill>
                  <a:schemeClr val="tx2"/>
                </a:solidFill>
              </a:rPr>
              <a:t>The prototype’s main view: a 3D twin of the block, 120 arrays, with the live repair queue.</a:t>
            </a:r>
            <a:endParaRPr lang="en-US" sz="1100" dirty="0"/>
          </a:p>
        </p:txBody>
      </p:sp>
      <p:sp>
        <p:nvSpPr>
          <p:cNvPr id="22" name="Text 34"/>
          <p:cNvSpPr txBox="1"/>
          <p:nvPr/>
        </p:nvSpPr>
        <p:spPr>
          <a:xfrm>
            <a:off x="6995160" y="2743200"/>
            <a:ext cx="4647895" cy="352044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Watches 120 arrays against a physics model of what each should produce in the current sun and heat</a:t>
            </a:r>
            <a:endParaRPr lang="en-US" sz="1400" dirty="0"/>
          </a:p>
          <a:p>
            <a:pPr marL="342900" indent="-342900">
              <a:spcAft>
                <a:spcPts val="900"/>
              </a:spcAft>
              <a:buSzPct val="100000"/>
              <a:buChar char="•"/>
            </a:pPr>
            <a:r>
              <a:rPr lang="en-US" sz="1500" dirty="0">
                <a:solidFill>
                  <a:schemeClr val="tx1"/>
                </a:solidFill>
              </a:rPr>
              <a:t>When telemetry cannot tell dirt from damage, it sends a drone instead of guessing</a:t>
            </a:r>
            <a:endParaRPr lang="en-US" sz="1400" dirty="0"/>
          </a:p>
          <a:p>
            <a:pPr marL="342900" indent="-342900">
              <a:spcAft>
                <a:spcPts val="900"/>
              </a:spcAft>
              <a:buSzPct val="100000"/>
              <a:buChar char="•"/>
            </a:pPr>
            <a:r>
              <a:rPr lang="en-US" sz="1500" dirty="0">
                <a:solidFill>
                  <a:schemeClr val="tx1"/>
                </a:solidFill>
              </a:rPr>
              <a:t>Reads the drone’s frames with a detector we trained, in the browser</a:t>
            </a:r>
            <a:endParaRPr lang="en-US" sz="1400" dirty="0"/>
          </a:p>
          <a:p>
            <a:pPr marL="342900" indent="-342900">
              <a:spcAft>
                <a:spcPts val="900"/>
              </a:spcAft>
              <a:buSzPct val="100000"/>
              <a:buChar char="•"/>
            </a:pPr>
            <a:r>
              <a:rPr lang="en-US" sz="1500" dirty="0">
                <a:solidFill>
                  <a:schemeClr val="tx1"/>
                </a:solidFill>
              </a:rPr>
              <a:t>Turns the defect and the 72 h forecast into a deadline, then a ranked crew plan</a:t>
            </a:r>
            <a:endParaRPr lang="en-US" sz="1400" dirty="0"/>
          </a:p>
          <a:p>
            <a:pPr marL="342900" indent="-342900">
              <a:spcAft>
                <a:spcPts val="900"/>
              </a:spcAft>
              <a:buSzPct val="100000"/>
              <a:buChar char="•"/>
            </a:pPr>
            <a:r>
              <a:rPr lang="en-US" sz="1500" dirty="0">
                <a:solidFill>
                  <a:schemeClr val="tx1"/>
                </a:solidFill>
              </a:rPr>
              <a:t>Stops. Nothing becomes a work order until an operator approves it</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3  Proposed AI solution: where the AI is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Four working parts, each doing the job it is suited to</a:t>
            </a:r>
            <a:endParaRPr lang="en-US" sz="2800" dirty="0"/>
          </a:p>
        </p:txBody>
      </p:sp>
      <p:sp>
        <p:nvSpPr>
          <p:cNvPr id="5" name="Card 35"/>
          <p:cNvSpPr/>
          <p:nvPr/>
        </p:nvSpPr>
        <p:spPr>
          <a:xfrm>
            <a:off x="548640" y="1554480"/>
            <a:ext cx="5432908" cy="1572768"/>
          </a:xfrm>
          <a:prstGeom prst="roundRect">
            <a:avLst>
              <a:gd name="adj" fmla="val 4651"/>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3"/>
                </a:solidFill>
              </a:rPr>
              <a:t>1  Vision detector, trained by us</a:t>
            </a:r>
            <a:endParaRPr lang="en-US" sz="1400" dirty="0"/>
          </a:p>
          <a:p>
            <a:pPr indent="0" marL="0">
              <a:buNone/>
            </a:pPr>
            <a:r>
              <a:rPr lang="en-US" sz="1400" dirty="0">
                <a:solidFill>
                  <a:schemeClr val="tx1"/>
                </a:solidFill>
              </a:rPr>
              <a:t>YOLOv8n fine-tuned on 921 labelled panel photographs. Cracked AP@50 0.995 on the held-out test split. It runs in the operator’s browser on ONNX Runtime Web: no server, no GPU.</a:t>
            </a:r>
            <a:endParaRPr lang="en-US" sz="1400" dirty="0"/>
          </a:p>
        </p:txBody>
      </p:sp>
      <p:sp>
        <p:nvSpPr>
          <p:cNvPr id="6" name="Card 36"/>
          <p:cNvSpPr/>
          <p:nvPr/>
        </p:nvSpPr>
        <p:spPr>
          <a:xfrm>
            <a:off x="6210148" y="1554480"/>
            <a:ext cx="5432908" cy="1572768"/>
          </a:xfrm>
          <a:prstGeom prst="roundRect">
            <a:avLst>
              <a:gd name="adj" fmla="val 4651"/>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3"/>
                </a:solidFill>
              </a:rPr>
              <a:t>2  Agent reasoning, language model</a:t>
            </a:r>
            <a:endParaRPr lang="en-US" sz="1400" dirty="0"/>
          </a:p>
          <a:p>
            <a:pPr indent="0" marL="0">
              <a:buNone/>
            </a:pPr>
            <a:r>
              <a:rPr lang="en-US" sz="1400" dirty="0">
                <a:solidFill>
                  <a:schemeClr val="tx1"/>
                </a:solidFill>
              </a:rPr>
              <a:t>openai/gpt-oss-120b on Groq writes the triage and prognosis in words. It never supplies a number: the server recomputes every fact from the physics and cross-checks the reply.</a:t>
            </a:r>
            <a:endParaRPr lang="en-US" sz="1400" dirty="0"/>
          </a:p>
        </p:txBody>
      </p:sp>
      <p:sp>
        <p:nvSpPr>
          <p:cNvPr id="7" name="Card 37"/>
          <p:cNvSpPr/>
          <p:nvPr/>
        </p:nvSpPr>
        <p:spPr>
          <a:xfrm>
            <a:off x="548640" y="3310128"/>
            <a:ext cx="5432908" cy="1572768"/>
          </a:xfrm>
          <a:prstGeom prst="roundRect">
            <a:avLst>
              <a:gd name="adj" fmla="val 4651"/>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3"/>
                </a:solidFill>
              </a:rPr>
              <a:t>3  Prognosis that ends in an hour</a:t>
            </a:r>
            <a:endParaRPr lang="en-US" sz="1400" dirty="0"/>
          </a:p>
          <a:p>
            <a:pPr indent="0" marL="0">
              <a:buNone/>
            </a:pPr>
            <a:r>
              <a:rPr lang="en-US" sz="1400" dirty="0">
                <a:solidFill>
                  <a:schemeClr val="tx1"/>
                </a:solidFill>
              </a:rPr>
              <a:t>A thermal-dose model and the 72 h forecast give "act before 14:00" for B-17. The deadline is computed, never looked up, and it moves when the weather does.</a:t>
            </a:r>
            <a:endParaRPr lang="en-US" sz="1400" dirty="0"/>
          </a:p>
        </p:txBody>
      </p:sp>
      <p:sp>
        <p:nvSpPr>
          <p:cNvPr id="8" name="Card 38"/>
          <p:cNvSpPr/>
          <p:nvPr/>
        </p:nvSpPr>
        <p:spPr>
          <a:xfrm>
            <a:off x="6210148" y="3310128"/>
            <a:ext cx="5432908" cy="1572768"/>
          </a:xfrm>
          <a:prstGeom prst="roundRect">
            <a:avLst>
              <a:gd name="adj" fmla="val 4651"/>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3"/>
                </a:solidFill>
              </a:rPr>
              <a:t>4  Crew plan, exact optimisation</a:t>
            </a:r>
            <a:endParaRPr lang="en-US" sz="1400" dirty="0"/>
          </a:p>
          <a:p>
            <a:pPr indent="0" marL="0">
              <a:buNone/>
            </a:pPr>
            <a:r>
              <a:rPr lang="en-US" sz="1400" dirty="0">
                <a:solidFill>
                  <a:schemeClr val="tx1"/>
                </a:solidFill>
              </a:rPr>
              <a:t>The crew day is a mixed-integer program solved by HiGHS in WebAssembly, cut off at 50 ms, beside a greedy heuristic scored by the same function. The screen says when they match.</a:t>
            </a:r>
            <a:endParaRPr lang="en-US" sz="1400" dirty="0"/>
          </a:p>
        </p:txBody>
      </p:sp>
      <p:sp>
        <p:nvSpPr>
          <p:cNvPr id="9" name="Card 39"/>
          <p:cNvSpPr/>
          <p:nvPr/>
        </p:nvSpPr>
        <p:spPr>
          <a:xfrm>
            <a:off x="548640" y="5074920"/>
            <a:ext cx="11094415" cy="1188720"/>
          </a:xfrm>
          <a:prstGeom prst="roundRect">
            <a:avLst>
              <a:gd name="adj" fmla="val 6154"/>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Not AI, on purpose: </a:t>
            </a:r>
            <a:pPr indent="0" marL="0">
              <a:buNone/>
            </a:pPr>
            <a:r>
              <a:rPr lang="en-US" sz="1400" dirty="0">
                <a:solidFill>
                  <a:schemeClr val="tx1"/>
                </a:solidFill>
              </a:rPr>
              <a:t>the order of the repair queue is a fixed formula, never a language model’s opinion.</a:t>
            </a:r>
            <a:endParaRPr lang="en-US" sz="1400" dirty="0"/>
          </a:p>
          <a:p>
            <a:pPr indent="0" marL="0">
              <a:buNone/>
            </a:pPr>
            <a:r>
              <a:rPr lang="en-US" sz="1400" b="1" dirty="0">
                <a:solidFill>
                  <a:schemeClr val="accent4"/>
                </a:solidFill>
              </a:rPr>
              <a:t>In progress, no result claimed: </a:t>
            </a:r>
            <a:pPr indent="0" marL="0">
              <a:buNone/>
            </a:pPr>
            <a:r>
              <a:rPr lang="en-US" sz="1400" dirty="0">
                <a:solidFill>
                  <a:schemeClr val="tx1"/>
                </a:solidFill>
              </a:rPr>
              <a:t>a thermal classifier on Raptor Maps’ InfraredSolarModules (20,000 images, 12 classes). The notebook exists; no model is trained and no metric is quoted.</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3  Proposed AI solution: the agent goes and looks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A drone flight, a live detection and a measured thermal band</a:t>
            </a:r>
            <a:endParaRPr lang="en-US" sz="2800" dirty="0"/>
          </a:p>
        </p:txBody>
      </p:sp>
      <p:pic>
        <p:nvPicPr>
          <p:cNvPr id="5" name="Picture 06-drone-frame-detector.png" descr="left: the drone’s own camera frame over B-17 with the detector’s box, cropped to the 3D view">    </p:cNvPr>
          <p:cNvPicPr>
            <a:picLocks noChangeAspect="1"/>
          </p:cNvPicPr>
          <p:nvPr/>
        </p:nvPicPr>
        <p:blipFill>
          <a:blip r:embed="rId1"/>
          <a:stretch>
            <a:fillRect/>
          </a:stretch>
        </p:blipFill>
        <p:spPr>
          <a:xfrm>
            <a:off x="548640" y="1554480"/>
            <a:ext cx="3401568" cy="2662097"/>
          </a:xfrm>
          <a:prstGeom prst="rect">
            <a:avLst/>
          </a:prstGeom>
        </p:spPr>
      </p:pic>
      <p:pic>
        <p:nvPicPr>
          <p:cNvPr id="6" name="Picture 06-drone-thermal-pass.png" descr="middle: the thermal pass of the same flight, cropped to the 3D view">    </p:cNvPr>
          <p:cNvPicPr>
            <a:picLocks noChangeAspect="1"/>
          </p:cNvPicPr>
          <p:nvPr/>
        </p:nvPicPr>
        <p:blipFill>
          <a:blip r:embed="rId2"/>
          <a:stretch>
            <a:fillRect/>
          </a:stretch>
        </p:blipFill>
        <p:spPr>
          <a:xfrm>
            <a:off x="4133088" y="1554480"/>
            <a:ext cx="3401568" cy="2662097"/>
          </a:xfrm>
          <a:prstGeom prst="rect">
            <a:avLst/>
          </a:prstGeom>
        </p:spPr>
      </p:pic>
      <p:pic>
        <p:nvPicPr>
          <p:cNvPr id="7" name="Picture 06-dossier-evidence-matrix.png" descr="right: the dossier, with the captured evidence and the 5 by 7 anomaly matrix">    </p:cNvPr>
          <p:cNvPicPr>
            <a:picLocks noChangeAspect="1"/>
          </p:cNvPicPr>
          <p:nvPr/>
        </p:nvPicPr>
        <p:blipFill>
          <a:blip r:embed="rId3"/>
          <a:stretch>
            <a:fillRect/>
          </a:stretch>
        </p:blipFill>
        <p:spPr>
          <a:xfrm>
            <a:off x="7717536" y="1554480"/>
            <a:ext cx="3925519" cy="1813132"/>
          </a:xfrm>
          <a:prstGeom prst="rect">
            <a:avLst/>
          </a:prstGeom>
        </p:spPr>
      </p:pic>
      <p:sp>
        <p:nvSpPr>
          <p:cNvPr id="8" name="Text 43"/>
          <p:cNvSpPr txBox="1"/>
          <p:nvPr/>
        </p:nvSpPr>
        <p:spPr>
          <a:xfrm>
            <a:off x="548640" y="4353737"/>
            <a:ext cx="3401568" cy="1371600"/>
          </a:xfrm>
          <a:prstGeom prst="rect">
            <a:avLst/>
          </a:prstGeom>
          <a:noFill/>
          <a:ln/>
        </p:spPr>
        <p:txBody>
          <a:bodyPr wrap="square" lIns="0" tIns="0" rIns="0" bIns="0" rtlCol="0" anchor="t"/>
          <a:lstStyle/>
          <a:p>
            <a:pPr indent="0" marL="0">
              <a:spcAft>
                <a:spcPts val="400"/>
              </a:spcAft>
              <a:buNone/>
            </a:pPr>
            <a:r>
              <a:rPr lang="en-US" sz="1500" b="1" dirty="0">
                <a:solidFill>
                  <a:schemeClr val="accent3"/>
                </a:solidFill>
              </a:rPr>
              <a:t>Detector, in the browser</a:t>
            </a:r>
            <a:endParaRPr lang="en-US" sz="1400" dirty="0"/>
          </a:p>
          <a:p>
            <a:pPr indent="0" marL="0">
              <a:buNone/>
            </a:pPr>
            <a:r>
              <a:rPr lang="en-US" sz="1400" dirty="0">
                <a:solidFill>
                  <a:schemeClr val="tx1"/>
                </a:solidFill>
              </a:rPr>
              <a:t>Cracked 0.90 on the frame the drone’s camera returned on this flight. The box is the model’s own; none is drawn that it did not produce.</a:t>
            </a:r>
            <a:endParaRPr lang="en-US" sz="1400" dirty="0"/>
          </a:p>
        </p:txBody>
      </p:sp>
      <p:sp>
        <p:nvSpPr>
          <p:cNvPr id="9" name="Text 44"/>
          <p:cNvSpPr txBox="1"/>
          <p:nvPr/>
        </p:nvSpPr>
        <p:spPr>
          <a:xfrm>
            <a:off x="4133088" y="4353737"/>
            <a:ext cx="3401568" cy="1371600"/>
          </a:xfrm>
          <a:prstGeom prst="rect">
            <a:avLst/>
          </a:prstGeom>
          <a:noFill/>
          <a:ln/>
        </p:spPr>
        <p:txBody>
          <a:bodyPr wrap="square" lIns="0" tIns="0" rIns="0" bIns="0" rtlCol="0" anchor="t"/>
          <a:lstStyle/>
          <a:p>
            <a:pPr indent="0" marL="0">
              <a:spcAft>
                <a:spcPts val="400"/>
              </a:spcAft>
              <a:buNone/>
            </a:pPr>
            <a:r>
              <a:rPr lang="en-US" sz="1500" b="1" dirty="0">
                <a:solidFill>
                  <a:schemeClr val="accent3"/>
                </a:solidFill>
              </a:rPr>
              <a:t>Thermal pass</a:t>
            </a:r>
            <a:endParaRPr lang="en-US" sz="1400" dirty="0"/>
          </a:p>
          <a:p>
            <a:pPr indent="0" marL="0">
              <a:buNone/>
            </a:pPr>
            <a:r>
              <a:rPr lang="en-US" sz="1400" dirty="0">
                <a:solidFill>
                  <a:schemeClr val="tx1"/>
                </a:solidFill>
              </a:rPr>
              <a:t>The same flight in the ironbow palette. This view is a rendering of the simulated scene, not a thermal capture.</a:t>
            </a:r>
            <a:endParaRPr lang="en-US" sz="1400" dirty="0"/>
          </a:p>
        </p:txBody>
      </p:sp>
      <p:sp>
        <p:nvSpPr>
          <p:cNvPr id="10" name="Text 45"/>
          <p:cNvSpPr txBox="1"/>
          <p:nvPr/>
        </p:nvSpPr>
        <p:spPr>
          <a:xfrm>
            <a:off x="7717536" y="3504772"/>
            <a:ext cx="3925519" cy="2011680"/>
          </a:xfrm>
          <a:prstGeom prst="rect">
            <a:avLst/>
          </a:prstGeom>
          <a:noFill/>
          <a:ln/>
        </p:spPr>
        <p:txBody>
          <a:bodyPr wrap="square" lIns="0" tIns="0" rIns="0" bIns="0" rtlCol="0" anchor="t"/>
          <a:lstStyle/>
          <a:p>
            <a:pPr indent="0" marL="0">
              <a:spcAft>
                <a:spcPts val="400"/>
              </a:spcAft>
              <a:buNone/>
            </a:pPr>
            <a:r>
              <a:rPr lang="en-US" sz="1500" b="1" dirty="0">
                <a:solidFill>
                  <a:schemeClr val="accent3"/>
                </a:solidFill>
              </a:rPr>
              <a:t>Measured thermal evidence</a:t>
            </a:r>
            <a:endParaRPr lang="en-US" sz="1400" dirty="0"/>
          </a:p>
          <a:p>
            <a:pPr indent="0" marL="0">
              <a:buNone/>
            </a:pPr>
            <a:r>
              <a:rPr lang="en-US" sz="1400" dirty="0">
                <a:solidFill>
                  <a:schemeClr val="tx1"/>
                </a:solidFill>
              </a:rPr>
              <a:t>From a real UAV thermal frame (Raptor Maps, MIT): four hot cells, row 2, columns 3 to 6, about +2.8 °C, one connected band. Cell means under a declared 25 °C span, not peak pixels.</a:t>
            </a:r>
            <a:endParaRPr lang="en-US" sz="1400" dirty="0"/>
          </a:p>
        </p:txBody>
      </p:sp>
      <p:sp>
        <p:nvSpPr>
          <p:cNvPr id="11" name="Card 46"/>
          <p:cNvSpPr/>
          <p:nvPr/>
        </p:nvSpPr>
        <p:spPr>
          <a:xfrm>
            <a:off x="548640" y="5715000"/>
            <a:ext cx="6986016" cy="566928"/>
          </a:xfrm>
          <a:prstGeom prst="roundRect">
            <a:avLst>
              <a:gd name="adj" fmla="val 12903"/>
            </a:avLst>
          </a:prstGeom>
          <a:solidFill>
            <a:schemeClr val="bg2"/>
          </a:solidFill>
          <a:ln>
            <a:solidFill>
              <a:srgbClr val="141A25"/>
            </a:solidFill>
          </a:ln>
        </p:spPr>
        <p:txBody>
          <a:bodyPr wrap="square" lIns="50800" tIns="152400" rIns="152400" bIns="50800" rtlCol="0" anchor="ctr"/>
          <a:lstStyle/>
          <a:p>
            <a:pPr indent="0" marL="0">
              <a:buNone/>
            </a:pPr>
            <a:r>
              <a:rPr lang="en-US" sz="1400" b="1" dirty="0">
                <a:solidFill>
                  <a:schemeClr val="accent4"/>
                </a:solidFill>
              </a:rPr>
              <a:t>B-17 is diagnosed from a real thermal capture. </a:t>
            </a:r>
            <a:pPr indent="0" marL="0">
              <a:buNone/>
            </a:pPr>
            <a:r>
              <a:rPr lang="en-US" sz="1400" dirty="0">
                <a:solidFill>
                  <a:schemeClr val="tx1"/>
                </a:solidFill>
              </a:rPr>
              <a:t>The other 119 arrays are flagged from modelled signature. The build fails if the two are mixed.</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4  Innovation and uniqueness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The plan, not the picture</a:t>
            </a:r>
            <a:endParaRPr lang="en-US" sz="2800" dirty="0"/>
          </a:p>
        </p:txBody>
      </p:sp>
      <p:pic>
        <p:nvPicPr>
          <p:cNvPr id="5" name="Picture 07-queue-arithmetic-dayplan.png" descr="right: the Queue screen, each job with its arithmetic, and the day plan for two crews">    </p:cNvPr>
          <p:cNvPicPr>
            <a:picLocks noChangeAspect="1"/>
          </p:cNvPicPr>
          <p:nvPr/>
        </p:nvPicPr>
        <p:blipFill>
          <a:blip r:embed="rId1"/>
          <a:stretch>
            <a:fillRect/>
          </a:stretch>
        </p:blipFill>
        <p:spPr>
          <a:xfrm>
            <a:off x="4526280" y="1554480"/>
            <a:ext cx="7116775" cy="2172909"/>
          </a:xfrm>
          <a:prstGeom prst="rect">
            <a:avLst/>
          </a:prstGeom>
        </p:spPr>
      </p:pic>
      <p:sp>
        <p:nvSpPr>
          <p:cNvPr id="6" name="Text 48"/>
          <p:cNvSpPr txBox="1"/>
          <p:nvPr/>
        </p:nvSpPr>
        <p:spPr>
          <a:xfrm>
            <a:off x="4526280" y="3782253"/>
            <a:ext cx="7116775" cy="256032"/>
          </a:xfrm>
          <a:prstGeom prst="rect">
            <a:avLst/>
          </a:prstGeom>
          <a:noFill/>
          <a:ln/>
        </p:spPr>
        <p:txBody>
          <a:bodyPr wrap="square" lIns="0" tIns="0" rIns="0" bIns="0" rtlCol="0" anchor="t"/>
          <a:lstStyle/>
          <a:p>
            <a:pPr indent="0" marL="0">
              <a:buNone/>
            </a:pPr>
            <a:r>
              <a:rPr lang="en-US" sz="1100" dirty="0">
                <a:solidFill>
                  <a:schemeClr val="tx2"/>
                </a:solidFill>
              </a:rPr>
              <a:t>The Queue screen: every job shows its working; the day plan is a proposal until a person approves.</a:t>
            </a:r>
            <a:endParaRPr lang="en-US" sz="1100" dirty="0"/>
          </a:p>
        </p:txBody>
      </p:sp>
      <p:sp>
        <p:nvSpPr>
          <p:cNvPr id="7" name="Card 49"/>
          <p:cNvSpPr/>
          <p:nvPr/>
        </p:nvSpPr>
        <p:spPr>
          <a:xfrm>
            <a:off x="4526280" y="4184589"/>
            <a:ext cx="7116775" cy="1417320"/>
          </a:xfrm>
          <a:prstGeom prst="roundRect">
            <a:avLst>
              <a:gd name="adj" fmla="val 5161"/>
            </a:avLst>
          </a:prstGeom>
          <a:solidFill>
            <a:schemeClr val="bg2"/>
          </a:solidFill>
          <a:ln>
            <a:solidFill>
              <a:srgbClr val="141A25"/>
            </a:solidFill>
          </a:ln>
        </p:spPr>
        <p:txBody>
          <a:bodyPr wrap="square" lIns="127000" tIns="152400" rIns="152400" bIns="127000" rtlCol="0" anchor="ctr"/>
          <a:lstStyle/>
          <a:p>
            <a:pPr indent="0" marL="0">
              <a:spcAft>
                <a:spcPts val="600"/>
              </a:spcAft>
              <a:buNone/>
            </a:pPr>
            <a:r>
              <a:rPr lang="en-US" sz="1800" b="1" dirty="0">
                <a:solidFill>
                  <a:schemeClr val="accent4"/>
                </a:solidFill>
              </a:rPr>
              <a:t>score = loss per day × severity × urgency ÷ access</a:t>
            </a:r>
            <a:endParaRPr lang="en-US" sz="1400" dirty="0"/>
          </a:p>
          <a:p>
            <a:pPr indent="0" marL="0">
              <a:spcAft>
                <a:spcPts val="400"/>
              </a:spcAft>
              <a:buNone/>
            </a:pPr>
            <a:r>
              <a:rPr lang="en-US" sz="1500" dirty="0">
                <a:solidFill>
                  <a:schemeClr val="tx1"/>
                </a:solidFill>
              </a:rPr>
              <a:t>B-17 as captured, 10:23 site time:  1.01 MWh × 3.0 × 7.65 ÷ 1.0 = 23.17</a:t>
            </a:r>
            <a:endParaRPr lang="en-US" sz="1400" dirty="0"/>
          </a:p>
          <a:p>
            <a:pPr indent="0" marL="0">
              <a:buNone/>
            </a:pPr>
            <a:r>
              <a:rPr lang="en-US" sz="1400" dirty="0">
                <a:solidFill>
                  <a:schemeClr val="tx2"/>
                </a:solidFill>
              </a:rPr>
              <a:t>Urgency is 1 + 24 ÷ hours left, so the score climbs as the deadline closes. A-08 is next at 0.81.</a:t>
            </a:r>
            <a:endParaRPr lang="en-US" sz="1400" dirty="0"/>
          </a:p>
        </p:txBody>
      </p:sp>
      <p:sp>
        <p:nvSpPr>
          <p:cNvPr id="8" name="Card 50"/>
          <p:cNvSpPr/>
          <p:nvPr/>
        </p:nvSpPr>
        <p:spPr>
          <a:xfrm>
            <a:off x="548640" y="1554480"/>
            <a:ext cx="3749040" cy="1078992"/>
          </a:xfrm>
          <a:prstGeom prst="roundRect">
            <a:avLst>
              <a:gd name="adj" fmla="val 6780"/>
            </a:avLst>
          </a:prstGeom>
          <a:solidFill>
            <a:schemeClr val="bg2"/>
          </a:solidFill>
          <a:ln>
            <a:solidFill>
              <a:srgbClr val="141A25"/>
            </a:solidFill>
          </a:ln>
        </p:spPr>
        <p:txBody>
          <a:bodyPr wrap="square" lIns="76200" tIns="152400" rIns="152400" bIns="76200" rtlCol="0" anchor="ctr"/>
          <a:lstStyle/>
          <a:p>
            <a:pPr indent="0" marL="0">
              <a:spcAft>
                <a:spcPts val="400"/>
              </a:spcAft>
              <a:buNone/>
            </a:pPr>
            <a:r>
              <a:rPr lang="en-US" sz="1500" b="1" dirty="0">
                <a:solidFill>
                  <a:schemeClr val="accent1"/>
                </a:solidFill>
              </a:rPr>
              <a:t>A computed deadline</a:t>
            </a:r>
            <a:endParaRPr lang="en-US" sz="1400" dirty="0"/>
          </a:p>
          <a:p>
            <a:pPr indent="0" marL="0">
              <a:buNone/>
            </a:pPr>
            <a:r>
              <a:rPr lang="en-US" sz="1400" dirty="0">
                <a:solidFill>
                  <a:schemeClr val="tx1"/>
                </a:solidFill>
              </a:rPr>
              <a:t>not a flagged defect: an hour, from the defect, the mechanism and the forecast</a:t>
            </a:r>
            <a:endParaRPr lang="en-US" sz="1400" dirty="0"/>
          </a:p>
        </p:txBody>
      </p:sp>
      <p:sp>
        <p:nvSpPr>
          <p:cNvPr id="9" name="Card 51"/>
          <p:cNvSpPr/>
          <p:nvPr/>
        </p:nvSpPr>
        <p:spPr>
          <a:xfrm>
            <a:off x="548640" y="2743200"/>
            <a:ext cx="3749040" cy="1078992"/>
          </a:xfrm>
          <a:prstGeom prst="roundRect">
            <a:avLst>
              <a:gd name="adj" fmla="val 6780"/>
            </a:avLst>
          </a:prstGeom>
          <a:solidFill>
            <a:schemeClr val="bg2"/>
          </a:solidFill>
          <a:ln>
            <a:solidFill>
              <a:srgbClr val="141A25"/>
            </a:solidFill>
          </a:ln>
        </p:spPr>
        <p:txBody>
          <a:bodyPr wrap="square" lIns="76200" tIns="152400" rIns="152400" bIns="76200" rtlCol="0" anchor="ctr"/>
          <a:lstStyle/>
          <a:p>
            <a:pPr indent="0" marL="0">
              <a:spcAft>
                <a:spcPts val="400"/>
              </a:spcAft>
              <a:buNone/>
            </a:pPr>
            <a:r>
              <a:rPr lang="en-US" sz="1500" b="1" dirty="0">
                <a:solidFill>
                  <a:schemeClr val="accent1"/>
                </a:solidFill>
              </a:rPr>
              <a:t>A plan that re-derives live</a:t>
            </a:r>
            <a:endParaRPr lang="en-US" sz="1400" dirty="0"/>
          </a:p>
          <a:p>
            <a:pPr indent="0" marL="0">
              <a:buNone/>
            </a:pPr>
            <a:r>
              <a:rPr lang="en-US" sz="1400" dirty="0">
                <a:solidFill>
                  <a:schemeClr val="tx1"/>
                </a:solidFill>
              </a:rPr>
              <a:t>change the conditions and the queue and the crew day are worked out again</a:t>
            </a:r>
            <a:endParaRPr lang="en-US" sz="1400" dirty="0"/>
          </a:p>
        </p:txBody>
      </p:sp>
      <p:sp>
        <p:nvSpPr>
          <p:cNvPr id="10" name="Card 52"/>
          <p:cNvSpPr/>
          <p:nvPr/>
        </p:nvSpPr>
        <p:spPr>
          <a:xfrm>
            <a:off x="548640" y="3931920"/>
            <a:ext cx="3749040" cy="1078992"/>
          </a:xfrm>
          <a:prstGeom prst="roundRect">
            <a:avLst>
              <a:gd name="adj" fmla="val 6780"/>
            </a:avLst>
          </a:prstGeom>
          <a:solidFill>
            <a:schemeClr val="bg2"/>
          </a:solidFill>
          <a:ln>
            <a:solidFill>
              <a:srgbClr val="141A25"/>
            </a:solidFill>
          </a:ln>
        </p:spPr>
        <p:txBody>
          <a:bodyPr wrap="square" lIns="76200" tIns="152400" rIns="152400" bIns="76200" rtlCol="0" anchor="ctr"/>
          <a:lstStyle/>
          <a:p>
            <a:pPr indent="0" marL="0">
              <a:spcAft>
                <a:spcPts val="400"/>
              </a:spcAft>
              <a:buNone/>
            </a:pPr>
            <a:r>
              <a:rPr lang="en-US" sz="1500" b="1" dirty="0">
                <a:solidFill>
                  <a:schemeClr val="accent1"/>
                </a:solidFill>
              </a:rPr>
              <a:t>Arithmetic on screen</a:t>
            </a:r>
            <a:endParaRPr lang="en-US" sz="1400" dirty="0"/>
          </a:p>
          <a:p>
            <a:pPr indent="0" marL="0">
              <a:buNone/>
            </a:pPr>
            <a:r>
              <a:rPr lang="en-US" sz="1400" dirty="0">
                <a:solidFill>
                  <a:schemeClr val="tx1"/>
                </a:solidFill>
              </a:rPr>
              <a:t>the ranking formula with its inputs, and a ? on every number for where it came from</a:t>
            </a:r>
            <a:endParaRPr lang="en-US" sz="1400" dirty="0"/>
          </a:p>
        </p:txBody>
      </p:sp>
      <p:sp>
        <p:nvSpPr>
          <p:cNvPr id="11" name="Card 53"/>
          <p:cNvSpPr/>
          <p:nvPr/>
        </p:nvSpPr>
        <p:spPr>
          <a:xfrm>
            <a:off x="548640" y="5120640"/>
            <a:ext cx="3749040" cy="1078992"/>
          </a:xfrm>
          <a:prstGeom prst="roundRect">
            <a:avLst>
              <a:gd name="adj" fmla="val 6780"/>
            </a:avLst>
          </a:prstGeom>
          <a:solidFill>
            <a:schemeClr val="bg2"/>
          </a:solidFill>
          <a:ln>
            <a:solidFill>
              <a:srgbClr val="141A25"/>
            </a:solidFill>
          </a:ln>
        </p:spPr>
        <p:txBody>
          <a:bodyPr wrap="square" lIns="76200" tIns="152400" rIns="152400" bIns="76200" rtlCol="0" anchor="ctr"/>
          <a:lstStyle/>
          <a:p>
            <a:pPr indent="0" marL="0">
              <a:spcAft>
                <a:spcPts val="400"/>
              </a:spcAft>
              <a:buNone/>
            </a:pPr>
            <a:r>
              <a:rPr lang="en-US" sz="1500" b="1" dirty="0">
                <a:solidFill>
                  <a:schemeClr val="accent1"/>
                </a:solidFill>
              </a:rPr>
              <a:t>A human gate</a:t>
            </a:r>
            <a:endParaRPr lang="en-US" sz="1400" dirty="0"/>
          </a:p>
          <a:p>
            <a:pPr indent="0" marL="0">
              <a:buNone/>
            </a:pPr>
            <a:r>
              <a:rPr lang="en-US" sz="1400" dirty="0">
                <a:solidFill>
                  <a:schemeClr val="tx1"/>
                </a:solidFill>
              </a:rPr>
              <a:t>the agent proposes; only an operator’s click creates a work order</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4  Innovation: the what-if sandbox</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Name a hazard, drag it onto the field, and the whole plan re-derives</a:t>
            </a:r>
            <a:endParaRPr lang="en-US" sz="2800" dirty="0"/>
          </a:p>
        </p:txBody>
      </p:sp>
      <p:pic>
        <p:nvPicPr>
          <p:cNvPr id="5" name="Picture 08-sandbox-dust-dropped.png" descr="left: the Sandbox screen after a dust storm was dropped on Zone B">    </p:cNvPr>
          <p:cNvPicPr>
            <a:picLocks noChangeAspect="1"/>
          </p:cNvPicPr>
          <p:nvPr/>
        </p:nvPicPr>
        <p:blipFill>
          <a:blip r:embed="rId1"/>
          <a:stretch>
            <a:fillRect/>
          </a:stretch>
        </p:blipFill>
        <p:spPr>
          <a:xfrm>
            <a:off x="548640" y="1554480"/>
            <a:ext cx="6400800" cy="3600450"/>
          </a:xfrm>
          <a:prstGeom prst="rect">
            <a:avLst/>
          </a:prstGeom>
        </p:spPr>
      </p:pic>
      <p:sp>
        <p:nvSpPr>
          <p:cNvPr id="6" name="Text 55"/>
          <p:cNvSpPr txBox="1"/>
          <p:nvPr/>
        </p:nvSpPr>
        <p:spPr>
          <a:xfrm>
            <a:off x="548640" y="5209794"/>
            <a:ext cx="6400800" cy="256032"/>
          </a:xfrm>
          <a:prstGeom prst="rect">
            <a:avLst/>
          </a:prstGeom>
          <a:noFill/>
          <a:ln/>
        </p:spPr>
        <p:txBody>
          <a:bodyPr wrap="square" lIns="0" tIns="0" rIns="0" bIns="0" rtlCol="0" anchor="t"/>
          <a:lstStyle/>
          <a:p>
            <a:pPr indent="0" marL="0">
              <a:buNone/>
            </a:pPr>
            <a:r>
              <a:rPr lang="en-US" sz="1100" dirty="0">
                <a:solidFill>
                  <a:schemeClr val="tx2"/>
                </a:solidFill>
              </a:rPr>
              <a:t>Sandbox, after a dust storm is dropped on Zone B. Seeking back before the drop un-happens it.</a:t>
            </a:r>
            <a:endParaRPr lang="en-US" sz="1100" dirty="0"/>
          </a:p>
        </p:txBody>
      </p:sp>
      <p:sp>
        <p:nvSpPr>
          <p:cNvPr id="7" name="Card 56"/>
          <p:cNvSpPr/>
          <p:nvPr/>
        </p:nvSpPr>
        <p:spPr>
          <a:xfrm>
            <a:off x="7178040" y="1554480"/>
            <a:ext cx="4465015" cy="2011680"/>
          </a:xfrm>
          <a:prstGeom prst="roundRect">
            <a:avLst>
              <a:gd name="adj" fmla="val 3636"/>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What the screen said, as captured</a:t>
            </a:r>
            <a:endParaRPr lang="en-US" sz="1400" dirty="0"/>
          </a:p>
          <a:p>
            <a:pPr indent="0" marL="0">
              <a:spcAft>
                <a:spcPts val="600"/>
              </a:spcAft>
              <a:buNone/>
            </a:pPr>
            <a:r>
              <a:rPr lang="en-US" sz="1400" dirty="0">
                <a:solidFill>
                  <a:schemeClr val="tx1"/>
                </a:solidFill>
              </a:rPr>
              <a:t>8 arrays affected, 6 jobs added, 1 displaced, B-17 still first.</a:t>
            </a:r>
            <a:endParaRPr lang="en-US" sz="1400" dirty="0"/>
          </a:p>
          <a:p>
            <a:pPr indent="0" marL="0">
              <a:buNone/>
            </a:pPr>
            <a:r>
              <a:rPr lang="en-US" sz="1400" dirty="0">
                <a:solidFill>
                  <a:schemeClr val="tx1"/>
                </a:solidFill>
              </a:rPr>
              <a:t>Cost over 72 h: 5.62 MWh, ₹13,742 at ₹2.446/kWh. Forecast band ₹12,544 to ₹14,911.</a:t>
            </a:r>
            <a:endParaRPr lang="en-US" sz="1400" dirty="0"/>
          </a:p>
        </p:txBody>
      </p:sp>
      <p:sp>
        <p:nvSpPr>
          <p:cNvPr id="8" name="Card 57"/>
          <p:cNvSpPr/>
          <p:nvPr/>
        </p:nvSpPr>
        <p:spPr>
          <a:xfrm>
            <a:off x="7178040" y="3703320"/>
            <a:ext cx="4465015" cy="1783080"/>
          </a:xfrm>
          <a:prstGeom prst="roundRect">
            <a:avLst>
              <a:gd name="adj" fmla="val 4103"/>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Measured in Chrome</a:t>
            </a:r>
            <a:endParaRPr lang="en-US" sz="1400" dirty="0"/>
          </a:p>
          <a:p>
            <a:pPr indent="0" marL="0">
              <a:buNone/>
            </a:pPr>
            <a:r>
              <a:rPr lang="en-US" sz="2600" b="1" dirty="0">
                <a:solidFill>
                  <a:schemeClr val="accent4"/>
                </a:solidFill>
              </a:rPr>
              <a:t>31 to 40 ms</a:t>
            </a:r>
            <a:endParaRPr lang="en-US" sz="1400" dirty="0"/>
          </a:p>
          <a:p>
            <a:pPr indent="0" marL="0">
              <a:buNone/>
            </a:pPr>
            <a:r>
              <a:rPr lang="en-US" sz="1400" dirty="0">
                <a:solidFill>
                  <a:schemeClr val="tx1"/>
                </a:solidFill>
              </a:rPr>
              <a:t>from drop to the re-planned frame on screen, against a 150 ms budget. 60.1 fps throughout.</a:t>
            </a:r>
            <a:endParaRPr lang="en-US" sz="1400" dirty="0"/>
          </a:p>
        </p:txBody>
      </p:sp>
      <p:sp>
        <p:nvSpPr>
          <p:cNvPr id="9" name="Text 58"/>
          <p:cNvSpPr txBox="1"/>
          <p:nvPr/>
        </p:nvSpPr>
        <p:spPr>
          <a:xfrm>
            <a:off x="7178040" y="5577840"/>
            <a:ext cx="4465015" cy="685800"/>
          </a:xfrm>
          <a:prstGeom prst="rect">
            <a:avLst/>
          </a:prstGeom>
          <a:noFill/>
          <a:ln/>
        </p:spPr>
        <p:txBody>
          <a:bodyPr wrap="square" lIns="0" tIns="0" rIns="0" bIns="0" rtlCol="0" anchor="t"/>
          <a:lstStyle/>
          <a:p>
            <a:pPr indent="0" marL="0">
              <a:buNone/>
            </a:pPr>
            <a:r>
              <a:rPr lang="en-US" sz="1200" dirty="0">
                <a:solidFill>
                  <a:schemeClr val="tx2"/>
                </a:solidFill>
              </a:rPr>
              <a:t>Hazard strengths and the forecast band are declared assumptions, labelled as such behind the ? on screen.</a:t>
            </a:r>
            <a:endParaRPr lang="en-US" sz="1200" dirty="0"/>
          </a:p>
        </p:txBody>
      </p:sp>
      <p:sp>
        <p:nvSpPr>
          <p:cNvPr id="10" name="Card 59"/>
          <p:cNvSpPr/>
          <p:nvPr/>
        </p:nvSpPr>
        <p:spPr>
          <a:xfrm>
            <a:off x="548640" y="5538978"/>
            <a:ext cx="6400800" cy="731520"/>
          </a:xfrm>
          <a:prstGeom prst="roundRect">
            <a:avLst>
              <a:gd name="adj" fmla="val 10000"/>
            </a:avLst>
          </a:prstGeom>
          <a:solidFill>
            <a:schemeClr val="bg2"/>
          </a:solidFill>
          <a:ln>
            <a:solidFill>
              <a:srgbClr val="141A25"/>
            </a:solidFill>
          </a:ln>
        </p:spPr>
        <p:txBody>
          <a:bodyPr wrap="square" lIns="50800" tIns="152400" rIns="152400" bIns="50800" rtlCol="0" anchor="ctr"/>
          <a:lstStyle/>
          <a:p>
            <a:pPr indent="0" marL="0">
              <a:buNone/>
            </a:pPr>
            <a:r>
              <a:rPr lang="en-US" sz="1400" dirty="0">
                <a:solidFill>
                  <a:schemeClr val="tx1"/>
                </a:solidFill>
              </a:rPr>
              <a:t>Dust storm and cloud bank are dragged; heatwave is site-wide. </a:t>
            </a:r>
            <a:pPr indent="0" marL="0">
              <a:buNone/>
            </a:pPr>
            <a:r>
              <a:rPr lang="en-US" sz="1400" dirty="0">
                <a:solidFill>
                  <a:schemeClr val="tx2"/>
                </a:solidFill>
              </a:rPr>
              <a:t>The physics model is untouched: a hazard only changes the sunlight and air temperature each array is evaluated at.</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4  Innovation: the deadline and the human gate</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What it costs to wait, and who decides</a:t>
            </a:r>
            <a:endParaRPr lang="en-US" sz="2800" dirty="0"/>
          </a:p>
        </p:txBody>
      </p:sp>
      <p:pic>
        <p:nvPicPr>
          <p:cNvPr id="5" name="Picture 09-incident-approval-gate.png" descr="left: the B-17 incident, with the reading, the Approve button and the evidence chain">    </p:cNvPr>
          <p:cNvPicPr>
            <a:picLocks noChangeAspect="1"/>
          </p:cNvPicPr>
          <p:nvPr/>
        </p:nvPicPr>
        <p:blipFill>
          <a:blip r:embed="rId1"/>
          <a:stretch>
            <a:fillRect/>
          </a:stretch>
        </p:blipFill>
        <p:spPr>
          <a:xfrm>
            <a:off x="548640" y="1554480"/>
            <a:ext cx="6720840" cy="4203872"/>
          </a:xfrm>
          <a:prstGeom prst="rect">
            <a:avLst/>
          </a:prstGeom>
        </p:spPr>
      </p:pic>
      <p:pic>
        <p:nvPicPr>
          <p:cNvPr id="6" name="Picture 09-cost-of-waiting.png" descr="top right: the cost-of-waiting table from the same incident screen">    </p:cNvPr>
          <p:cNvPicPr>
            <a:picLocks noChangeAspect="1"/>
          </p:cNvPicPr>
          <p:nvPr/>
        </p:nvPicPr>
        <p:blipFill>
          <a:blip r:embed="rId2"/>
          <a:stretch>
            <a:fillRect/>
          </a:stretch>
        </p:blipFill>
        <p:spPr>
          <a:xfrm>
            <a:off x="7498080" y="1554480"/>
            <a:ext cx="4144975" cy="2544440"/>
          </a:xfrm>
          <a:prstGeom prst="rect">
            <a:avLst/>
          </a:prstGeom>
        </p:spPr>
      </p:pic>
      <p:sp>
        <p:nvSpPr>
          <p:cNvPr id="7" name="Card 62"/>
          <p:cNvSpPr/>
          <p:nvPr/>
        </p:nvSpPr>
        <p:spPr>
          <a:xfrm>
            <a:off x="7498080" y="4281800"/>
            <a:ext cx="4144975" cy="1981840"/>
          </a:xfrm>
          <a:prstGeom prst="roundRect">
            <a:avLst>
              <a:gd name="adj" fmla="val 3691"/>
            </a:avLst>
          </a:prstGeom>
          <a:solidFill>
            <a:schemeClr val="bg2"/>
          </a:solidFill>
          <a:ln>
            <a:solidFill>
              <a:srgbClr val="141A25"/>
            </a:solidFill>
          </a:ln>
        </p:spPr>
        <p:txBody>
          <a:bodyPr wrap="square" lIns="127000" tIns="152400" rIns="152400" bIns="127000" rtlCol="0" anchor="t"/>
          <a:lstStyle/>
          <a:p>
            <a:pPr marL="342900" indent="-342900">
              <a:spcAft>
                <a:spcPts val="600"/>
              </a:spcAft>
              <a:buSzPct val="100000"/>
              <a:buChar char="•"/>
            </a:pPr>
            <a:r>
              <a:rPr lang="en-US" sz="1400" dirty="0">
                <a:solidFill>
                  <a:schemeClr val="tx1"/>
                </a:solidFill>
              </a:rPr>
              <a:t>B-17: −41.7 %, 3.07 MWh and ₹7,509 over 72 h, act before 14:00</a:t>
            </a:r>
            <a:endParaRPr lang="en-US" sz="1400" dirty="0"/>
          </a:p>
          <a:p>
            <a:pPr marL="342900" indent="-342900">
              <a:spcAft>
                <a:spcPts val="600"/>
              </a:spcAft>
              <a:buSzPct val="100000"/>
              <a:buChar char="•"/>
            </a:pPr>
            <a:r>
              <a:rPr lang="en-US" sz="1400" dirty="0">
                <a:solidFill>
                  <a:schemeClr val="tx1"/>
                </a:solidFill>
              </a:rPr>
              <a:t>Waiting is priced at four points</a:t>
            </a:r>
            <a:endParaRPr lang="en-US" sz="1400" dirty="0"/>
          </a:p>
          <a:p>
            <a:pPr marL="342900" indent="-342900">
              <a:spcAft>
                <a:spcPts val="600"/>
              </a:spcAft>
              <a:buSzPct val="100000"/>
              <a:buChar char="•"/>
            </a:pPr>
            <a:r>
              <a:rPr lang="en-US" sz="1400" dirty="0">
                <a:solidFill>
                  <a:schemeClr val="tx1"/>
                </a:solidFill>
              </a:rPr>
              <a:t>Work order INC-B17 exists only after a person clicks Approve, or declines with a reason</a:t>
            </a:r>
            <a:endParaRPr lang="en-US" sz="1400" dirty="0"/>
          </a:p>
        </p:txBody>
      </p:sp>
      <p:sp>
        <p:nvSpPr>
          <p:cNvPr id="8" name="Text 63"/>
          <p:cNvSpPr txBox="1"/>
          <p:nvPr/>
        </p:nvSpPr>
        <p:spPr>
          <a:xfrm>
            <a:off x="548640" y="5813216"/>
            <a:ext cx="6720840" cy="256032"/>
          </a:xfrm>
          <a:prstGeom prst="rect">
            <a:avLst/>
          </a:prstGeom>
          <a:noFill/>
          <a:ln/>
        </p:spPr>
        <p:txBody>
          <a:bodyPr wrap="square" lIns="0" tIns="0" rIns="0" bIns="0" rtlCol="0" anchor="t"/>
          <a:lstStyle/>
          <a:p>
            <a:pPr indent="0" marL="0">
              <a:buNone/>
            </a:pPr>
            <a:r>
              <a:rPr lang="en-US" sz="1100" dirty="0">
                <a:solidFill>
                  <a:schemeClr val="tx2"/>
                </a:solidFill>
              </a:rPr>
              <a:t>The B-17 incident after the drone returned. Figures in the pictures are as captured and move with site time.</a:t>
            </a:r>
            <a:endParaRPr lang="en-US" sz="11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5  Expected impact</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Lost energy in MWh and in rupees, with the working shown</a:t>
            </a:r>
            <a:endParaRPr lang="en-US" sz="2800" dirty="0"/>
          </a:p>
        </p:txBody>
      </p:sp>
      <p:pic>
        <p:nvPicPr>
          <p:cNvPr id="5" name="Picture 10-analytics-expected-actual.png" descr="top left: Analytics, expected against actual with the forecast band and the loss by cause">    </p:cNvPr>
          <p:cNvPicPr>
            <a:picLocks noChangeAspect="1"/>
          </p:cNvPicPr>
          <p:nvPr/>
        </p:nvPicPr>
        <p:blipFill>
          <a:blip r:embed="rId1"/>
          <a:stretch>
            <a:fillRect/>
          </a:stretch>
        </p:blipFill>
        <p:spPr>
          <a:xfrm>
            <a:off x="548640" y="1554480"/>
            <a:ext cx="6858000" cy="2823882"/>
          </a:xfrm>
          <a:prstGeom prst="rect">
            <a:avLst/>
          </a:prstGeom>
        </p:spPr>
      </p:pic>
      <p:pic>
        <p:nvPicPr>
          <p:cNvPr id="6" name="Picture 10-tariff-arithmetic.png" descr="under it: the tariff arithmetic and its sources, from the same screen">    </p:cNvPr>
          <p:cNvPicPr>
            <a:picLocks noChangeAspect="1"/>
          </p:cNvPicPr>
          <p:nvPr/>
        </p:nvPicPr>
        <p:blipFill>
          <a:blip r:embed="rId2"/>
          <a:stretch>
            <a:fillRect/>
          </a:stretch>
        </p:blipFill>
        <p:spPr>
          <a:xfrm>
            <a:off x="548640" y="4488090"/>
            <a:ext cx="6858000" cy="1114185"/>
          </a:xfrm>
          <a:prstGeom prst="rect">
            <a:avLst/>
          </a:prstGeom>
        </p:spPr>
      </p:pic>
      <p:sp>
        <p:nvSpPr>
          <p:cNvPr id="7" name="Text 66"/>
          <p:cNvSpPr txBox="1"/>
          <p:nvPr/>
        </p:nvSpPr>
        <p:spPr>
          <a:xfrm>
            <a:off x="548640" y="5657139"/>
            <a:ext cx="6858000" cy="256032"/>
          </a:xfrm>
          <a:prstGeom prst="rect">
            <a:avLst/>
          </a:prstGeom>
          <a:noFill/>
          <a:ln/>
        </p:spPr>
        <p:txBody>
          <a:bodyPr wrap="square" lIns="0" tIns="0" rIns="0" bIns="0" rtlCol="0" anchor="t"/>
          <a:lstStyle/>
          <a:p>
            <a:pPr indent="0" marL="0">
              <a:buNone/>
            </a:pPr>
            <a:r>
              <a:rPr lang="en-US" sz="1100" dirty="0">
                <a:solidFill>
                  <a:schemeClr val="tx2"/>
                </a:solidFill>
              </a:rPr>
              <a:t>Analytics for the modelled arrays, and the tariff panel beneath it. As captured, 7 Oct 2026.</a:t>
            </a:r>
            <a:endParaRPr lang="en-US" sz="1100" dirty="0"/>
          </a:p>
        </p:txBody>
      </p:sp>
      <p:sp>
        <p:nvSpPr>
          <p:cNvPr id="8" name="Card 67"/>
          <p:cNvSpPr/>
          <p:nvPr/>
        </p:nvSpPr>
        <p:spPr>
          <a:xfrm>
            <a:off x="7635240" y="1554480"/>
            <a:ext cx="4007815" cy="1920240"/>
          </a:xfrm>
          <a:prstGeom prst="roundRect">
            <a:avLst>
              <a:gd name="adj" fmla="val 3810"/>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One fault, left to the next survey</a:t>
            </a:r>
            <a:endParaRPr lang="en-US" sz="1400" dirty="0"/>
          </a:p>
          <a:p>
            <a:pPr indent="0" marL="0">
              <a:buNone/>
            </a:pPr>
            <a:r>
              <a:rPr lang="en-US" sz="2800" b="1" dirty="0">
                <a:solidFill>
                  <a:schemeClr val="accent4"/>
                </a:solidFill>
              </a:rPr>
              <a:t>₹74,114</a:t>
            </a:r>
            <a:endParaRPr lang="en-US" sz="1400" dirty="0"/>
          </a:p>
          <a:p>
            <a:pPr indent="0" marL="0">
              <a:buNone/>
            </a:pPr>
            <a:r>
              <a:rPr lang="en-US" sz="1400" dirty="0">
                <a:solidFill>
                  <a:schemeClr val="tx1"/>
                </a:solidFill>
              </a:rPr>
              <a:t>B-17 for 30 days: 1.01 MWh/day × 30 = 30.3 MWh, at ₹2.446/kWh. An illustration that assumes the loss stays constant, not a measurement.</a:t>
            </a:r>
            <a:endParaRPr lang="en-US" sz="1400" dirty="0"/>
          </a:p>
        </p:txBody>
      </p:sp>
      <p:sp>
        <p:nvSpPr>
          <p:cNvPr id="9" name="Card 68"/>
          <p:cNvSpPr/>
          <p:nvPr/>
        </p:nvSpPr>
        <p:spPr>
          <a:xfrm>
            <a:off x="7635240" y="3611880"/>
            <a:ext cx="4007815" cy="2103120"/>
          </a:xfrm>
          <a:prstGeom prst="roundRect">
            <a:avLst>
              <a:gd name="adj" fmla="val 3478"/>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For industry and beyond</a:t>
            </a:r>
            <a:endParaRPr lang="en-US" sz="1400" dirty="0"/>
          </a:p>
          <a:p>
            <a:pPr marL="342900" indent="-342900">
              <a:spcAft>
                <a:spcPts val="600"/>
              </a:spcAft>
              <a:buSzPct val="100000"/>
              <a:buChar char="•"/>
            </a:pPr>
            <a:r>
              <a:rPr lang="en-US" sz="1400" dirty="0">
                <a:solidFill>
                  <a:schemeClr val="tx1"/>
                </a:solidFill>
              </a:rPr>
              <a:t>More of the installed clean capacity actually delivered</a:t>
            </a:r>
            <a:endParaRPr lang="en-US" sz="1400" dirty="0"/>
          </a:p>
          <a:p>
            <a:pPr marL="342900" indent="-342900">
              <a:spcAft>
                <a:spcPts val="600"/>
              </a:spcAft>
              <a:buSzPct val="100000"/>
              <a:buChar char="•"/>
            </a:pPr>
            <a:r>
              <a:rPr lang="en-US" sz="1400" dirty="0">
                <a:solidFill>
                  <a:schemeClr val="tx1"/>
                </a:solidFill>
              </a:rPr>
              <a:t>Crews kept out of the field above 40 °C by the planner</a:t>
            </a:r>
            <a:endParaRPr lang="en-US" sz="1400" dirty="0"/>
          </a:p>
          <a:p>
            <a:pPr marL="342900" indent="-342900">
              <a:spcAft>
                <a:spcPts val="600"/>
              </a:spcAft>
              <a:buSzPct val="100000"/>
              <a:buChar char="•"/>
            </a:pPr>
            <a:r>
              <a:rPr lang="en-US" sz="1400" dirty="0">
                <a:solidFill>
                  <a:schemeClr val="tx1"/>
                </a:solidFill>
              </a:rPr>
              <a:t>No drone flown where imaging adds nothing, such as soiling</a:t>
            </a:r>
            <a:endParaRPr lang="en-US" sz="1400" dirty="0"/>
          </a:p>
        </p:txBody>
      </p:sp>
      <p:sp>
        <p:nvSpPr>
          <p:cNvPr id="10" name="Text 69"/>
          <p:cNvSpPr txBox="1"/>
          <p:nvPr/>
        </p:nvSpPr>
        <p:spPr>
          <a:xfrm>
            <a:off x="7635240" y="5833872"/>
            <a:ext cx="4007815" cy="502920"/>
          </a:xfrm>
          <a:prstGeom prst="rect">
            <a:avLst/>
          </a:prstGeom>
          <a:noFill/>
          <a:ln/>
        </p:spPr>
        <p:txBody>
          <a:bodyPr wrap="square" lIns="0" tIns="0" rIns="0" bIns="0" rtlCol="0" anchor="t"/>
          <a:lstStyle/>
          <a:p>
            <a:pPr indent="0" marL="0">
              <a:buNone/>
            </a:pPr>
            <a:r>
              <a:rPr lang="en-US" sz="1100" dirty="0">
                <a:solidFill>
                  <a:schemeClr val="tx2"/>
                </a:solidFill>
              </a:rPr>
              <a:t>Tariff: (200 MW × ₹2.44 + 300 MW × ₹2.45) ÷ 500 MW = ₹2.446/kWh, SECI Bhadla Phase-III, 2017. No deviation charge is computed.</a:t>
            </a:r>
            <a:endParaRPr lang="en-US" sz="11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6  Prototype architecture</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In the browser, behind a build that fails if a number drifts</a:t>
            </a:r>
            <a:endParaRPr lang="en-US" sz="2800" dirty="0"/>
          </a:p>
        </p:txBody>
      </p:sp>
      <p:sp>
        <p:nvSpPr>
          <p:cNvPr id="5" name="Shape 70"/>
          <p:cNvSpPr/>
          <p:nvPr/>
        </p:nvSpPr>
        <p:spPr>
          <a:xfrm>
            <a:off x="548640" y="1600200"/>
            <a:ext cx="2606040" cy="4160520"/>
          </a:xfrm>
          <a:prstGeom prst="roundRect">
            <a:avLst>
              <a:gd name="adj" fmla="val 2807"/>
            </a:avLst>
          </a:prstGeom>
          <a:solidFill>
            <a:schemeClr val="bg2"/>
          </a:solidFill>
          <a:ln w="12700">
            <a:solidFill>
              <a:srgbClr val="141A25"/>
            </a:solidFill>
            <a:prstDash val="solid"/>
          </a:ln>
        </p:spPr>
      </p:sp>
      <p:sp>
        <p:nvSpPr>
          <p:cNvPr id="6" name="Text 71"/>
          <p:cNvSpPr txBox="1"/>
          <p:nvPr/>
        </p:nvSpPr>
        <p:spPr>
          <a:xfrm>
            <a:off x="685800" y="1691640"/>
            <a:ext cx="2331720" cy="292608"/>
          </a:xfrm>
          <a:prstGeom prst="rect">
            <a:avLst/>
          </a:prstGeom>
          <a:noFill/>
          <a:ln/>
        </p:spPr>
        <p:txBody>
          <a:bodyPr wrap="square" lIns="0" tIns="0" rIns="0" bIns="0" rtlCol="0" anchor="t"/>
          <a:lstStyle/>
          <a:p>
            <a:pPr indent="0" marL="0">
              <a:buNone/>
            </a:pPr>
            <a:r>
              <a:rPr lang="en-US" sz="1500" b="1" dirty="0">
                <a:solidFill>
                  <a:schemeClr val="accent1"/>
                </a:solidFill>
              </a:rPr>
              <a:t>Before the build</a:t>
            </a:r>
            <a:endParaRPr lang="en-US" sz="1500" dirty="0"/>
          </a:p>
        </p:txBody>
      </p:sp>
      <p:sp>
        <p:nvSpPr>
          <p:cNvPr id="7" name="Text 72"/>
          <p:cNvSpPr txBox="1"/>
          <p:nvPr/>
        </p:nvSpPr>
        <p:spPr>
          <a:xfrm>
            <a:off x="685800" y="1984248"/>
            <a:ext cx="2331720" cy="256032"/>
          </a:xfrm>
          <a:prstGeom prst="rect">
            <a:avLst/>
          </a:prstGeom>
          <a:noFill/>
          <a:ln/>
        </p:spPr>
        <p:txBody>
          <a:bodyPr wrap="square" lIns="0" tIns="0" rIns="0" bIns="0" rtlCol="0" anchor="t"/>
          <a:lstStyle/>
          <a:p>
            <a:pPr indent="0" marL="0">
              <a:buNone/>
            </a:pPr>
            <a:r>
              <a:rPr lang="en-US" sz="1100" dirty="0">
                <a:solidFill>
                  <a:schemeClr val="tx2"/>
                </a:solidFill>
              </a:rPr>
              <a:t>Python and Colab, never at run time</a:t>
            </a:r>
            <a:endParaRPr lang="en-US" sz="1100" dirty="0"/>
          </a:p>
        </p:txBody>
      </p:sp>
      <p:sp>
        <p:nvSpPr>
          <p:cNvPr id="8" name="Card 73"/>
          <p:cNvSpPr/>
          <p:nvPr/>
        </p:nvSpPr>
        <p:spPr>
          <a:xfrm>
            <a:off x="685800" y="2377440"/>
            <a:ext cx="233172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PV model and generators</a:t>
            </a:r>
            <a:endParaRPr lang="en-US" sz="1400" dirty="0"/>
          </a:p>
          <a:p>
            <a:pPr indent="0" marL="0">
              <a:buNone/>
            </a:pPr>
            <a:r>
              <a:rPr lang="en-US" sz="1400" dirty="0">
                <a:solidFill>
                  <a:schemeClr val="tx1"/>
                </a:solidFill>
              </a:rPr>
              <a:t>scripts/physics.py</a:t>
            </a:r>
            <a:endParaRPr lang="en-US" sz="1400" dirty="0"/>
          </a:p>
        </p:txBody>
      </p:sp>
      <p:sp>
        <p:nvSpPr>
          <p:cNvPr id="9" name="Card 74"/>
          <p:cNvSpPr/>
          <p:nvPr/>
        </p:nvSpPr>
        <p:spPr>
          <a:xfrm>
            <a:off x="685800" y="3474720"/>
            <a:ext cx="233172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Detector training</a:t>
            </a:r>
            <a:endParaRPr lang="en-US" sz="1400" dirty="0"/>
          </a:p>
          <a:p>
            <a:pPr indent="0" marL="0">
              <a:buNone/>
            </a:pPr>
            <a:r>
              <a:rPr lang="en-US" sz="1400" dirty="0">
                <a:solidFill>
                  <a:schemeClr val="tx1"/>
                </a:solidFill>
              </a:rPr>
              <a:t>YOLOv8n to ONNX, opset 12</a:t>
            </a:r>
            <a:endParaRPr lang="en-US" sz="1400" dirty="0"/>
          </a:p>
        </p:txBody>
      </p:sp>
      <p:sp>
        <p:nvSpPr>
          <p:cNvPr id="10" name="Card 75"/>
          <p:cNvSpPr/>
          <p:nvPr/>
        </p:nvSpPr>
        <p:spPr>
          <a:xfrm>
            <a:off x="685800" y="4572000"/>
            <a:ext cx="233172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Thermal cell grid</a:t>
            </a:r>
            <a:endParaRPr lang="en-US" sz="1400" dirty="0"/>
          </a:p>
          <a:p>
            <a:pPr indent="0" marL="0">
              <a:buNone/>
            </a:pPr>
            <a:r>
              <a:rPr lang="en-US" sz="1400" dirty="0">
                <a:solidFill>
                  <a:schemeClr val="tx1"/>
                </a:solidFill>
              </a:rPr>
              <a:t>classical image processing</a:t>
            </a:r>
            <a:endParaRPr lang="en-US" sz="1400" dirty="0"/>
          </a:p>
        </p:txBody>
      </p:sp>
      <p:sp>
        <p:nvSpPr>
          <p:cNvPr id="11" name="Shape 76"/>
          <p:cNvSpPr/>
          <p:nvPr/>
        </p:nvSpPr>
        <p:spPr>
          <a:xfrm>
            <a:off x="3474720" y="1600200"/>
            <a:ext cx="2286000" cy="4160520"/>
          </a:xfrm>
          <a:prstGeom prst="roundRect">
            <a:avLst>
              <a:gd name="adj" fmla="val 3200"/>
            </a:avLst>
          </a:prstGeom>
          <a:solidFill>
            <a:schemeClr val="bg2"/>
          </a:solidFill>
          <a:ln w="12700">
            <a:solidFill>
              <a:srgbClr val="141A25"/>
            </a:solidFill>
            <a:prstDash val="solid"/>
          </a:ln>
        </p:spPr>
      </p:sp>
      <p:sp>
        <p:nvSpPr>
          <p:cNvPr id="12" name="Text 77"/>
          <p:cNvSpPr txBox="1"/>
          <p:nvPr/>
        </p:nvSpPr>
        <p:spPr>
          <a:xfrm>
            <a:off x="3611880" y="1691640"/>
            <a:ext cx="2011680" cy="292608"/>
          </a:xfrm>
          <a:prstGeom prst="rect">
            <a:avLst/>
          </a:prstGeom>
          <a:noFill/>
          <a:ln/>
        </p:spPr>
        <p:txBody>
          <a:bodyPr wrap="square" lIns="0" tIns="0" rIns="0" bIns="0" rtlCol="0" anchor="t"/>
          <a:lstStyle/>
          <a:p>
            <a:pPr indent="0" marL="0">
              <a:buNone/>
            </a:pPr>
            <a:r>
              <a:rPr lang="en-US" sz="1500" b="1" dirty="0">
                <a:solidFill>
                  <a:schemeClr val="accent1"/>
                </a:solidFill>
              </a:rPr>
              <a:t>Build gate</a:t>
            </a:r>
            <a:endParaRPr lang="en-US" sz="1500" dirty="0"/>
          </a:p>
        </p:txBody>
      </p:sp>
      <p:sp>
        <p:nvSpPr>
          <p:cNvPr id="13" name="Text 78"/>
          <p:cNvSpPr txBox="1"/>
          <p:nvPr/>
        </p:nvSpPr>
        <p:spPr>
          <a:xfrm>
            <a:off x="3611880" y="1984248"/>
            <a:ext cx="2011680" cy="256032"/>
          </a:xfrm>
          <a:prstGeom prst="rect">
            <a:avLst/>
          </a:prstGeom>
          <a:noFill/>
          <a:ln/>
        </p:spPr>
        <p:txBody>
          <a:bodyPr wrap="square" lIns="0" tIns="0" rIns="0" bIns="0" rtlCol="0" anchor="t"/>
          <a:lstStyle/>
          <a:p>
            <a:pPr indent="0" marL="0">
              <a:buNone/>
            </a:pPr>
            <a:r>
              <a:rPr lang="en-US" sz="1100" dirty="0">
                <a:solidFill>
                  <a:schemeClr val="tx2"/>
                </a:solidFill>
              </a:rPr>
              <a:t>fails the build, not the demo</a:t>
            </a:r>
            <a:endParaRPr lang="en-US" sz="1100" dirty="0"/>
          </a:p>
        </p:txBody>
      </p:sp>
      <p:sp>
        <p:nvSpPr>
          <p:cNvPr id="14" name="Card 79"/>
          <p:cNvSpPr/>
          <p:nvPr/>
        </p:nvSpPr>
        <p:spPr>
          <a:xfrm>
            <a:off x="3611880" y="2377440"/>
            <a:ext cx="201168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Zod schemas and</a:t>
            </a:r>
            <a:endParaRPr lang="en-US" sz="1400" dirty="0"/>
          </a:p>
          <a:p>
            <a:pPr indent="0" marL="0">
              <a:buNone/>
            </a:pPr>
            <a:r>
              <a:rPr lang="en-US" sz="1400" dirty="0">
                <a:solidFill>
                  <a:schemeClr val="tx1"/>
                </a:solidFill>
              </a:rPr>
              <a:t>16 invariants</a:t>
            </a:r>
            <a:endParaRPr lang="en-US" sz="1400" dirty="0"/>
          </a:p>
        </p:txBody>
      </p:sp>
      <p:sp>
        <p:nvSpPr>
          <p:cNvPr id="15" name="Card 80"/>
          <p:cNvSpPr/>
          <p:nvPr/>
        </p:nvSpPr>
        <p:spPr>
          <a:xfrm>
            <a:off x="3611880" y="3474720"/>
            <a:ext cx="201168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Literal and wording scan</a:t>
            </a:r>
            <a:endParaRPr lang="en-US" sz="1400" dirty="0"/>
          </a:p>
        </p:txBody>
      </p:sp>
      <p:sp>
        <p:nvSpPr>
          <p:cNvPr id="16" name="Card 81"/>
          <p:cNvSpPr/>
          <p:nvPr/>
        </p:nvSpPr>
        <p:spPr>
          <a:xfrm>
            <a:off x="3611880" y="4572000"/>
            <a:ext cx="201168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463 tests, physics</a:t>
            </a:r>
            <a:endParaRPr lang="en-US" sz="1400" dirty="0"/>
          </a:p>
          <a:p>
            <a:pPr indent="0" marL="0">
              <a:buNone/>
            </a:pPr>
            <a:r>
              <a:rPr lang="en-US" sz="1400" dirty="0">
                <a:solidFill>
                  <a:schemeClr val="tx1"/>
                </a:solidFill>
              </a:rPr>
              <a:t>golden-tested</a:t>
            </a:r>
            <a:endParaRPr lang="en-US" sz="1400" dirty="0"/>
          </a:p>
        </p:txBody>
      </p:sp>
      <p:sp>
        <p:nvSpPr>
          <p:cNvPr id="17" name="Shape 82"/>
          <p:cNvSpPr/>
          <p:nvPr/>
        </p:nvSpPr>
        <p:spPr>
          <a:xfrm>
            <a:off x="6080760" y="1600200"/>
            <a:ext cx="3840480" cy="4160520"/>
          </a:xfrm>
          <a:prstGeom prst="roundRect">
            <a:avLst>
              <a:gd name="adj" fmla="val 1905"/>
            </a:avLst>
          </a:prstGeom>
          <a:solidFill>
            <a:schemeClr val="bg2"/>
          </a:solidFill>
          <a:ln w="12700">
            <a:solidFill>
              <a:srgbClr val="141A25"/>
            </a:solidFill>
            <a:prstDash val="solid"/>
          </a:ln>
        </p:spPr>
      </p:sp>
      <p:sp>
        <p:nvSpPr>
          <p:cNvPr id="18" name="Text 83"/>
          <p:cNvSpPr txBox="1"/>
          <p:nvPr/>
        </p:nvSpPr>
        <p:spPr>
          <a:xfrm>
            <a:off x="6217920" y="1691640"/>
            <a:ext cx="3566160" cy="292608"/>
          </a:xfrm>
          <a:prstGeom prst="rect">
            <a:avLst/>
          </a:prstGeom>
          <a:noFill/>
          <a:ln/>
        </p:spPr>
        <p:txBody>
          <a:bodyPr wrap="square" lIns="0" tIns="0" rIns="0" bIns="0" rtlCol="0" anchor="t"/>
          <a:lstStyle/>
          <a:p>
            <a:pPr indent="0" marL="0">
              <a:buNone/>
            </a:pPr>
            <a:r>
              <a:rPr lang="en-US" sz="1500" b="1" dirty="0">
                <a:solidFill>
                  <a:schemeClr val="accent1"/>
                </a:solidFill>
              </a:rPr>
              <a:t>In the browser, at run time</a:t>
            </a:r>
            <a:endParaRPr lang="en-US" sz="1500" dirty="0"/>
          </a:p>
        </p:txBody>
      </p:sp>
      <p:sp>
        <p:nvSpPr>
          <p:cNvPr id="19" name="Text 84"/>
          <p:cNvSpPr txBox="1"/>
          <p:nvPr/>
        </p:nvSpPr>
        <p:spPr>
          <a:xfrm>
            <a:off x="6217920" y="1984248"/>
            <a:ext cx="3566160" cy="256032"/>
          </a:xfrm>
          <a:prstGeom prst="rect">
            <a:avLst/>
          </a:prstGeom>
          <a:noFill/>
          <a:ln/>
        </p:spPr>
        <p:txBody>
          <a:bodyPr wrap="square" lIns="0" tIns="0" rIns="0" bIns="0" rtlCol="0" anchor="t"/>
          <a:lstStyle/>
          <a:p>
            <a:pPr indent="0" marL="0">
              <a:buNone/>
            </a:pPr>
            <a:r>
              <a:rPr lang="en-US" sz="1100" dirty="0">
                <a:solidFill>
                  <a:schemeClr val="tx2"/>
                </a:solidFill>
              </a:rPr>
              <a:t>Next.js, React, TypeScript. No database</a:t>
            </a:r>
            <a:endParaRPr lang="en-US" sz="1100" dirty="0"/>
          </a:p>
        </p:txBody>
      </p:sp>
      <p:sp>
        <p:nvSpPr>
          <p:cNvPr id="20" name="Card 85"/>
          <p:cNvSpPr/>
          <p:nvPr/>
        </p:nvSpPr>
        <p:spPr>
          <a:xfrm>
            <a:off x="6217920" y="2377440"/>
            <a:ext cx="3566160" cy="731520"/>
          </a:xfrm>
          <a:prstGeom prst="roundRect">
            <a:avLst>
              <a:gd name="adj" fmla="val 10000"/>
            </a:avLst>
          </a:prstGeom>
          <a:solidFill>
            <a:schemeClr val="accent4"/>
          </a:solidFill>
          <a:ln>
            <a:solidFill>
              <a:srgbClr val="141A25"/>
            </a:solidFill>
          </a:ln>
        </p:spPr>
        <p:txBody>
          <a:bodyPr wrap="square" lIns="50800" tIns="101600" rIns="101600" bIns="50800" rtlCol="0" anchor="ctr"/>
          <a:lstStyle/>
          <a:p>
            <a:pPr indent="0" marL="0">
              <a:buNone/>
            </a:pPr>
            <a:r>
              <a:rPr lang="en-US" sz="1400" b="1" dirty="0">
                <a:solidFill>
                  <a:schemeClr val="bg1"/>
                </a:solidFill>
              </a:rPr>
              <a:t>One clock: site time. Every screen is a pure function of it and the scenario events</a:t>
            </a:r>
            <a:endParaRPr lang="en-US" sz="1400" dirty="0"/>
          </a:p>
        </p:txBody>
      </p:sp>
      <p:sp>
        <p:nvSpPr>
          <p:cNvPr id="21" name="Card 86"/>
          <p:cNvSpPr/>
          <p:nvPr/>
        </p:nvSpPr>
        <p:spPr>
          <a:xfrm>
            <a:off x="6217920" y="324612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PV model per array</a:t>
            </a:r>
            <a:endParaRPr lang="en-US" sz="1400" dirty="0"/>
          </a:p>
          <a:p>
            <a:pPr indent="0" marL="0">
              <a:buNone/>
            </a:pPr>
            <a:r>
              <a:rPr lang="en-US" sz="1400" dirty="0">
                <a:solidFill>
                  <a:schemeClr val="tx1"/>
                </a:solidFill>
              </a:rPr>
              <a:t>plus hazards</a:t>
            </a:r>
            <a:endParaRPr lang="en-US" sz="1400" dirty="0"/>
          </a:p>
        </p:txBody>
      </p:sp>
      <p:sp>
        <p:nvSpPr>
          <p:cNvPr id="22" name="Card 87"/>
          <p:cNvSpPr/>
          <p:nvPr/>
        </p:nvSpPr>
        <p:spPr>
          <a:xfrm>
            <a:off x="8069580" y="324612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Ranked queue</a:t>
            </a:r>
            <a:endParaRPr lang="en-US" sz="1400" dirty="0"/>
          </a:p>
          <a:p>
            <a:pPr indent="0" marL="0">
              <a:buNone/>
            </a:pPr>
            <a:r>
              <a:rPr lang="en-US" sz="1400" dirty="0">
                <a:solidFill>
                  <a:schemeClr val="tx1"/>
                </a:solidFill>
              </a:rPr>
              <a:t>fixed formula</a:t>
            </a:r>
            <a:endParaRPr lang="en-US" sz="1400" dirty="0"/>
          </a:p>
        </p:txBody>
      </p:sp>
      <p:sp>
        <p:nvSpPr>
          <p:cNvPr id="23" name="Card 88"/>
          <p:cNvSpPr/>
          <p:nvPr/>
        </p:nvSpPr>
        <p:spPr>
          <a:xfrm>
            <a:off x="6217920" y="406908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Crew plan</a:t>
            </a:r>
            <a:endParaRPr lang="en-US" sz="1400" dirty="0"/>
          </a:p>
          <a:p>
            <a:pPr indent="0" marL="0">
              <a:buNone/>
            </a:pPr>
            <a:r>
              <a:rPr lang="en-US" sz="1400" dirty="0">
                <a:solidFill>
                  <a:schemeClr val="tx1"/>
                </a:solidFill>
              </a:rPr>
              <a:t>HiGHS in WASM</a:t>
            </a:r>
            <a:endParaRPr lang="en-US" sz="1400" dirty="0"/>
          </a:p>
        </p:txBody>
      </p:sp>
      <p:sp>
        <p:nvSpPr>
          <p:cNvPr id="24" name="Card 89"/>
          <p:cNvSpPr/>
          <p:nvPr/>
        </p:nvSpPr>
        <p:spPr>
          <a:xfrm>
            <a:off x="8069580" y="406908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Detector</a:t>
            </a:r>
            <a:endParaRPr lang="en-US" sz="1400" dirty="0"/>
          </a:p>
          <a:p>
            <a:pPr indent="0" marL="0">
              <a:buNone/>
            </a:pPr>
            <a:r>
              <a:rPr lang="en-US" sz="1400" dirty="0">
                <a:solidFill>
                  <a:schemeClr val="tx1"/>
                </a:solidFill>
              </a:rPr>
              <a:t>ONNX Runtime Web</a:t>
            </a:r>
            <a:endParaRPr lang="en-US" sz="1400" dirty="0"/>
          </a:p>
        </p:txBody>
      </p:sp>
      <p:sp>
        <p:nvSpPr>
          <p:cNvPr id="25" name="Card 90"/>
          <p:cNvSpPr/>
          <p:nvPr/>
        </p:nvSpPr>
        <p:spPr>
          <a:xfrm>
            <a:off x="6217920" y="489204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3D twin</a:t>
            </a:r>
            <a:endParaRPr lang="en-US" sz="1400" dirty="0"/>
          </a:p>
          <a:p>
            <a:pPr indent="0" marL="0">
              <a:buNone/>
            </a:pPr>
            <a:r>
              <a:rPr lang="en-US" sz="1400" dirty="0">
                <a:solidFill>
                  <a:schemeClr val="tx1"/>
                </a:solidFill>
              </a:rPr>
              <a:t>React Three Fiber</a:t>
            </a:r>
            <a:endParaRPr lang="en-US" sz="1400" dirty="0"/>
          </a:p>
        </p:txBody>
      </p:sp>
      <p:sp>
        <p:nvSpPr>
          <p:cNvPr id="26" name="Card 91"/>
          <p:cNvSpPr/>
          <p:nvPr/>
        </p:nvSpPr>
        <p:spPr>
          <a:xfrm>
            <a:off x="8069580" y="489204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Glass overlay</a:t>
            </a:r>
            <a:endParaRPr lang="en-US" sz="1400" dirty="0"/>
          </a:p>
          <a:p>
            <a:pPr indent="0" marL="0">
              <a:buNone/>
            </a:pPr>
            <a:r>
              <a:rPr lang="en-US" sz="1400" dirty="0">
                <a:solidFill>
                  <a:schemeClr val="tx1"/>
                </a:solidFill>
              </a:rPr>
              <a:t>six screens</a:t>
            </a:r>
            <a:endParaRPr lang="en-US" sz="1400" dirty="0"/>
          </a:p>
        </p:txBody>
      </p:sp>
      <p:sp>
        <p:nvSpPr>
          <p:cNvPr id="27" name="Card 92"/>
          <p:cNvSpPr/>
          <p:nvPr/>
        </p:nvSpPr>
        <p:spPr>
          <a:xfrm>
            <a:off x="10241280" y="1600200"/>
            <a:ext cx="1401775" cy="1783080"/>
          </a:xfrm>
          <a:prstGeom prst="roundRect">
            <a:avLst>
              <a:gd name="adj" fmla="val 5219"/>
            </a:avLst>
          </a:prstGeom>
          <a:solidFill>
            <a:schemeClr val="bg2"/>
          </a:solidFill>
          <a:ln>
            <a:solidFill>
              <a:srgbClr val="141A25"/>
            </a:solidFill>
          </a:ln>
        </p:spPr>
        <p:txBody>
          <a:bodyPr wrap="square" lIns="50800" tIns="101600" rIns="101600" bIns="50800" rtlCol="0" anchor="ctr"/>
          <a:lstStyle/>
          <a:p>
            <a:pPr indent="0" marL="0">
              <a:buNone/>
            </a:pPr>
            <a:r>
              <a:rPr lang="en-US" sz="1400" b="1" dirty="0">
                <a:solidFill>
                  <a:schemeClr val="accent3"/>
                </a:solidFill>
              </a:rPr>
              <a:t>The one network call</a:t>
            </a:r>
            <a:endParaRPr lang="en-US" sz="1400" dirty="0"/>
          </a:p>
          <a:p>
            <a:pPr indent="0" marL="0">
              <a:buNone/>
            </a:pPr>
            <a:r>
              <a:rPr lang="en-US" sz="1400" dirty="0">
                <a:solidFill>
                  <a:schemeClr val="tx1"/>
                </a:solidFill>
              </a:rPr>
              <a:t>/api/triage to Groq. Reply cross-checked on the server</a:t>
            </a:r>
            <a:endParaRPr lang="en-US" sz="1400" dirty="0"/>
          </a:p>
        </p:txBody>
      </p:sp>
      <p:sp>
        <p:nvSpPr>
          <p:cNvPr id="28" name="Card 93"/>
          <p:cNvSpPr/>
          <p:nvPr/>
        </p:nvSpPr>
        <p:spPr>
          <a:xfrm>
            <a:off x="10241280" y="3977640"/>
            <a:ext cx="1401775" cy="1783080"/>
          </a:xfrm>
          <a:prstGeom prst="roundRect">
            <a:avLst>
              <a:gd name="adj" fmla="val 5219"/>
            </a:avLst>
          </a:prstGeom>
          <a:solidFill>
            <a:schemeClr val="accent2"/>
          </a:solidFill>
          <a:ln>
            <a:solidFill>
              <a:srgbClr val="141A25"/>
            </a:solidFill>
          </a:ln>
        </p:spPr>
        <p:txBody>
          <a:bodyPr wrap="square" lIns="50800" tIns="101600" rIns="101600" bIns="50800" rtlCol="0" anchor="ctr"/>
          <a:lstStyle/>
          <a:p>
            <a:pPr indent="0" marL="0">
              <a:buNone/>
            </a:pPr>
            <a:r>
              <a:rPr lang="en-US" sz="1500" b="1" dirty="0">
                <a:solidFill>
                  <a:schemeClr val="bg1"/>
                </a:solidFill>
              </a:rPr>
              <a:t>Operator</a:t>
            </a:r>
            <a:endParaRPr lang="en-US" sz="1400" dirty="0"/>
          </a:p>
          <a:p>
            <a:pPr indent="0" marL="0">
              <a:buNone/>
            </a:pPr>
            <a:r>
              <a:rPr lang="en-US" sz="1400" dirty="0">
                <a:solidFill>
                  <a:schemeClr val="bg1"/>
                </a:solidFill>
              </a:rPr>
              <a:t>approves or declines. Only then a work order</a:t>
            </a:r>
            <a:endParaRPr lang="en-US" sz="1400" dirty="0"/>
          </a:p>
        </p:txBody>
      </p:sp>
      <p:sp>
        <p:nvSpPr>
          <p:cNvPr id="29" name="Arrow 94"/>
          <p:cNvSpPr/>
          <p:nvPr/>
        </p:nvSpPr>
        <p:spPr>
          <a:xfrm>
            <a:off x="3200400" y="3579876"/>
            <a:ext cx="228600" cy="201168"/>
          </a:xfrm>
          <a:prstGeom prst="rightArrow">
            <a:avLst/>
          </a:prstGeom>
          <a:solidFill>
            <a:schemeClr val="accent1"/>
          </a:solidFill>
          <a:ln w="12700">
            <a:solidFill>
              <a:srgbClr val="F08B2A"/>
            </a:solidFill>
            <a:prstDash val="solid"/>
          </a:ln>
        </p:spPr>
      </p:sp>
      <p:sp>
        <p:nvSpPr>
          <p:cNvPr id="30" name="Arrow 95"/>
          <p:cNvSpPr/>
          <p:nvPr/>
        </p:nvSpPr>
        <p:spPr>
          <a:xfrm>
            <a:off x="5806440" y="3579876"/>
            <a:ext cx="228600" cy="201168"/>
          </a:xfrm>
          <a:prstGeom prst="rightArrow">
            <a:avLst/>
          </a:prstGeom>
          <a:solidFill>
            <a:schemeClr val="accent1"/>
          </a:solidFill>
          <a:ln w="12700">
            <a:solidFill>
              <a:srgbClr val="F08B2A"/>
            </a:solidFill>
            <a:prstDash val="solid"/>
          </a:ln>
        </p:spPr>
      </p:sp>
      <p:sp>
        <p:nvSpPr>
          <p:cNvPr id="31" name="Arrow 96"/>
          <p:cNvSpPr/>
          <p:nvPr/>
        </p:nvSpPr>
        <p:spPr>
          <a:xfrm>
            <a:off x="9966960" y="2395728"/>
            <a:ext cx="228600" cy="201168"/>
          </a:xfrm>
          <a:prstGeom prst="leftRightArrow">
            <a:avLst/>
          </a:prstGeom>
          <a:solidFill>
            <a:schemeClr val="accent1"/>
          </a:solidFill>
          <a:ln w="12700">
            <a:solidFill>
              <a:srgbClr val="F08B2A"/>
            </a:solidFill>
            <a:prstDash val="solid"/>
          </a:ln>
        </p:spPr>
      </p:sp>
      <p:sp>
        <p:nvSpPr>
          <p:cNvPr id="32" name="Arrow 97"/>
          <p:cNvSpPr/>
          <p:nvPr/>
        </p:nvSpPr>
        <p:spPr>
          <a:xfrm>
            <a:off x="9966960" y="4773168"/>
            <a:ext cx="228600" cy="201168"/>
          </a:xfrm>
          <a:prstGeom prst="rightArrow">
            <a:avLst/>
          </a:prstGeom>
          <a:solidFill>
            <a:schemeClr val="accent1"/>
          </a:solidFill>
          <a:ln w="12700">
            <a:solidFill>
              <a:srgbClr val="F08B2A"/>
            </a:solidFill>
            <a:prstDash val="solid"/>
          </a:ln>
        </p:spPr>
      </p:sp>
      <p:sp>
        <p:nvSpPr>
          <p:cNvPr id="33" name="Text 98"/>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100" dirty="0">
                <a:solidFill>
                  <a:schemeClr val="tx2"/>
                </a:solidFill>
              </a:rPr>
              <a:t>Data files in data/ are generated by scripts and committed. The site is 120 arrays in three zones on three inverters, modelled on a 500 MW block of Bhadla.</a:t>
            </a:r>
            <a:endParaRPr lang="en-US" sz="11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6  Prototype: technical feasibility, measured</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It is built, and these are measurements, not targets</a:t>
            </a:r>
            <a:endParaRPr lang="en-US" sz="2800" dirty="0"/>
          </a:p>
        </p:txBody>
      </p:sp>
      <p:graphicFrame>
        <p:nvGraphicFramePr>
          <p:cNvPr id="13" name="Table 99"/>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566160"/>
                <a:gridCol w="3291840"/>
                <a:gridCol w="4236415"/>
              </a:tblGrid>
              <a:tr h="0">
                <a:tc>
                  <a:txBody>
                    <a:bodyPr/>
                    <a:lstStyle/>
                    <a:p>
                      <a:pPr indent="0" marL="0">
                        <a:buNone/>
                      </a:pPr>
                      <a:r>
                        <a:rPr lang="en-US" sz="1400" b="1" dirty="0">
                          <a:solidFill>
                            <a:schemeClr val="tx2"/>
                          </a:solidFill>
                        </a:rPr>
                        <a:t>What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Result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How it was measured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r>
              <a:tr h="0">
                <a:tc>
                  <a:txBody>
                    <a:bodyPr/>
                    <a:lstStyle/>
                    <a:p>
                      <a:pPr indent="0" marL="0">
                        <a:buNone/>
                      </a:pPr>
                      <a:r>
                        <a:rPr lang="en-US" sz="1400" dirty="0">
                          <a:solidFill>
                            <a:schemeClr val="tx1"/>
                          </a:solidFill>
                        </a:rPr>
                        <a:t>Automated tests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463 passing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Run on every build, before it compiles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3D twin frame rate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60.1 fps, no frame over 20 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Chrome, at 1366×768 and 1920×1080, idle and mid-drag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Hazard drop to re-planned frame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31 to 40 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Real pointer in Chrome. Budget was 150 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Crew-plan solve, the site’s own days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10.8 ms; 1.1 ms under a heatwave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HiGHS in WebAssembly in Chrome. Cut off at 50 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Detector, class Cracked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AP@50 0.995</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Held-out test split, 42 images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Physics in the browser</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Matches the Python model</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Golden test, on every build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Layout at two screen sizes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Passes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No text under 14 px, nothing clipped, both widths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bl>
          </a:graphicData>
        </a:graphic>
      </p:graphicFrame>
      <p:sp>
        <p:nvSpPr>
          <p:cNvPr id="6" name="Card 100"/>
          <p:cNvSpPr/>
          <p:nvPr/>
        </p:nvSpPr>
        <p:spPr>
          <a:xfrm>
            <a:off x="548640" y="4846320"/>
            <a:ext cx="11094415" cy="822960"/>
          </a:xfrm>
          <a:prstGeom prst="roundRect">
            <a:avLst>
              <a:gd name="adj" fmla="val 8889"/>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Six screens, all working: </a:t>
            </a:r>
            <a:pPr indent="0" marL="0">
              <a:buNone/>
            </a:pPr>
            <a:r>
              <a:rPr lang="en-US" sz="1400" dirty="0">
                <a:solidFill>
                  <a:schemeClr val="tx1"/>
                </a:solidFill>
              </a:rPr>
              <a:t>Site, Incident, Queue, Analytics, Drones, Sandbox. Light and dark themes, a 2D map fallback when 3D cannot hold 30 fps, and a session that survives a reload.</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6  Prototype: what is real and what is not</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What is real, what is simulated, what is assumed, what is not built</a:t>
            </a:r>
            <a:endParaRPr lang="en-US" sz="2800" dirty="0"/>
          </a:p>
        </p:txBody>
      </p:sp>
      <p:sp>
        <p:nvSpPr>
          <p:cNvPr id="5" name="Card 101"/>
          <p:cNvSpPr/>
          <p:nvPr/>
        </p:nvSpPr>
        <p:spPr>
          <a:xfrm>
            <a:off x="548640" y="1600200"/>
            <a:ext cx="2636444" cy="365760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3"/>
                </a:solidFill>
              </a:rPr>
              <a:t>Real</a:t>
            </a:r>
            <a:endParaRPr lang="en-US" sz="1400" dirty="0"/>
          </a:p>
          <a:p>
            <a:pPr marL="342900" indent="-342900">
              <a:spcAft>
                <a:spcPts val="800"/>
              </a:spcAft>
              <a:buSzPct val="100000"/>
              <a:buChar char="•"/>
            </a:pPr>
            <a:r>
              <a:rPr lang="en-US" sz="1400" dirty="0">
                <a:solidFill>
                  <a:schemeClr val="tx1"/>
                </a:solidFill>
              </a:rPr>
              <a:t>Detector trained by us, measured on a held-out test split</a:t>
            </a:r>
            <a:endParaRPr lang="en-US" sz="1400" dirty="0"/>
          </a:p>
          <a:p>
            <a:pPr marL="342900" indent="-342900">
              <a:spcAft>
                <a:spcPts val="800"/>
              </a:spcAft>
              <a:buSzPct val="100000"/>
              <a:buChar char="•"/>
            </a:pPr>
            <a:r>
              <a:rPr lang="en-US" sz="1400" dirty="0">
                <a:solidFill>
                  <a:schemeClr val="tx1"/>
                </a:solidFill>
              </a:rPr>
              <a:t>Thermal band measured from a real UAV frame</a:t>
            </a:r>
            <a:endParaRPr lang="en-US" sz="1400" dirty="0"/>
          </a:p>
          <a:p>
            <a:pPr marL="342900" indent="-342900">
              <a:spcAft>
                <a:spcPts val="800"/>
              </a:spcAft>
              <a:buSzPct val="100000"/>
              <a:buChar char="•"/>
            </a:pPr>
            <a:r>
              <a:rPr lang="en-US" sz="1400" dirty="0">
                <a:solidFill>
                  <a:schemeClr val="tx1"/>
                </a:solidFill>
              </a:rPr>
              <a:t>Tariffs as awarded by SECI for Bhadla Phase-III</a:t>
            </a:r>
            <a:endParaRPr lang="en-US" sz="1400" dirty="0"/>
          </a:p>
          <a:p>
            <a:pPr marL="342900" indent="-342900">
              <a:spcAft>
                <a:spcPts val="800"/>
              </a:spcAft>
              <a:buSzPct val="100000"/>
              <a:buChar char="•"/>
            </a:pPr>
            <a:r>
              <a:rPr lang="en-US" sz="1400" dirty="0">
                <a:solidFill>
                  <a:schemeClr val="tx1"/>
                </a:solidFill>
              </a:rPr>
              <a:t>PV equations from NREL PVWatts</a:t>
            </a:r>
            <a:endParaRPr lang="en-US" sz="1400" dirty="0"/>
          </a:p>
        </p:txBody>
      </p:sp>
      <p:sp>
        <p:nvSpPr>
          <p:cNvPr id="6" name="Card 102"/>
          <p:cNvSpPr/>
          <p:nvPr/>
        </p:nvSpPr>
        <p:spPr>
          <a:xfrm>
            <a:off x="3367964" y="1600200"/>
            <a:ext cx="2636444" cy="365760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4"/>
                </a:solidFill>
              </a:rPr>
              <a:t>Simulated</a:t>
            </a:r>
            <a:endParaRPr lang="en-US" sz="1400" dirty="0"/>
          </a:p>
          <a:p>
            <a:pPr marL="342900" indent="-342900">
              <a:spcAft>
                <a:spcPts val="800"/>
              </a:spcAft>
              <a:buSzPct val="100000"/>
              <a:buChar char="•"/>
            </a:pPr>
            <a:r>
              <a:rPr lang="en-US" sz="1400" dirty="0">
                <a:solidFill>
                  <a:schemeClr val="tx1"/>
                </a:solidFill>
              </a:rPr>
              <a:t>Telemetry for all 120 arrays, from the PV model with stated coefficients</a:t>
            </a:r>
            <a:endParaRPr lang="en-US" sz="1400" dirty="0"/>
          </a:p>
          <a:p>
            <a:pPr marL="342900" indent="-342900">
              <a:spcAft>
                <a:spcPts val="800"/>
              </a:spcAft>
              <a:buSzPct val="100000"/>
              <a:buChar char="•"/>
            </a:pPr>
            <a:r>
              <a:rPr lang="en-US" sz="1400" dirty="0">
                <a:solidFill>
                  <a:schemeClr val="tx1"/>
                </a:solidFill>
              </a:rPr>
              <a:t>The drone flight, in the 3D scene</a:t>
            </a:r>
            <a:endParaRPr lang="en-US" sz="1400" dirty="0"/>
          </a:p>
          <a:p>
            <a:pPr marL="342900" indent="-342900">
              <a:spcAft>
                <a:spcPts val="800"/>
              </a:spcAft>
              <a:buSzPct val="100000"/>
              <a:buChar char="•"/>
            </a:pPr>
            <a:r>
              <a:rPr lang="en-US" sz="1400" dirty="0">
                <a:solidFill>
                  <a:schemeClr val="tx1"/>
                </a:solidFill>
              </a:rPr>
              <a:t>The 72 h weather forecast</a:t>
            </a:r>
            <a:endParaRPr lang="en-US" sz="1400" dirty="0"/>
          </a:p>
        </p:txBody>
      </p:sp>
      <p:sp>
        <p:nvSpPr>
          <p:cNvPr id="7" name="Card 103"/>
          <p:cNvSpPr/>
          <p:nvPr/>
        </p:nvSpPr>
        <p:spPr>
          <a:xfrm>
            <a:off x="6187288" y="1600200"/>
            <a:ext cx="2636444" cy="365760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1"/>
                </a:solidFill>
              </a:rPr>
              <a:t>Declared assumption</a:t>
            </a:r>
            <a:endParaRPr lang="en-US" sz="1400" dirty="0"/>
          </a:p>
          <a:p>
            <a:pPr marL="342900" indent="-342900">
              <a:spcAft>
                <a:spcPts val="800"/>
              </a:spcAft>
              <a:buSzPct val="100000"/>
              <a:buChar char="•"/>
            </a:pPr>
            <a:r>
              <a:rPr lang="en-US" sz="1400" dirty="0">
                <a:solidFill>
                  <a:schemeClr val="tx1"/>
                </a:solidFill>
              </a:rPr>
              <a:t>Hazard strengths in the sandbox</a:t>
            </a:r>
            <a:endParaRPr lang="en-US" sz="1400" dirty="0"/>
          </a:p>
          <a:p>
            <a:pPr marL="342900" indent="-342900">
              <a:spcAft>
                <a:spcPts val="800"/>
              </a:spcAft>
              <a:buSzPct val="100000"/>
              <a:buChar char="•"/>
            </a:pPr>
            <a:r>
              <a:rPr lang="en-US" sz="1400" dirty="0">
                <a:solidFill>
                  <a:schemeClr val="tx1"/>
                </a:solidFill>
              </a:rPr>
              <a:t>Crew hours for each kind of repair</a:t>
            </a:r>
            <a:endParaRPr lang="en-US" sz="1400" dirty="0"/>
          </a:p>
          <a:p>
            <a:pPr marL="342900" indent="-342900">
              <a:spcAft>
                <a:spcPts val="800"/>
              </a:spcAft>
              <a:buSzPct val="100000"/>
              <a:buChar char="•"/>
            </a:pPr>
            <a:r>
              <a:rPr lang="en-US" sz="1400" dirty="0">
                <a:solidFill>
                  <a:schemeClr val="tx1"/>
                </a:solidFill>
              </a:rPr>
              <a:t>Forecast band, ±5 % widening to ±15 %</a:t>
            </a:r>
            <a:endParaRPr lang="en-US" sz="1400" dirty="0"/>
          </a:p>
          <a:p>
            <a:pPr marL="342900" indent="-342900">
              <a:spcAft>
                <a:spcPts val="800"/>
              </a:spcAft>
              <a:buSzPct val="100000"/>
              <a:buChar char="•"/>
            </a:pPr>
            <a:r>
              <a:rPr lang="en-US" sz="1400" dirty="0">
                <a:solidFill>
                  <a:schemeClr val="tx1"/>
                </a:solidFill>
              </a:rPr>
              <a:t>Thermal span and the dose threshold behind the deadline</a:t>
            </a:r>
            <a:endParaRPr lang="en-US" sz="1400" dirty="0"/>
          </a:p>
        </p:txBody>
      </p:sp>
      <p:sp>
        <p:nvSpPr>
          <p:cNvPr id="8" name="Card 104"/>
          <p:cNvSpPr/>
          <p:nvPr/>
        </p:nvSpPr>
        <p:spPr>
          <a:xfrm>
            <a:off x="9006611" y="1600200"/>
            <a:ext cx="2636444" cy="365760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2"/>
                </a:solidFill>
              </a:rPr>
              <a:t>Not built</a:t>
            </a:r>
            <a:endParaRPr lang="en-US" sz="1400" dirty="0"/>
          </a:p>
          <a:p>
            <a:pPr marL="342900" indent="-342900">
              <a:spcAft>
                <a:spcPts val="800"/>
              </a:spcAft>
              <a:buSzPct val="100000"/>
              <a:buChar char="•"/>
            </a:pPr>
            <a:r>
              <a:rPr lang="en-US" sz="1400" dirty="0">
                <a:solidFill>
                  <a:schemeClr val="tx1"/>
                </a:solidFill>
              </a:rPr>
              <a:t>Thermal classifier: no model, no metric</a:t>
            </a:r>
            <a:endParaRPr lang="en-US" sz="1400" dirty="0"/>
          </a:p>
          <a:p>
            <a:pPr marL="342900" indent="-342900">
              <a:spcAft>
                <a:spcPts val="800"/>
              </a:spcAft>
              <a:buSzPct val="100000"/>
              <a:buChar char="•"/>
            </a:pPr>
            <a:r>
              <a:rPr lang="en-US" sz="1400" dirty="0">
                <a:solidFill>
                  <a:schemeClr val="tx1"/>
                </a:solidFill>
              </a:rPr>
              <a:t>Connection to a real SCADA system or drone</a:t>
            </a:r>
            <a:endParaRPr lang="en-US" sz="1400" dirty="0"/>
          </a:p>
          <a:p>
            <a:pPr marL="342900" indent="-342900">
              <a:spcAft>
                <a:spcPts val="800"/>
              </a:spcAft>
              <a:buSzPct val="100000"/>
              <a:buChar char="•"/>
            </a:pPr>
            <a:r>
              <a:rPr lang="en-US" sz="1400" dirty="0">
                <a:solidFill>
                  <a:schemeClr val="tx1"/>
                </a:solidFill>
              </a:rPr>
              <a:t>Any deviation settlement charge</a:t>
            </a:r>
            <a:endParaRPr lang="en-US" sz="1400" dirty="0"/>
          </a:p>
        </p:txBody>
      </p:sp>
      <p:sp>
        <p:nvSpPr>
          <p:cNvPr id="9" name="Card 105"/>
          <p:cNvSpPr/>
          <p:nvPr/>
        </p:nvSpPr>
        <p:spPr>
          <a:xfrm>
            <a:off x="548640" y="5440680"/>
            <a:ext cx="11094415" cy="822960"/>
          </a:xfrm>
          <a:prstGeom prst="roundRect">
            <a:avLst>
              <a:gd name="adj" fmla="val 8889"/>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Evidence stays with the array it was captured on. </a:t>
            </a:r>
            <a:pPr indent="0" marL="0">
              <a:buNone/>
            </a:pPr>
            <a:r>
              <a:rPr lang="en-US" sz="1400" dirty="0">
                <a:solidFill>
                  <a:schemeClr val="tx1"/>
                </a:solidFill>
              </a:rPr>
              <a:t>We hold real imagery for B-17 only, and no other array is allowed to show it.</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7  Future scope: research, patent, startup</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What comes next, and how far it can go</a:t>
            </a:r>
            <a:endParaRPr lang="en-US" sz="2800" dirty="0"/>
          </a:p>
        </p:txBody>
      </p:sp>
      <p:sp>
        <p:nvSpPr>
          <p:cNvPr id="5" name="Card 106"/>
          <p:cNvSpPr/>
          <p:nvPr/>
        </p:nvSpPr>
        <p:spPr>
          <a:xfrm>
            <a:off x="548640" y="1600200"/>
            <a:ext cx="2636444" cy="356616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3"/>
                </a:solidFill>
              </a:rPr>
              <a:t>Scales by design</a:t>
            </a:r>
            <a:endParaRPr lang="en-US" sz="1400" dirty="0"/>
          </a:p>
          <a:p>
            <a:pPr marL="342900" indent="-342900">
              <a:spcAft>
                <a:spcPts val="800"/>
              </a:spcAft>
              <a:buSzPct val="100000"/>
              <a:buChar char="•"/>
            </a:pPr>
            <a:r>
              <a:rPr lang="en-US" sz="1400" dirty="0">
                <a:solidFill>
                  <a:schemeClr val="tx1"/>
                </a:solidFill>
              </a:rPr>
              <a:t>Every array is evaluated by the same function, so a larger plant is more rows, not a new design</a:t>
            </a:r>
            <a:endParaRPr lang="en-US" sz="1400" dirty="0"/>
          </a:p>
          <a:p>
            <a:pPr marL="342900" indent="-342900">
              <a:spcAft>
                <a:spcPts val="800"/>
              </a:spcAft>
              <a:buSzPct val="100000"/>
              <a:buChar char="•"/>
            </a:pPr>
            <a:r>
              <a:rPr lang="en-US" sz="1400" dirty="0">
                <a:solidFill>
                  <a:schemeClr val="tx1"/>
                </a:solidFill>
              </a:rPr>
              <a:t>Reasoning runs in the browser: a new site needs no new server</a:t>
            </a:r>
            <a:endParaRPr lang="en-US" sz="1400" dirty="0"/>
          </a:p>
          <a:p>
            <a:pPr marL="342900" indent="-342900">
              <a:spcAft>
                <a:spcPts val="800"/>
              </a:spcAft>
              <a:buSzPct val="100000"/>
              <a:buChar char="•"/>
            </a:pPr>
            <a:r>
              <a:rPr lang="en-US" sz="1400" dirty="0">
                <a:solidFill>
                  <a:schemeClr val="tx1"/>
                </a:solidFill>
              </a:rPr>
              <a:t>The simulator is the one part to replace, with the plant’s own SCADA feed</a:t>
            </a:r>
            <a:endParaRPr lang="en-US" sz="1400" dirty="0"/>
          </a:p>
        </p:txBody>
      </p:sp>
      <p:sp>
        <p:nvSpPr>
          <p:cNvPr id="6" name="Card 107"/>
          <p:cNvSpPr/>
          <p:nvPr/>
        </p:nvSpPr>
        <p:spPr>
          <a:xfrm>
            <a:off x="3367964" y="1600200"/>
            <a:ext cx="2636444" cy="356616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1"/>
                </a:solidFill>
              </a:rPr>
              <a:t>Research</a:t>
            </a:r>
            <a:endParaRPr lang="en-US" sz="1400" dirty="0"/>
          </a:p>
          <a:p>
            <a:pPr marL="342900" indent="-342900">
              <a:spcAft>
                <a:spcPts val="800"/>
              </a:spcAft>
              <a:buSzPct val="100000"/>
              <a:buChar char="•"/>
            </a:pPr>
            <a:r>
              <a:rPr lang="en-US" sz="1400" dirty="0">
                <a:solidFill>
                  <a:schemeClr val="tx1"/>
                </a:solidFill>
              </a:rPr>
              <a:t>Finish the thermal classifier and report its held-out metric per class</a:t>
            </a:r>
            <a:endParaRPr lang="en-US" sz="1400" dirty="0"/>
          </a:p>
          <a:p>
            <a:pPr marL="342900" indent="-342900">
              <a:spcAft>
                <a:spcPts val="800"/>
              </a:spcAft>
              <a:buSzPct val="100000"/>
              <a:buChar char="•"/>
            </a:pPr>
            <a:r>
              <a:rPr lang="en-US" sz="1400" dirty="0">
                <a:solidFill>
                  <a:schemeClr val="tx1"/>
                </a:solidFill>
              </a:rPr>
              <a:t>Fit the forecast band to real forecast misses</a:t>
            </a:r>
            <a:endParaRPr lang="en-US" sz="1400" dirty="0"/>
          </a:p>
          <a:p>
            <a:pPr marL="342900" indent="-342900">
              <a:spcAft>
                <a:spcPts val="800"/>
              </a:spcAft>
              <a:buSzPct val="100000"/>
              <a:buChar char="•"/>
            </a:pPr>
            <a:r>
              <a:rPr lang="en-US" sz="1400" dirty="0">
                <a:solidFill>
                  <a:schemeClr val="tx1"/>
                </a:solidFill>
              </a:rPr>
              <a:t>Radiometric thermal data, and field validation of the deadline model</a:t>
            </a:r>
            <a:endParaRPr lang="en-US" sz="1400" dirty="0"/>
          </a:p>
        </p:txBody>
      </p:sp>
      <p:sp>
        <p:nvSpPr>
          <p:cNvPr id="7" name="Card 108"/>
          <p:cNvSpPr/>
          <p:nvPr/>
        </p:nvSpPr>
        <p:spPr>
          <a:xfrm>
            <a:off x="6187288" y="1600200"/>
            <a:ext cx="2636444" cy="356616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1"/>
                </a:solidFill>
              </a:rPr>
              <a:t>Patent</a:t>
            </a:r>
            <a:endParaRPr lang="en-US" sz="1400" dirty="0"/>
          </a:p>
          <a:p>
            <a:pPr marL="342900" indent="-342900">
              <a:spcAft>
                <a:spcPts val="800"/>
              </a:spcAft>
              <a:buSzPct val="100000"/>
              <a:buChar char="•"/>
            </a:pPr>
            <a:r>
              <a:rPr lang="en-US" sz="1400" dirty="0">
                <a:solidFill>
                  <a:schemeClr val="tx1"/>
                </a:solidFill>
              </a:rPr>
              <a:t>None filed</a:t>
            </a:r>
            <a:endParaRPr lang="en-US" sz="1400" dirty="0"/>
          </a:p>
          <a:p>
            <a:pPr marL="342900" indent="-342900">
              <a:spcAft>
                <a:spcPts val="800"/>
              </a:spcAft>
              <a:buSzPct val="100000"/>
              <a:buChar char="•"/>
            </a:pPr>
            <a:r>
              <a:rPr lang="en-US" sz="1400" dirty="0">
                <a:solidFill>
                  <a:schemeClr val="tx1"/>
                </a:solidFill>
              </a:rPr>
              <a:t>Candidate for a novelty search: defect, mechanism and forecast turned into a repair deadline and a crew plan that re-derives live</a:t>
            </a:r>
            <a:endParaRPr lang="en-US" sz="1400" dirty="0"/>
          </a:p>
        </p:txBody>
      </p:sp>
      <p:sp>
        <p:nvSpPr>
          <p:cNvPr id="8" name="Card 109"/>
          <p:cNvSpPr/>
          <p:nvPr/>
        </p:nvSpPr>
        <p:spPr>
          <a:xfrm>
            <a:off x="9006611" y="1600200"/>
            <a:ext cx="2636444" cy="356616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1"/>
                </a:solidFill>
              </a:rPr>
              <a:t>Startup</a:t>
            </a:r>
            <a:endParaRPr lang="en-US" sz="1400" dirty="0"/>
          </a:p>
          <a:p>
            <a:pPr marL="342900" indent="-342900">
              <a:spcAft>
                <a:spcPts val="800"/>
              </a:spcAft>
              <a:buSzPct val="100000"/>
              <a:buChar char="•"/>
            </a:pPr>
            <a:r>
              <a:rPr lang="en-US" sz="1400" dirty="0">
                <a:solidFill>
                  <a:schemeClr val="tx1"/>
                </a:solidFill>
              </a:rPr>
              <a:t>Likely users: O&amp;M contractors and owners of utility-scale plants</a:t>
            </a:r>
            <a:endParaRPr lang="en-US" sz="1400" dirty="0"/>
          </a:p>
          <a:p>
            <a:pPr marL="342900" indent="-342900">
              <a:spcAft>
                <a:spcPts val="800"/>
              </a:spcAft>
              <a:buSzPct val="100000"/>
              <a:buChar char="•"/>
            </a:pPr>
            <a:r>
              <a:rPr lang="en-US" sz="1400" dirty="0">
                <a:solidFill>
                  <a:schemeClr val="tx1"/>
                </a:solidFill>
              </a:rPr>
              <a:t>Commercial use needs a permissively licensed detector: today’s is AGPL-3.0 through Ultralytics</a:t>
            </a:r>
            <a:endParaRPr lang="en-US" sz="1400" dirty="0"/>
          </a:p>
        </p:txBody>
      </p:sp>
      <p:sp>
        <p:nvSpPr>
          <p:cNvPr id="9" name="Text 110"/>
          <p:cNvSpPr txBox="1"/>
          <p:nvPr/>
        </p:nvSpPr>
        <p:spPr>
          <a:xfrm>
            <a:off x="548640" y="5303520"/>
            <a:ext cx="11094415" cy="274320"/>
          </a:xfrm>
          <a:prstGeom prst="rect">
            <a:avLst/>
          </a:prstGeom>
          <a:noFill/>
          <a:ln/>
        </p:spPr>
        <p:txBody>
          <a:bodyPr wrap="square" lIns="0" tIns="0" rIns="0" bIns="0" rtlCol="0" anchor="t"/>
          <a:lstStyle/>
          <a:p>
            <a:pPr indent="0" marL="0">
              <a:buNone/>
            </a:pPr>
            <a:r>
              <a:rPr lang="en-US" sz="1200" dirty="0">
                <a:solidFill>
                  <a:schemeClr val="tx2"/>
                </a:solidFill>
              </a:rPr>
              <a:t>Tested to 120 arrays. No larger figure is claimed.</a:t>
            </a:r>
            <a:endParaRPr lang="en-US" sz="12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Declarations and credits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Everything we did not write ourselves</a:t>
            </a:r>
            <a:endParaRPr lang="en-US" sz="2800" dirty="0"/>
          </a:p>
        </p:txBody>
      </p:sp>
      <p:graphicFrame>
        <p:nvGraphicFramePr>
          <p:cNvPr id="16" name="Table 111"/>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920240"/>
                <a:gridCol w="6858000"/>
                <a:gridCol w="2316175"/>
              </a:tblGrid>
              <a:tr h="0">
                <a:tc>
                  <a:txBody>
                    <a:bodyPr/>
                    <a:lstStyle/>
                    <a:p>
                      <a:pPr indent="0" marL="0">
                        <a:buNone/>
                      </a:pPr>
                      <a:r>
                        <a:rPr lang="en-US" sz="1400" b="1" dirty="0">
                          <a:solidFill>
                            <a:schemeClr val="tx2"/>
                          </a:solidFill>
                        </a:rPr>
                        <a:t>Kind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What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Licence or terms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r>
              <a:tr h="0">
                <a:tc>
                  <a:txBody>
                    <a:bodyPr/>
                    <a:lstStyle/>
                    <a:p>
                      <a:pPr indent="0" marL="0">
                        <a:buNone/>
                      </a:pPr>
                      <a:r>
                        <a:rPr lang="en-US" sz="1400" dirty="0">
                          <a:solidFill>
                            <a:schemeClr val="tx1"/>
                          </a:solidFill>
                        </a:rPr>
                        <a:t>Dataset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Solar Panel Fault Detection v2, Roboflow Universe: 921 images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CC BY 4.0</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Dataset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InfraredSolarModules, Raptor Maps: 20,000 thermal images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MIT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Pre-trained model</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Ultralytics YOLOv8n, fine-tuned by us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AGPL-3.0</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External API</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Groq, model openai/gpt-oss-120b: the one network call</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Groq terms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Libraries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Next.js 15.5, React 19.1, three 0.180, React Three Fiber 9.6, drei, zustand, zod, Tailwind 4</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MIT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Libraries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onnxruntime-web 1.19.2, highs 1.15.3 (HiGHS in WebAssembly)</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MIT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Libraries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postprocessing; lucide-react; playwright-core and TypeScript (build only)</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Zlib; ISC; Apache-2.0</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Method and data</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NREL PVWatts equations; SECI Bhadla Phase-III tariffs; IBM Plex typeface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Cited; cited; OFL</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bl>
          </a:graphicData>
        </a:graphic>
      </p:graphicFrame>
      <p:sp>
        <p:nvSpPr>
          <p:cNvPr id="6" name="Card 112"/>
          <p:cNvSpPr/>
          <p:nvPr/>
        </p:nvSpPr>
        <p:spPr>
          <a:xfrm>
            <a:off x="548640" y="4983480"/>
            <a:ext cx="7223760" cy="1051560"/>
          </a:xfrm>
          <a:prstGeom prst="roundRect">
            <a:avLst>
              <a:gd name="adj" fmla="val 6957"/>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Reference we owe: </a:t>
            </a:r>
            <a:pPr indent="0" marL="0">
              <a:buNone/>
            </a:pPr>
            <a:r>
              <a:rPr lang="en-US" sz="1400" dirty="0">
                <a:solidFill>
                  <a:schemeClr val="tx1"/>
                </a:solidFill>
              </a:rPr>
              <a:t>the loop follows the RAISE-winning Robinsun solar agent. We rebuilt it with a trained defect model and a physics-grounded simulation in place of a physical drone. No personal or proprietary data is used.</a:t>
            </a:r>
            <a:endParaRPr lang="en-US" sz="1400" dirty="0"/>
          </a:p>
        </p:txBody>
      </p:sp>
      <p:sp>
        <p:nvSpPr>
          <p:cNvPr id="7" name="Card 113"/>
          <p:cNvSpPr/>
          <p:nvPr/>
        </p:nvSpPr>
        <p:spPr>
          <a:xfrm>
            <a:off x="7955280" y="4983480"/>
            <a:ext cx="3687775" cy="1051560"/>
          </a:xfrm>
          <a:prstGeom prst="roundRect">
            <a:avLst>
              <a:gd name="adj" fmla="val 6957"/>
            </a:avLst>
          </a:prstGeom>
          <a:solidFill>
            <a:schemeClr val="bg2"/>
          </a:solidFill>
          <a:ln>
            <a:solidFill>
              <a:srgbClr val="141A25"/>
            </a:solidFill>
          </a:ln>
        </p:spPr>
        <p:txBody>
          <a:bodyPr wrap="square" lIns="127000" tIns="152400" rIns="152400" bIns="127000" rtlCol="0" anchor="ctr"/>
          <a:lstStyle/>
          <a:p>
            <a:pPr indent="0" marL="0">
              <a:spcAft>
                <a:spcPts val="200"/>
              </a:spcAft>
              <a:buNone/>
            </a:pPr>
            <a:r>
              <a:rPr lang="en-US" sz="1500" b="1" dirty="0">
                <a:solidFill>
                  <a:schemeClr val="accent1"/>
                </a:solidFill>
              </a:rPr>
              <a:t>Team SIGMOID</a:t>
            </a:r>
            <a:endParaRPr lang="en-US" sz="1400" dirty="0"/>
          </a:p>
          <a:p>
            <a:pPr indent="0" marL="0">
              <a:buNone/>
            </a:pPr>
            <a:r>
              <a:rPr lang="en-US" sz="1400" dirty="0">
                <a:solidFill>
                  <a:schemeClr val="tx1"/>
                </a:solidFill>
              </a:rPr>
              <a:t>Rehaan Ahmad Khan, Shantanu Singh, Lakshita Rawat, Krishna Agarwal</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urya Ironbow">
  <a:themeElements>
    <a:clrScheme name="Surya Ironbow">
      <a:dk1>
        <a:srgbClr val="E6ECF4"/>
      </a:dk1>
      <a:lt1>
        <a:srgbClr val="090D14"/>
      </a:lt1>
      <a:dk2>
        <a:srgbClr val="A3AEC0"/>
      </a:dk2>
      <a:lt2>
        <a:srgbClr val="141A25"/>
      </a:lt2>
      <a:accent1>
        <a:srgbClr val="F08B2A"/>
      </a:accent1>
      <a:accent2>
        <a:srgbClr val="E0584B"/>
      </a:accent2>
      <a:accent3>
        <a:srgbClr val="3FD4B8"/>
      </a:accent3>
      <a:accent4>
        <a:srgbClr val="FFC94D"/>
      </a:accent4>
      <a:accent5>
        <a:srgbClr val="9B2A63"/>
      </a:accent5>
      <a:accent6>
        <a:srgbClr val="24406B"/>
      </a:accent6>
      <a:hlink>
        <a:srgbClr val="3FD4B8"/>
      </a:hlink>
      <a:folHlink>
        <a:srgbClr val="A3AEC0"/>
      </a:folHlink>
    </a:clrScheme>
    <a:fontScheme name="Surya Ironbo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Team SIGMOID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SURYA AGENT - Round 1</dc:title>
  <dc:subject>PptxGenJS Presentation</dc:subject>
  <dc:creator>Team SIGMOID</dc:creator>
  <cp:lastModifiedBy>Team SIGMOID</cp:lastModifiedBy>
  <cp:revision>1</cp:revision>
  <dcterms:created xsi:type="dcterms:W3CDTF">2026-10-07T11:41:15Z</dcterms:created>
  <dcterms:modified xsi:type="dcterms:W3CDTF">2026-10-07T11:41:15Z</dcterms:modified>
</cp:coreProperties>
</file>