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ba636d86-cb34-1ca4-f8e2-baec68522974}">
          <p14:sldIdLst>
            <p14:sldId id="256"/>
          </p14:sldIdLst>
        </p14:section>
        <p14:section name="Problem" id="{25bf756f-c0d4-ab9e-769c-9fab62e1faed}">
          <p14:sldIdLst>
            <p14:sldId id="257"/>
          </p14:sldIdLst>
        </p14:section>
        <p14:section name="Solution" id="{5863f8d6-ae91-4cd2-cffe-2254bfbb55b9}">
          <p14:sldIdLst>
            <p14:sldId id="258"/>
          </p14:sldIdLst>
        </p14:section>
        <p14:section name="Technology" id="{5d3c6b0e-08d2-92ff-9e48-0b47deca6ec0}">
          <p14:sldIdLst>
            <p14:sldId id="259"/>
          </p14:sldIdLst>
        </p14:section>
        <p14:section name="USP" id="{cc6e3916-c85a-2a7e-9bdb-05a3336e294b}">
          <p14:sldIdLst>
            <p14:sldId id="260"/>
          </p14:sldIdLst>
        </p14:section>
        <p14:section name="Feasibility" id="{20974410-750d-c532-9815-4e8cf7574208}">
          <p14:sldIdLst>
            <p14:sldId id="261"/>
          </p14:sldIdLst>
        </p14:section>
        <p14:section name="Impact" id="{eebea2f0-c6a0-59c0-1c0a-bfff06b34914}">
          <p14:sldIdLst>
            <p14:sldId id="262"/>
          </p14:sldIdLst>
        </p14:section>
        <p14:section name="References" id="{d984e348-8c5d-90a2-7b4f-62f5bc56a464}">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0B3C6F"/>
                </a:solidFill>
                <a:latin typeface="Montserrat"/>
              </a:defRPr>
            </a:pPr>
            <a:r>
              <a:rPr sz="1000" b="0" i="0" u="none" strike="noStrike">
                <a:solidFill>
                  <a:srgbClr val="0B3C6F"/>
                </a:solidFill>
                <a:latin typeface="Montserrat"/>
              </a:rPr>
              <a:t>Energy lost if the repair starts then (MWh)</a:t>
            </a:r>
          </a:p>
        </c:rich>
      </c:tx>
      <c:layout/>
      <c:overlay val="0"/>
    </c:title>
    <c:autoTitleDeleted val="0"/>
    <c:plotArea>
      <c:layout/>
      <c:barChart>
        <c:barDir val="col"/>
        <c:grouping val="clustered"/>
        <c:varyColors val="0"/>
        <c:ser>
          <c:idx val="0"/>
          <c:order val="0"/>
          <c:tx>
            <c:strRef>
              <c:f>Sheet1!$B$1</c:f>
              <c:strCache>
                <c:ptCount val="1"/>
                <c:pt idx="0">
                  <c:v>Energy lost, MWh</c:v>
                </c:pt>
              </c:strCache>
            </c:strRef>
          </c:tx>
          <c:spPr>
            <a:solidFill>
              <a:srgbClr val="0B3C6F"/>
            </a:solidFill>
            <a:effectLst/>
          </c:spPr>
          <c:invertIfNegative val="0"/>
          <c:dLbls>
            <c:numFmt formatCode="0.00" sourceLinked="0"/>
            <c:txPr>
              <a:bodyPr/>
              <a:lstStyle/>
              <a:p>
                <a:pPr>
                  <a:defRPr b="0" i="0" strike="noStrike" sz="1000" u="none">
                    <a:solidFill>
                      <a:srgbClr val="111111"/>
                    </a:solidFill>
                    <a:latin typeface="Montserrat"/>
                  </a:defRPr>
                </a:pPr>
              </a:p>
            </c:txPr>
            <c:showLegendKey val="0"/>
            <c:showVal val="1"/>
            <c:showCatName val="0"/>
            <c:showSerName val="0"/>
            <c:showPercent val="0"/>
            <c:showBubbleSize val="0"/>
            <c:showLeaderLines val="0"/>
          </c:dLbls>
          <c:cat>
            <c:multiLvlStrRef>
              <c:f>Sheet1!$A$2:$A$5</c:f>
              <c:multiLvlStrCache>
                <c:ptCount val="4"/>
                <c:lvl>
                  <c:pt idx="0">
                    <c:v>Repair now</c:v>
                  </c:pt>
                  <c:pt idx="1">
                    <c:v>In 6 hours</c:v>
                  </c:pt>
                  <c:pt idx="2">
                    <c:v>Tomorrow</c:v>
                  </c:pt>
                  <c:pt idx="3">
                    <c:v>In 3 days</c:v>
                  </c:pt>
                </c:lvl>
              </c:multiLvlStrCache>
            </c:multiLvlStrRef>
          </c:cat>
          <c:val>
            <c:numRef>
              <c:f>Sheet1!$B$2:$B$5</c:f>
              <c:numCache>
                <c:formatCode>General</c:formatCode>
                <c:ptCount val="4"/>
                <c:pt idx="0">
                  <c:v>0</c:v>
                </c:pt>
                <c:pt idx="1">
                  <c:v>0.77</c:v>
                </c:pt>
                <c:pt idx="2">
                  <c:v>1.51</c:v>
                </c:pt>
                <c:pt idx="3">
                  <c:v>4.82</c:v>
                </c:pt>
              </c:numCache>
            </c:numRef>
          </c:val>
        </c:ser>
        <c:dLbls>
          <c:numFmt formatCode="0.00" sourceLinked="0"/>
          <c:txPr>
            <a:bodyPr/>
            <a:lstStyle/>
            <a:p>
              <a:pPr>
                <a:defRPr b="0" i="0" strike="noStrike" sz="1000" u="none">
                  <a:solidFill>
                    <a:srgbClr val="111111"/>
                  </a:solidFill>
                  <a:latin typeface="Montserra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11111"/>
                </a:solidFill>
                <a:latin typeface="Montserra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seconds. Surya watches a 500 MW block of Bhadla Solar Park, sends a drone to verify what telemetry cannot, and hands the operator a ranked, deadlined repair plan to approve. Say "a 500 MW block of Bhadla" out loud: it is accurate and it answers "why only 120 arrays" before it is asked. The four figures along the bottom are the four on the product's own landing page, and each is computed from the physics model or read from the committed detector result. 364 MW is 73 per cent of nameplate because the cells are at 62.8 degrees; that is the model, not a fault. The picture is the main view of the working prototype in its light theme: the 3D twin of the modelled block. Team departments are not on the slide because they were not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is continuous against annual, not fast against slow. The two quoted findings are from Sheppard, Cook and Perullo of Turbine Logic with Fregosi and Bolen of EPRI, "Field Experience Detecting PV Underperformance in Real Time Using Existing Instrumentation", hosted on OSTI. It is not an NREL paper; do not call it one. The third figure comes from our own model of one faulted array, B-17: 5 of its 7 strings are bypassed, so the array is 41.7 per cent down while the worst string is 58.4 per cent down. The rupee figure is 3.07 MWh at the blended Bhadla Phase-III tariff of 2.446 rupees per kWh. On gaps, be fair to the incumbents: Raptor Maps, Zeitview and Sitemark already do drone thermal imaging with AI classification at utility scale, and Raptor Maps and Sitemark are building 3D twins. So the twin and the detection are table stakes and we do not pitch either as our difference. The comparison is from our own prior-art sweep of 4 October 2026, read from their public material; it is not a benchmark. Do not quote a soiling-loss percentage or a national rupee figure: we hold no source for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Seven of the eight steps run without a person; the eighth is a person on purpose. The drone is not the product: it is how the agent gets evidence it cannot infer from telemetry. The two pictures are from the running prototype on 7 October 2026, flown at 60 times site speed. First: the frame the drone's camera returned over B-17, with the box our detector drew on it in the browser. On this flight it returned Cracked at 0.89. On the photograph the committed figure was measured on, the same weights return 0.91 against a committed 0.9084. Second: the same pass in false colour; it is a rendering of the simulated scene, not a thermal capture. The real thermal evidence is a UAV frame from Raptor Maps' open dataset, processed into the panel's 5 by 7 cells: four hot cells in row 2, columns 3 to 6, about 2.8 degrees above the rest, one connected band. The detector: YOLOv8n fine-tuned on 921 images, CC BY 4.0. Cracked AP at 50 is 0.995 on the held-out test split. The language model, openai/gpt-oss-120b on Groq, writes the triage in words and never supplies a number: the server recomputes every fact and cross-checks the reply. The queue order is deliberately not AI. The thermal classifier is in progress: a notebook and 119 modelled frames exist, no model is trained and no score is quoted. Vocabulary: B-17 is diagnosed, because it has a real capture. The other 119 arrays are flagged from modelled signature. The loop follows the RAISE-winning Robinsun solar agent, credited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left side top to bottom. Before the build: Python scripts hold the PV model and generate the site and its telemetry; a Colab notebook trained the detector and exported it to ONNX; an image-processing script turned a real thermal frame into the cell grid. The build gate runs in order: validate every data file against its Zod schema and 16 invariants, scan the source for hardcoded numbers and forbidden wording, run 457 tests, then compile. The TypeScript physics is golden-tested against the Python. If a headline figure moves, the build fails, not the demo. At run time, in the browser, there is one clock, the site time. Everything on screen is a pure function of that clock and the scenario events, which is why you can seek backwards and a dropped hazard un-happens. The detector and the solver both run as WebAssembly on the operator's machine. There is exactly one network call: the triage route, which calls Groq and cross-checks the reply against the physics on the server. There is no database. A work order is created only by the operator's click. On the choices: we refused a second service because a cold start on stage is a demo failure, so the solver is HiGHS compiled to WebAssembly and not OR-Tools behind a Python server. This diagram is drawn from native shapes so it can be edited.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difference is deliberately not the twin and not the detection. It is what happens after the picture: a deadline, a plan that re-derives, the arithmetic, and a human gate. The first picture is the Queue screen. Every job prints its own working. At the moment captured, B-17 reads 1.01 MWh a day, times 3.0 for critical, times 7.69 urgency, divided by 1.0 access, equals 23.29. Urgency is 1 plus 24 over the hours left, so the score rises as the deadline closes and reads differently at a different minute. If a judge asks how it prioritises, open src/lib/ranking.ts. The second picture is the live demonstration. A judge names a hazard; we drag it onto the field. Here a dust storm was dropped over part of Zone B. The screen reads: 8 arrays affected, 6 jobs added, 1 displaced, B-17 still first. Over the next 72 hours the dust costs the modelled arrays 5.61 MWh, 13,714 rupees at 2.446 rupees per kWh, forecast band 12,518 to 14,880. Measured in Chrome on our laptop: from releasing the pointer to the re-planned frame being painted takes 31 to 40 milliseconds against a budget of 150, and the twin holds 60.1 frames a second. Be straight about three things. The hazard strengths are declared assumptions; none is a measurement of Bhadla. The forecast band is a declared plus or minus 5 to 15 per cent on irradiance, not a fitted error model. And at this moment the heuristic matched the optimum; we do not claim the solver beats it here. A 5.8 per cent difference does exist on one ordinary afternoon, 14:17 site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is argued from measurements taken on our own laptop, in Chrome, each recorded in the repository: 457 automated tests on every build; the twin at 60.1 frames a second at both 1366 by 768 and 1920 by 1080; a dropped hazard re-planned on screen in 31 to 40 milliseconds against a budget of 150; the crew plan solved in 10.8 milliseconds on the site's own days and cut off at 50; the detector at AP at 50 of 0.995 for cracked panels on the held-out test split of 42 images, and 0.89 on the drone's own frame. Viability. Each array is evaluated by the same pure function, so a larger plant is more rows, not a new design; we have tested to 120 arrays and claim no larger figure. Then the risks, said before a judge has to ask. There is no live plant behind this: telemetry for the 120 arrays is generated from the PV model with stated coefficients, temperature coefficient minus 0.0037 per degree, NOCT 45 degrees, inverter efficiency 0.98. The drone flight is a 3D simulation. Declared assumptions, each labelled on screen: hazard strengths; crew hours per repair, for example 3 hours for a module replacement and 1 hour for a wash; the forecast band; the 25 degree thermal span; the 65 degree threshold and 5-hour budget behind the deadline. The thermal classifier has no model and no metric, so no score is claimed. The detector is trained with Ultralytics YOLOv8, which is AGPL-3.0 and makes this repository AGPL-3.0. A commercial version would retrain on a permissively licensed detector; the README notes that switching to RF-DETR, Apache-2.0, touches one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is argued from arithmetic a judge can check, not from a market statistic we cannot source. The tariff: Bhadla Phase-III was auctioned by SECI in 2017 as two lots, 200 MW to ACME at 2.44 and 300 MW to SBG Cleantech at 2.45 rupees per kWh. Blended by capacity that is 2.446. We never quote 2.44 alone. No deviation settlement charge is computed or claimed: the CERC formula depends on a parameter the regulation does not publish. One cracked array, B-17, loses 3.07 MWh over the 72-hour forecast, 7,509 rupees. The 30-day figure is an illustration and is labelled as one: B-17 loses 1.01 MWh a day, so 30 days is 30.3 MWh, which is 74,114 rupees. It assumes the loss stays constant, which our own prognosis says it would not: the diode is projected to fail and the strings go open. It shows why continuous matters against an annual survey. The chart is the cost-of-waiting table from the B-17 incident, as captured on 7 October 2026: repair now and nothing more is lost; start in 6 hours and it is 0.77 MWh, 1,894 rupees; tomorrow 1.51 MWh, 3,704 rupees; in 3 days 4.82 MWh, 11,795 rupees. The figures move with site time. All three delays are past the 14:00 deadline. This is the thing a defect report cannot give you. The picture under it is the Analytics screen: expected against actual for the modelled arrays over 72 hours, with the loss by cause. The modelled arrays are 178 kW short of the model now, 0.6 per cent of their output, and lose 9.66 MWh over 72 hours out of 903 expected. Wider benefit, stated qualitatively: more of the installed clean capacity is delivered; crews are not planned into the field above 40 degrees; and no drone is flown where imaging would add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scope first. Research: finish the thermal classifier on InfraredSolarModules and report its held-out metric per class; replace the declared forecast band with an error model fitted to real forecast misses; move from 8-bit normalised thermal images to radiometric ones; validate the deadline model against real field failures. Patent: nothing has been filed. If we pursue one, the candidate to examine first is the method that turns a defect, its mechanism and a forecast into a repair deadline and a crew plan that re-derives live. That needs a proper novelty search before any claim. Startup: the natural customers are O&amp;M contractors and asset owners of utility-scale plants; a commercial version needs a permissively licensed detector. OWNER TO CONFIRM: the patent and startup lines state only what the repository supports. Replace them with the team's actual intentions if there are any. The right side is the code-of-conduct declaration: every third-party library, model, dataset and external API. No personal data and no proprietary data is used. Versions are read from the installed packages. Credit two things out loud. The loop follows the RAISE-winning Robinsun solar agent: we rebuilt the loop, and where they had a physical drone we put a trained defect model and a physics-grounded simulation. And the thermal data is Raptor Maps' own open dataset. The Turbine Logic and EPRI paper is hosted on OSTI. It is not an NREL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01752" y="128016"/>
            <a:ext cx="1600200" cy="658368"/>
          </a:xfrm>
          <a:prstGeom prst="ellipse">
            <a:avLst/>
          </a:prstGeom>
          <a:solidFill>
            <a:srgbClr val="FFFFFF"/>
          </a:solidFill>
          <a:ln w="25400">
            <a:solidFill>
              <a:srgbClr val="0B3C6F"/>
            </a:solidFill>
          </a:ln>
        </p:spPr>
        <p:txBody>
          <a:bodyPr wrap="square" lIns="0" tIns="0" rIns="0" bIns="0" rtlCol="0" anchor="ctr"/>
          <a:lstStyle/>
          <a:p>
            <a:pPr algn="ctr" indent="0" marL="0">
              <a:buNone/>
            </a:pPr>
            <a:r>
              <a:rPr lang="en-US" sz="1900" b="1" dirty="0">
                <a:solidFill>
                  <a:srgbClr val="0B3C6F"/>
                </a:solidFill>
                <a:latin typeface="Montserrat" pitchFamily="34" charset="0"/>
                <a:ea typeface="Montserrat" pitchFamily="34" charset="-122"/>
                <a:cs typeface="Montserrat" pitchFamily="34" charset="-120"/>
              </a:rPr>
              <a:t>Sigmoid</a:t>
            </a:r>
            <a:endParaRPr lang="en-US" sz="1900" dirty="0"/>
          </a:p>
        </p:txBody>
      </p:sp>
      <p:sp>
        <p:nvSpPr>
          <p:cNvPr id="3" name="Text 1"/>
          <p:cNvSpPr/>
          <p:nvPr/>
        </p:nvSpPr>
        <p:spPr>
          <a:xfrm>
            <a:off x="9466783" y="146304"/>
            <a:ext cx="2468880" cy="329184"/>
          </a:xfrm>
          <a:prstGeom prst="rect">
            <a:avLst/>
          </a:prstGeom>
          <a:noFill/>
          <a:ln/>
        </p:spPr>
        <p:txBody>
          <a:bodyPr wrap="square" lIns="0" tIns="0" rIns="0" bIns="0" rtlCol="0" anchor="ctr"/>
          <a:lstStyle/>
          <a:p>
            <a:pPr algn="r" indent="0" marL="0">
              <a:buNone/>
            </a:pPr>
            <a:r>
              <a:rPr lang="en-US" sz="1500" b="1" dirty="0">
                <a:solidFill>
                  <a:srgbClr val="0B3C6F"/>
                </a:solidFill>
                <a:latin typeface="Montserrat" pitchFamily="34" charset="0"/>
                <a:ea typeface="Montserrat" pitchFamily="34" charset="-122"/>
                <a:cs typeface="Montserrat" pitchFamily="34" charset="-120"/>
              </a:rPr>
              <a:t>JSS AI FORGE 36</a:t>
            </a:r>
            <a:endParaRPr lang="en-US" sz="1500" dirty="0"/>
          </a:p>
        </p:txBody>
      </p:sp>
      <p:sp>
        <p:nvSpPr>
          <p:cNvPr id="4" name="Text 2"/>
          <p:cNvSpPr/>
          <p:nvPr/>
        </p:nvSpPr>
        <p:spPr>
          <a:xfrm>
            <a:off x="9466783" y="457200"/>
            <a:ext cx="2468880" cy="274320"/>
          </a:xfrm>
          <a:prstGeom prst="rect">
            <a:avLst/>
          </a:prstGeom>
          <a:noFill/>
          <a:ln/>
        </p:spPr>
        <p:txBody>
          <a:bodyPr wrap="square" lIns="0" tIns="0" rIns="0" bIns="0" rtlCol="0" anchor="ctr"/>
          <a:lstStyle/>
          <a:p>
            <a:pPr algn="r" indent="0" marL="0">
              <a:buNone/>
            </a:pPr>
            <a:r>
              <a:rPr lang="en-US" sz="1100" b="1" dirty="0">
                <a:solidFill>
                  <a:srgbClr val="0E7C86"/>
                </a:solidFill>
                <a:latin typeface="Montserrat" pitchFamily="34" charset="0"/>
                <a:ea typeface="Montserrat" pitchFamily="34" charset="-122"/>
                <a:cs typeface="Montserrat" pitchFamily="34" charset="-120"/>
              </a:rPr>
              <a:t>AI for Industry 4.0</a:t>
            </a:r>
            <a:endParaRPr lang="en-US" sz="1100" dirty="0"/>
          </a:p>
        </p:txBody>
      </p:sp>
      <p:sp>
        <p:nvSpPr>
          <p:cNvPr id="5" name="Text 3"/>
          <p:cNvSpPr/>
          <p:nvPr>
            <p:ph idx="103" type="title" hasCustomPrompt="1"/>
          </p:nvPr>
        </p:nvSpPr>
        <p:spPr>
          <a:xfrm>
            <a:off x="2103120" y="91440"/>
            <a:ext cx="7345375" cy="731520"/>
          </a:xfrm>
          <a:prstGeom prst="rect">
            <a:avLst/>
          </a:prstGeom>
          <a:noFill/>
          <a:ln/>
        </p:spPr>
        <p:txBody>
          <a:bodyPr wrap="square" rtlCol="0"/>
          <a:lstStyle>
            <a:lvl1pPr algn="ctr" indent="0" marL="0">
              <a:buNone/>
              <a:defRPr lang="en-US" sz="3200" b="1" dirty="0">
                <a:solidFill>
                  <a:schemeClr val="tx1"/>
                </a:solidFill>
                <a:latin typeface="Times New Roman" pitchFamily="34" charset="0"/>
                <a:ea typeface="Times New Roman" pitchFamily="34" charset="-122"/>
                <a:cs typeface="Times New Roman" pitchFamily="34" charset="-120"/>
              </a:defRPr>
            </a:lvl1pPr>
          </a:lstStyle>
          <a:p>
            <a:pPr algn="ctr" indent="0" marL="0">
              <a:buNone/>
            </a:pPr>
            <a:r>
              <a:rPr lang="en-US" sz="3200" b="1" dirty="0">
                <a:solidFill>
                  <a:schemeClr val="tx1"/>
                </a:solidFill>
                <a:latin typeface="Times New Roman" pitchFamily="34" charset="0"/>
                <a:ea typeface="Times New Roman" pitchFamily="34" charset="-122"/>
                <a:cs typeface="Times New Roman" pitchFamily="34" charset="-120"/>
              </a:rPr>
              <a:t>TITLE</a:t>
            </a:r>
            <a:endParaRPr lang="en-US" sz="3200" dirty="0"/>
          </a:p>
        </p:txBody>
      </p:sp>
      <p:sp>
        <p:nvSpPr>
          <p:cNvPr id="6" name="Shape 3"/>
          <p:cNvSpPr/>
          <p:nvPr/>
        </p:nvSpPr>
        <p:spPr>
          <a:xfrm>
            <a:off x="0" y="6528816"/>
            <a:ext cx="12191695" cy="329184"/>
          </a:xfrm>
          <a:prstGeom prst="rect">
            <a:avLst/>
          </a:prstGeom>
          <a:solidFill>
            <a:srgbClr val="1D6FB8"/>
          </a:solidFill>
          <a:ln/>
        </p:spPr>
      </p:sp>
      <p:sp>
        <p:nvSpPr>
          <p:cNvPr id="7" name="Text 4"/>
          <p:cNvSpPr/>
          <p:nvPr/>
        </p:nvSpPr>
        <p:spPr>
          <a:xfrm>
            <a:off x="2743200" y="6528816"/>
            <a:ext cx="6705295" cy="329184"/>
          </a:xfrm>
          <a:prstGeom prst="rect">
            <a:avLst/>
          </a:prstGeom>
          <a:noFill/>
          <a:ln/>
        </p:spPr>
        <p:txBody>
          <a:bodyPr wrap="square" lIns="0" tIns="0" rIns="0" bIns="0" rtlCol="0" anchor="ctr"/>
          <a:lstStyle/>
          <a:p>
            <a:pPr algn="ctr" indent="0" marL="0">
              <a:buNone/>
            </a:pPr>
            <a:r>
              <a:rPr lang="en-US" sz="1000" dirty="0">
                <a:solidFill>
                  <a:srgbClr val="FFFFFF"/>
                </a:solidFill>
                <a:latin typeface="Montserrat" pitchFamily="34" charset="0"/>
                <a:ea typeface="Montserrat" pitchFamily="34" charset="-122"/>
                <a:cs typeface="Montserrat" pitchFamily="34" charset="-120"/>
              </a:rPr>
              <a:t>@JSS AI FORGE 36 Idea Submission</a:t>
            </a:r>
            <a:endParaRPr lang="en-US" sz="1000" dirty="0"/>
          </a:p>
        </p:txBody>
      </p:sp>
      <p:sp>
        <p:nvSpPr>
          <p:cNvPr id="25" name="Slide Number Placeholder 0"/>
          <p:cNvSpPr>
            <a:spLocks noGrp="1"/>
          </p:cNvSpPr>
          <p:nvPr>
            <p:ph type="sldNum" sz="quarter" idx="4294967295"/>
          </p:nvPr>
        </p:nvSpPr>
        <p:spPr>
          <a:xfrm>
            <a:off x="11277295" y="6528816"/>
            <a:ext cx="64008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Montserrat"/>
                <a:ea typeface="Montserrat"/>
                <a:cs typeface="Montserrat"/>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528816"/>
            <a:ext cx="64008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Montserrat"/>
                <a:ea typeface="Montserrat"/>
                <a:cs typeface="Montserra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9" Type="http://schemas.openxmlformats.org/officeDocument/2006/relationships/chart" Target="/ppt/charts/chart1.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10" Type="http://schemas.openxmlformats.org/officeDocument/2006/relationships/image" Target="../media/image-7-9.png"/><Relationship Id="rId11" Type="http://schemas.openxmlformats.org/officeDocument/2006/relationships/slideLayout" Target="../slideLayouts/slideLayout2.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3"/>
          <p:cNvSpPr/>
          <p:nvPr>
            <p:ph idx="103" type="title" hasCustomPrompt="1"/>
          </p:nvPr>
        </p:nvSpPr>
        <p:spPr>
          <a:xfrm>
            <a:off x="2103120" y="91440"/>
            <a:ext cx="7345375" cy="731520"/>
          </a:xfrm>
          <a:prstGeom prst="rect">
            <a:avLst/>
          </a:prstGeom>
          <a:noFill/>
          <a:ln/>
        </p:spPr>
        <p:txBody>
          <a:bodyPr wrap="square" lIns="0" tIns="0" rIns="0" bIns="0" rtlCol="0" anchor="ctr"/>
          <a:lstStyle/>
          <a:p>
            <a:pPr algn="ctr" indent="0" marL="0">
              <a:buNone/>
            </a:pPr>
            <a:r>
              <a:rPr lang="en-US" sz="3200" b="1" dirty="0">
                <a:solidFill>
                  <a:schemeClr val="tx1"/>
                </a:solidFill>
                <a:latin typeface="Times New Roman" pitchFamily="34" charset="0"/>
                <a:ea typeface="Times New Roman" pitchFamily="34" charset="-122"/>
                <a:cs typeface="Times New Roman" pitchFamily="34" charset="-120"/>
              </a:rPr>
              <a:t>SURYA AGENT</a:t>
            </a:r>
            <a:endParaRPr lang="en-US" sz="3200" dirty="0"/>
          </a:p>
        </p:txBody>
      </p:sp>
      <p:sp>
        <p:nvSpPr>
          <p:cNvPr id="4" name="Text 1"/>
          <p:cNvSpPr txBox="1"/>
          <p:nvPr/>
        </p:nvSpPr>
        <p:spPr>
          <a:xfrm>
            <a:off x="301752" y="978408"/>
            <a:ext cx="5577840" cy="548640"/>
          </a:xfrm>
          <a:prstGeom prst="rect">
            <a:avLst/>
          </a:prstGeom>
          <a:noFill/>
          <a:ln/>
        </p:spPr>
        <p:txBody>
          <a:bodyPr wrap="square" lIns="0" tIns="0" rIns="0" bIns="0" rtlCol="0" anchor="t"/>
          <a:lstStyle/>
          <a:p>
            <a:pPr indent="0" marL="0">
              <a:buNone/>
            </a:pPr>
            <a:r>
              <a:rPr lang="en-US" sz="2700" b="1" dirty="0">
                <a:solidFill>
                  <a:schemeClr val="tx2"/>
                </a:solidFill>
                <a:latin typeface="Montserrat" pitchFamily="34" charset="0"/>
                <a:ea typeface="Montserrat" pitchFamily="34" charset="-122"/>
                <a:cs typeface="Montserrat" pitchFamily="34" charset="-120"/>
              </a:rPr>
              <a:t>The plan, not the picture.</a:t>
            </a:r>
            <a:endParaRPr lang="en-US" sz="2700" dirty="0"/>
          </a:p>
        </p:txBody>
      </p:sp>
      <p:sp>
        <p:nvSpPr>
          <p:cNvPr id="5" name="Text 2"/>
          <p:cNvSpPr txBox="1"/>
          <p:nvPr/>
        </p:nvSpPr>
        <p:spPr>
          <a:xfrm>
            <a:off x="301752" y="1591056"/>
            <a:ext cx="5577840" cy="960120"/>
          </a:xfrm>
          <a:prstGeom prst="rect">
            <a:avLst/>
          </a:prstGeom>
          <a:noFill/>
          <a:ln/>
        </p:spPr>
        <p:txBody>
          <a:bodyPr wrap="square" lIns="0" tIns="0" rIns="0" bIns="0" rtlCol="0" anchor="t"/>
          <a:lstStyle/>
          <a:p>
            <a:pPr indent="0" marL="0">
              <a:buNone/>
            </a:pPr>
            <a:r>
              <a:rPr lang="en-US" sz="1250" dirty="0">
                <a:solidFill>
                  <a:schemeClr val="tx1"/>
                </a:solidFill>
                <a:latin typeface="Montserrat" pitchFamily="34" charset="0"/>
                <a:ea typeface="Montserrat" pitchFamily="34" charset="-122"/>
                <a:cs typeface="Montserrat" pitchFamily="34" charset="-120"/>
              </a:rPr>
              <a:t>An AI agent that watches a 500 MW block of Bhadla Solar Park, sends a drone to verify what telemetry cannot, and hands the operator a ranked repair plan with a computed deadline. A person approves it before anything is scheduled.</a:t>
            </a:r>
            <a:endParaRPr lang="en-US" sz="1250" dirty="0"/>
          </a:p>
        </p:txBody>
      </p:sp>
      <p:graphicFrame>
        <p:nvGraphicFramePr>
          <p:cNvPr id="2" name="Table 3"/>
          <p:cNvGraphicFramePr>
            <a:graphicFrameLocks noGrp="1"/>
          </p:cNvGraphicFramePr>
          <p:nvPr>
            <p:extLst>
              <p:ext uri="{D42A27DB-BD31-4B8C-83A1-F6EECF244321}">
                <p14:modId xmlns:p14="http://schemas.microsoft.com/office/powerpoint/2010/main" val="1579011935"/>
              </p:ext>
            </p:extLst>
          </p:nvPr>
        </p:nvGraphicFramePr>
        <p:xfrm>
          <a:off x="301752" y="2688336"/>
          <a:ext cx="5577840" cy="914400"/>
        </p:xfrm>
        <a:graphic>
          <a:graphicData uri="http://schemas.openxmlformats.org/drawingml/2006/table">
            <a:tbl>
              <a:tblPr/>
              <a:tblGrid>
                <a:gridCol w="1097280"/>
                <a:gridCol w="4480560"/>
              </a:tblGrid>
              <a:tr h="0">
                <a:tc>
                  <a:txBody>
                    <a:bodyPr/>
                    <a:lstStyle/>
                    <a:p>
                      <a:pPr indent="0" marL="0">
                        <a:buNone/>
                      </a:pPr>
                      <a:r>
                        <a:rPr lang="en-US" sz="1050" b="1" dirty="0">
                          <a:solidFill>
                            <a:srgbClr val="111111"/>
                          </a:solidFill>
                          <a:latin typeface="Montserrat" pitchFamily="34" charset="0"/>
                          <a:ea typeface="Montserrat" pitchFamily="34" charset="-122"/>
                          <a:cs typeface="Montserrat" pitchFamily="34" charset="-120"/>
                        </a:rPr>
                        <a:t>Event</a:t>
                      </a:r>
                      <a:endParaRPr lang="en-US" sz="105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EEF4FB"/>
                    </a:solidFill>
                  </a:tcPr>
                </a:tc>
                <a:tc>
                  <a:txBody>
                    <a:bodyPr/>
                    <a:lstStyle/>
                    <a:p>
                      <a:pPr indent="0" marL="0">
                        <a:buNone/>
                      </a:pPr>
                      <a:r>
                        <a:rPr lang="en-US" sz="1050" dirty="0">
                          <a:solidFill>
                            <a:srgbClr val="111111"/>
                          </a:solidFill>
                          <a:latin typeface="Montserrat" pitchFamily="34" charset="0"/>
                          <a:ea typeface="Montserrat" pitchFamily="34" charset="-122"/>
                          <a:cs typeface="Montserrat" pitchFamily="34" charset="-120"/>
                        </a:rPr>
                        <a:t>JSS AI FORGE 36, Round 1 idea submission</a:t>
                      </a:r>
                      <a:endParaRPr lang="en-US" sz="105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11111"/>
                          </a:solidFill>
                          <a:latin typeface="Montserrat" pitchFamily="34" charset="0"/>
                          <a:ea typeface="Montserrat" pitchFamily="34" charset="-122"/>
                          <a:cs typeface="Montserrat" pitchFamily="34" charset="-120"/>
                        </a:rPr>
                        <a:t>Track</a:t>
                      </a:r>
                      <a:endParaRPr lang="en-US" sz="105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EEF4FB"/>
                    </a:solidFill>
                  </a:tcPr>
                </a:tc>
                <a:tc>
                  <a:txBody>
                    <a:bodyPr/>
                    <a:lstStyle/>
                    <a:p>
                      <a:pPr indent="0" marL="0">
                        <a:buNone/>
                      </a:pPr>
                      <a:r>
                        <a:rPr lang="en-US" sz="1050" dirty="0">
                          <a:solidFill>
                            <a:srgbClr val="111111"/>
                          </a:solidFill>
                          <a:latin typeface="Montserrat" pitchFamily="34" charset="0"/>
                          <a:ea typeface="Montserrat" pitchFamily="34" charset="-122"/>
                          <a:cs typeface="Montserrat" pitchFamily="34" charset="-120"/>
                        </a:rPr>
                        <a:t>AI for Industry 4.0: predictive maintenance, automation, digital twins</a:t>
                      </a:r>
                      <a:endParaRPr lang="en-US" sz="105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11111"/>
                          </a:solidFill>
                          <a:latin typeface="Montserrat" pitchFamily="34" charset="0"/>
                          <a:ea typeface="Montserrat" pitchFamily="34" charset="-122"/>
                          <a:cs typeface="Montserrat" pitchFamily="34" charset="-120"/>
                        </a:rPr>
                        <a:t>Team</a:t>
                      </a:r>
                      <a:endParaRPr lang="en-US" sz="105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EEF4FB"/>
                    </a:solidFill>
                  </a:tcPr>
                </a:tc>
                <a:tc>
                  <a:txBody>
                    <a:bodyPr/>
                    <a:lstStyle/>
                    <a:p>
                      <a:pPr indent="0" marL="0">
                        <a:buNone/>
                      </a:pPr>
                      <a:r>
                        <a:rPr lang="en-US" sz="1050" dirty="0">
                          <a:solidFill>
                            <a:srgbClr val="111111"/>
                          </a:solidFill>
                          <a:latin typeface="Montserrat" pitchFamily="34" charset="0"/>
                          <a:ea typeface="Montserrat" pitchFamily="34" charset="-122"/>
                          <a:cs typeface="Montserrat" pitchFamily="34" charset="-120"/>
                        </a:rPr>
                        <a:t>SIGMOID</a:t>
                      </a:r>
                      <a:endParaRPr lang="en-US" sz="105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11111"/>
                          </a:solidFill>
                          <a:latin typeface="Montserrat" pitchFamily="34" charset="0"/>
                          <a:ea typeface="Montserrat" pitchFamily="34" charset="-122"/>
                          <a:cs typeface="Montserrat" pitchFamily="34" charset="-120"/>
                        </a:rPr>
                        <a:t>Members</a:t>
                      </a:r>
                      <a:endParaRPr lang="en-US" sz="105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EEF4FB"/>
                    </a:solidFill>
                  </a:tcPr>
                </a:tc>
                <a:tc>
                  <a:txBody>
                    <a:bodyPr/>
                    <a:lstStyle/>
                    <a:p>
                      <a:pPr indent="0" marL="0">
                        <a:buNone/>
                      </a:pPr>
                      <a:r>
                        <a:rPr lang="en-US" sz="1050" dirty="0">
                          <a:solidFill>
                            <a:srgbClr val="111111"/>
                          </a:solidFill>
                          <a:latin typeface="Montserrat" pitchFamily="34" charset="0"/>
                          <a:ea typeface="Montserrat" pitchFamily="34" charset="-122"/>
                          <a:cs typeface="Montserrat" pitchFamily="34" charset="-120"/>
                        </a:rPr>
                        <a:t>Rehaan Ahmad Khan, Shantanu Singh, Lakshita Rawat, Krishna Agarwal</a:t>
                      </a:r>
                      <a:endParaRPr lang="en-US" sz="105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11111"/>
                          </a:solidFill>
                          <a:latin typeface="Montserrat" pitchFamily="34" charset="0"/>
                          <a:ea typeface="Montserrat" pitchFamily="34" charset="-122"/>
                          <a:cs typeface="Montserrat" pitchFamily="34" charset="-120"/>
                        </a:rPr>
                        <a:t>Prototype</a:t>
                      </a:r>
                      <a:endParaRPr lang="en-US" sz="105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EEF4FB"/>
                    </a:solidFill>
                  </a:tcPr>
                </a:tc>
                <a:tc>
                  <a:txBody>
                    <a:bodyPr/>
                    <a:lstStyle/>
                    <a:p>
                      <a:pPr indent="0" marL="0">
                        <a:buNone/>
                      </a:pPr>
                      <a:r>
                        <a:rPr lang="en-US" sz="1050" dirty="0">
                          <a:solidFill>
                            <a:srgbClr val="111111"/>
                          </a:solidFill>
                          <a:latin typeface="Montserrat" pitchFamily="34" charset="0"/>
                          <a:ea typeface="Montserrat" pitchFamily="34" charset="-122"/>
                          <a:cs typeface="Montserrat" pitchFamily="34" charset="-120"/>
                        </a:rPr>
                        <a:t>Built and running. github.com/RAK2315/solar-proj</a:t>
                      </a:r>
                      <a:endParaRPr lang="en-US" sz="105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r>
            </a:tbl>
          </a:graphicData>
        </a:graphic>
      </p:graphicFrame>
      <p:sp>
        <p:nvSpPr>
          <p:cNvPr id="7" name="Panel 4"/>
          <p:cNvSpPr/>
          <p:nvPr/>
        </p:nvSpPr>
        <p:spPr>
          <a:xfrm>
            <a:off x="6153912" y="950976"/>
            <a:ext cx="5781751" cy="3858768"/>
          </a:xfrm>
          <a:prstGeom prst="roundRect">
            <a:avLst>
              <a:gd name="adj" fmla="val 2844"/>
            </a:avLst>
          </a:prstGeom>
          <a:solidFill>
            <a:schemeClr val="bg1"/>
          </a:solidFill>
          <a:ln w="31750">
            <a:solidFill>
              <a:srgbClr val="0B3C6F"/>
            </a:solidFill>
            <a:prstDash val="solid"/>
          </a:ln>
        </p:spPr>
      </p:sp>
      <p:pic>
        <p:nvPicPr>
          <p:cNvPr id="8" name="Picture 01-twin-field.png" descr="right: the 3D twin of the field from the Site screen, light theme, cropped to the field">    </p:cNvPr>
          <p:cNvPicPr>
            <a:picLocks noChangeAspect="1"/>
          </p:cNvPicPr>
          <p:nvPr/>
        </p:nvPicPr>
        <p:blipFill>
          <a:blip r:embed="rId1"/>
          <a:stretch>
            <a:fillRect/>
          </a:stretch>
        </p:blipFill>
        <p:spPr>
          <a:xfrm>
            <a:off x="6291072" y="1088136"/>
            <a:ext cx="5273936" cy="3383280"/>
          </a:xfrm>
          <a:prstGeom prst="rect">
            <a:avLst/>
          </a:prstGeom>
        </p:spPr>
      </p:pic>
      <p:sp>
        <p:nvSpPr>
          <p:cNvPr id="9" name="Picture frame 6"/>
          <p:cNvSpPr/>
          <p:nvPr/>
        </p:nvSpPr>
        <p:spPr>
          <a:xfrm>
            <a:off x="6291072" y="1088136"/>
            <a:ext cx="5273936" cy="3383280"/>
          </a:xfrm>
          <a:prstGeom prst="rect">
            <a:avLst/>
          </a:prstGeom>
          <a:ln w="12700">
            <a:solidFill>
              <a:srgbClr val="0B3C6F"/>
            </a:solidFill>
            <a:prstDash val="solid"/>
          </a:ln>
        </p:spPr>
      </p:sp>
      <p:sp>
        <p:nvSpPr>
          <p:cNvPr id="10" name="Text 7"/>
          <p:cNvSpPr txBox="1"/>
          <p:nvPr/>
        </p:nvSpPr>
        <p:spPr>
          <a:xfrm>
            <a:off x="6291072" y="4517136"/>
            <a:ext cx="5507431" cy="219456"/>
          </a:xfrm>
          <a:prstGeom prst="rect">
            <a:avLst/>
          </a:prstGeom>
          <a:noFill/>
          <a:ln/>
        </p:spPr>
        <p:txBody>
          <a:bodyPr wrap="square" lIns="0" tIns="0" rIns="0" bIns="0" rtlCol="0" anchor="t"/>
          <a:lstStyle/>
          <a:p>
            <a:pPr algn="ctr" indent="0" marL="0">
              <a:buNone/>
            </a:pPr>
            <a:r>
              <a:rPr lang="en-US" sz="900" b="1" dirty="0">
                <a:solidFill>
                  <a:schemeClr val="tx2"/>
                </a:solidFill>
                <a:latin typeface="Montserrat" pitchFamily="34" charset="0"/>
                <a:ea typeface="Montserrat" pitchFamily="34" charset="-122"/>
                <a:cs typeface="Montserrat" pitchFamily="34" charset="-120"/>
              </a:rPr>
              <a:t>The running prototype: a 3D twin of 120 arrays. B-17 is the red one.</a:t>
            </a:r>
            <a:endParaRPr lang="en-US" sz="900" dirty="0"/>
          </a:p>
        </p:txBody>
      </p:sp>
      <p:sp>
        <p:nvSpPr>
          <p:cNvPr id="11" name="Panel 8"/>
          <p:cNvSpPr/>
          <p:nvPr/>
        </p:nvSpPr>
        <p:spPr>
          <a:xfrm>
            <a:off x="256032" y="5212080"/>
            <a:ext cx="2817038" cy="1188720"/>
          </a:xfrm>
          <a:prstGeom prst="roundRect">
            <a:avLst>
              <a:gd name="adj" fmla="val 9231"/>
            </a:avLst>
          </a:prstGeom>
          <a:solidFill>
            <a:schemeClr val="bg1"/>
          </a:solidFill>
          <a:ln w="31750">
            <a:solidFill>
              <a:srgbClr val="0B3C6F"/>
            </a:solidFill>
            <a:prstDash val="solid"/>
          </a:ln>
        </p:spPr>
      </p:sp>
      <p:sp>
        <p:nvSpPr>
          <p:cNvPr id="12" name="Text 9"/>
          <p:cNvSpPr txBox="1"/>
          <p:nvPr/>
        </p:nvSpPr>
        <p:spPr>
          <a:xfrm>
            <a:off x="420624" y="5303520"/>
            <a:ext cx="2487854" cy="1005840"/>
          </a:xfrm>
          <a:prstGeom prst="rect">
            <a:avLst/>
          </a:prstGeom>
          <a:noFill/>
          <a:ln/>
        </p:spPr>
        <p:txBody>
          <a:bodyPr wrap="square" lIns="0" tIns="0" rIns="0" bIns="0" rtlCol="0" anchor="ctr"/>
          <a:lstStyle/>
          <a:p>
            <a:pPr indent="0" marL="0">
              <a:buNone/>
            </a:pPr>
            <a:r>
              <a:rPr lang="en-US" sz="2400" b="1" dirty="0">
                <a:solidFill>
                  <a:schemeClr val="tx2"/>
                </a:solidFill>
                <a:latin typeface="Montserrat" pitchFamily="34" charset="0"/>
                <a:ea typeface="Montserrat" pitchFamily="34" charset="-122"/>
                <a:cs typeface="Montserrat" pitchFamily="34" charset="-120"/>
              </a:rPr>
              <a:t>364 MW</a:t>
            </a:r>
            <a:endParaRPr lang="en-US" sz="1000" dirty="0"/>
          </a:p>
          <a:p>
            <a:pPr indent="0" marL="0">
              <a:buNone/>
            </a:pPr>
            <a:r>
              <a:rPr lang="en-US" sz="1000" dirty="0">
                <a:solidFill>
                  <a:schemeClr val="tx1"/>
                </a:solidFill>
                <a:latin typeface="Montserrat" pitchFamily="34" charset="0"/>
                <a:ea typeface="Montserrat" pitchFamily="34" charset="-122"/>
                <a:cs typeface="Montserrat" pitchFamily="34" charset="-120"/>
              </a:rPr>
              <a:t>delivered from 500 MW nameplate, at 62.8 °C cell temperature</a:t>
            </a:r>
            <a:endParaRPr lang="en-US" sz="1000" dirty="0"/>
          </a:p>
        </p:txBody>
      </p:sp>
      <p:sp>
        <p:nvSpPr>
          <p:cNvPr id="13" name="Panel 10"/>
          <p:cNvSpPr/>
          <p:nvPr/>
        </p:nvSpPr>
        <p:spPr>
          <a:xfrm>
            <a:off x="3210230" y="5212080"/>
            <a:ext cx="2817038" cy="1188720"/>
          </a:xfrm>
          <a:prstGeom prst="roundRect">
            <a:avLst>
              <a:gd name="adj" fmla="val 9231"/>
            </a:avLst>
          </a:prstGeom>
          <a:solidFill>
            <a:schemeClr val="bg1"/>
          </a:solidFill>
          <a:ln w="31750">
            <a:solidFill>
              <a:srgbClr val="B8322A"/>
            </a:solidFill>
            <a:prstDash val="solid"/>
          </a:ln>
        </p:spPr>
      </p:sp>
      <p:sp>
        <p:nvSpPr>
          <p:cNvPr id="14" name="Text 11"/>
          <p:cNvSpPr txBox="1"/>
          <p:nvPr/>
        </p:nvSpPr>
        <p:spPr>
          <a:xfrm>
            <a:off x="3374822" y="5303520"/>
            <a:ext cx="2487854" cy="1005840"/>
          </a:xfrm>
          <a:prstGeom prst="rect">
            <a:avLst/>
          </a:prstGeom>
          <a:noFill/>
          <a:ln/>
        </p:spPr>
        <p:txBody>
          <a:bodyPr wrap="square" lIns="0" tIns="0" rIns="0" bIns="0" rtlCol="0" anchor="ctr"/>
          <a:lstStyle/>
          <a:p>
            <a:pPr indent="0" marL="0">
              <a:buNone/>
            </a:pPr>
            <a:r>
              <a:rPr lang="en-US" sz="2400" b="1" dirty="0">
                <a:solidFill>
                  <a:schemeClr val="accent3"/>
                </a:solidFill>
                <a:latin typeface="Montserrat" pitchFamily="34" charset="0"/>
                <a:ea typeface="Montserrat" pitchFamily="34" charset="-122"/>
                <a:cs typeface="Montserrat" pitchFamily="34" charset="-120"/>
              </a:rPr>
              <a:t>−41.7 %</a:t>
            </a:r>
            <a:endParaRPr lang="en-US" sz="1000" dirty="0"/>
          </a:p>
          <a:p>
            <a:pPr indent="0" marL="0">
              <a:buNone/>
            </a:pPr>
            <a:r>
              <a:rPr lang="en-US" sz="1000" dirty="0">
                <a:solidFill>
                  <a:schemeClr val="tx1"/>
                </a:solidFill>
                <a:latin typeface="Montserrat" pitchFamily="34" charset="0"/>
                <a:ea typeface="Montserrat" pitchFamily="34" charset="-122"/>
                <a:cs typeface="Montserrat" pitchFamily="34" charset="-120"/>
              </a:rPr>
              <a:t>on array B-17: 5 of its 7 strings bypassed</a:t>
            </a:r>
            <a:endParaRPr lang="en-US" sz="1000" dirty="0"/>
          </a:p>
        </p:txBody>
      </p:sp>
      <p:sp>
        <p:nvSpPr>
          <p:cNvPr id="15" name="Panel 12"/>
          <p:cNvSpPr/>
          <p:nvPr/>
        </p:nvSpPr>
        <p:spPr>
          <a:xfrm>
            <a:off x="6164428" y="5212080"/>
            <a:ext cx="2817038" cy="1188720"/>
          </a:xfrm>
          <a:prstGeom prst="roundRect">
            <a:avLst>
              <a:gd name="adj" fmla="val 9231"/>
            </a:avLst>
          </a:prstGeom>
          <a:solidFill>
            <a:schemeClr val="bg1"/>
          </a:solidFill>
          <a:ln w="31750">
            <a:solidFill>
              <a:srgbClr val="D9730D"/>
            </a:solidFill>
            <a:prstDash val="solid"/>
          </a:ln>
        </p:spPr>
      </p:sp>
      <p:sp>
        <p:nvSpPr>
          <p:cNvPr id="16" name="Text 13"/>
          <p:cNvSpPr txBox="1"/>
          <p:nvPr/>
        </p:nvSpPr>
        <p:spPr>
          <a:xfrm>
            <a:off x="6329020" y="5303520"/>
            <a:ext cx="2487854" cy="1005840"/>
          </a:xfrm>
          <a:prstGeom prst="rect">
            <a:avLst/>
          </a:prstGeom>
          <a:noFill/>
          <a:ln/>
        </p:spPr>
        <p:txBody>
          <a:bodyPr wrap="square" lIns="0" tIns="0" rIns="0" bIns="0" rtlCol="0" anchor="ctr"/>
          <a:lstStyle/>
          <a:p>
            <a:pPr indent="0" marL="0">
              <a:buNone/>
            </a:pPr>
            <a:r>
              <a:rPr lang="en-US" sz="2400" b="1" dirty="0">
                <a:solidFill>
                  <a:schemeClr val="accent6"/>
                </a:solidFill>
                <a:latin typeface="Montserrat" pitchFamily="34" charset="0"/>
                <a:ea typeface="Montserrat" pitchFamily="34" charset="-122"/>
                <a:cs typeface="Montserrat" pitchFamily="34" charset="-120"/>
              </a:rPr>
              <a:t>3.07 MWh</a:t>
            </a:r>
            <a:endParaRPr lang="en-US" sz="1000" dirty="0"/>
          </a:p>
          <a:p>
            <a:pPr indent="0" marL="0">
              <a:buNone/>
            </a:pPr>
            <a:r>
              <a:rPr lang="en-US" sz="1000" dirty="0">
                <a:solidFill>
                  <a:schemeClr val="tx1"/>
                </a:solidFill>
                <a:latin typeface="Montserrat" pitchFamily="34" charset="0"/>
                <a:ea typeface="Montserrat" pitchFamily="34" charset="-122"/>
                <a:cs typeface="Montserrat" pitchFamily="34" charset="-120"/>
              </a:rPr>
              <a:t>lost over 72 h if nobody acts before 14:00</a:t>
            </a:r>
            <a:endParaRPr lang="en-US" sz="1000" dirty="0"/>
          </a:p>
        </p:txBody>
      </p:sp>
      <p:sp>
        <p:nvSpPr>
          <p:cNvPr id="17" name="Panel 14"/>
          <p:cNvSpPr/>
          <p:nvPr/>
        </p:nvSpPr>
        <p:spPr>
          <a:xfrm>
            <a:off x="9118625" y="5212080"/>
            <a:ext cx="2817038" cy="1188720"/>
          </a:xfrm>
          <a:prstGeom prst="roundRect">
            <a:avLst>
              <a:gd name="adj" fmla="val 9231"/>
            </a:avLst>
          </a:prstGeom>
          <a:solidFill>
            <a:schemeClr val="bg1"/>
          </a:solidFill>
          <a:ln w="31750">
            <a:solidFill>
              <a:srgbClr val="2E7D32"/>
            </a:solidFill>
            <a:prstDash val="solid"/>
          </a:ln>
        </p:spPr>
      </p:sp>
      <p:sp>
        <p:nvSpPr>
          <p:cNvPr id="18" name="Text 15"/>
          <p:cNvSpPr txBox="1"/>
          <p:nvPr/>
        </p:nvSpPr>
        <p:spPr>
          <a:xfrm>
            <a:off x="9283217" y="5303520"/>
            <a:ext cx="2487854" cy="1005840"/>
          </a:xfrm>
          <a:prstGeom prst="rect">
            <a:avLst/>
          </a:prstGeom>
          <a:noFill/>
          <a:ln/>
        </p:spPr>
        <p:txBody>
          <a:bodyPr wrap="square" lIns="0" tIns="0" rIns="0" bIns="0" rtlCol="0" anchor="ctr"/>
          <a:lstStyle/>
          <a:p>
            <a:pPr indent="0" marL="0">
              <a:buNone/>
            </a:pPr>
            <a:r>
              <a:rPr lang="en-US" sz="2400" b="1" dirty="0">
                <a:solidFill>
                  <a:schemeClr val="accent4"/>
                </a:solidFill>
                <a:latin typeface="Montserrat" pitchFamily="34" charset="0"/>
                <a:ea typeface="Montserrat" pitchFamily="34" charset="-122"/>
                <a:cs typeface="Montserrat" pitchFamily="34" charset="-120"/>
              </a:rPr>
              <a:t>0.995</a:t>
            </a:r>
            <a:endParaRPr lang="en-US" sz="1000" dirty="0"/>
          </a:p>
          <a:p>
            <a:pPr indent="0" marL="0">
              <a:buNone/>
            </a:pPr>
            <a:r>
              <a:rPr lang="en-US" sz="1000" dirty="0">
                <a:solidFill>
                  <a:schemeClr val="tx1"/>
                </a:solidFill>
                <a:latin typeface="Montserrat" pitchFamily="34" charset="0"/>
                <a:ea typeface="Montserrat" pitchFamily="34" charset="-122"/>
                <a:cs typeface="Montserrat" pitchFamily="34" charset="-120"/>
              </a:rPr>
              <a:t>AP@50 for cracked panels, held-out test split</a:t>
            </a:r>
            <a:endParaRPr lang="en-US" sz="1000" dirty="0"/>
          </a:p>
        </p:txBody>
      </p:sp>
      <p:sp>
        <p:nvSpPr>
          <p:cNvPr id="25" name="Slide Number Placeholder 0"/>
          <p:cNvSpPr>
            <a:spLocks noGrp="1"/>
          </p:cNvSpPr>
          <p:nvPr>
            <p:ph type="sldNum" sz="quarter" idx="4294967295"/>
          </p:nvPr>
        </p:nvSpPr>
        <p:spPr>
          <a:xfrm>
            <a:off x="11277295" y="6528816"/>
            <a:ext cx="64008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Montserrat"/>
                <a:ea typeface="Montserrat"/>
                <a:cs typeface="Montserrat"/>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2103120" y="91440"/>
            <a:ext cx="7345375" cy="731520"/>
          </a:xfrm>
          <a:prstGeom prst="rect">
            <a:avLst/>
          </a:prstGeom>
          <a:noFill/>
          <a:ln/>
        </p:spPr>
        <p:txBody>
          <a:bodyPr wrap="square" lIns="0" tIns="0" rIns="0" bIns="0" rtlCol="0" anchor="ctr"/>
          <a:lstStyle/>
          <a:p>
            <a:pPr algn="ctr" indent="0" marL="0">
              <a:buNone/>
            </a:pPr>
            <a:r>
              <a:rPr lang="en-US" sz="3200" b="1" dirty="0">
                <a:solidFill>
                  <a:schemeClr val="tx1"/>
                </a:solidFill>
                <a:latin typeface="Times New Roman" pitchFamily="34" charset="0"/>
                <a:ea typeface="Times New Roman" pitchFamily="34" charset="-122"/>
                <a:cs typeface="Times New Roman" pitchFamily="34" charset="-120"/>
              </a:rPr>
              <a:t>PROBLEM STATEMENT</a:t>
            </a:r>
            <a:endParaRPr lang="en-US" sz="3200" dirty="0"/>
          </a:p>
        </p:txBody>
      </p:sp>
      <p:sp>
        <p:nvSpPr>
          <p:cNvPr id="4" name="Text 16"/>
          <p:cNvSpPr txBox="1"/>
          <p:nvPr/>
        </p:nvSpPr>
        <p:spPr>
          <a:xfrm>
            <a:off x="301752" y="932688"/>
            <a:ext cx="11588191" cy="384048"/>
          </a:xfrm>
          <a:prstGeom prst="rect">
            <a:avLst/>
          </a:prstGeom>
          <a:noFill/>
          <a:ln/>
        </p:spPr>
        <p:txBody>
          <a:bodyPr wrap="square" lIns="0" tIns="0" rIns="0" bIns="0" rtlCol="0" anchor="ctr"/>
          <a:lstStyle/>
          <a:p>
            <a:pPr indent="0" marL="0">
              <a:buNone/>
            </a:pPr>
            <a:r>
              <a:rPr lang="en-US" sz="1800" b="1" dirty="0">
                <a:solidFill>
                  <a:schemeClr val="tx2"/>
                </a:solidFill>
                <a:latin typeface="Montserrat" pitchFamily="34" charset="0"/>
                <a:ea typeface="Montserrat" pitchFamily="34" charset="-122"/>
                <a:cs typeface="Montserrat" pitchFamily="34" charset="-120"/>
              </a:rPr>
              <a:t>THE PROBLEM:  </a:t>
            </a:r>
            <a:pPr indent="0" marL="0">
              <a:buNone/>
            </a:pPr>
            <a:r>
              <a:rPr lang="en-US" sz="1500" dirty="0">
                <a:solidFill>
                  <a:schemeClr val="tx1"/>
                </a:solidFill>
                <a:latin typeface="Montserrat" pitchFamily="34" charset="0"/>
                <a:ea typeface="Montserrat" pitchFamily="34" charset="-122"/>
                <a:cs typeface="Montserrat" pitchFamily="34" charset="-120"/>
              </a:rPr>
              <a:t>the plant knows its output fell, not why, or how long it can wait.</a:t>
            </a:r>
            <a:endParaRPr lang="en-US" sz="1000" dirty="0"/>
          </a:p>
        </p:txBody>
      </p:sp>
      <p:sp>
        <p:nvSpPr>
          <p:cNvPr id="5" name="Card 17"/>
          <p:cNvSpPr/>
          <p:nvPr/>
        </p:nvSpPr>
        <p:spPr>
          <a:xfrm>
            <a:off x="1490472" y="1408176"/>
            <a:ext cx="3108960" cy="384048"/>
          </a:xfrm>
          <a:prstGeom prst="roundRect">
            <a:avLst>
              <a:gd name="adj" fmla="val 14286"/>
            </a:avLst>
          </a:prstGeom>
          <a:solidFill>
            <a:schemeClr val="bg2"/>
          </a:solidFill>
          <a:ln w="25400">
            <a:solidFill>
              <a:srgbClr val="0B3C6F"/>
            </a:solidFill>
          </a:ln>
        </p:spPr>
        <p:txBody>
          <a:bodyPr wrap="square" lIns="50800" tIns="76200" rIns="76200" bIns="50800" rtlCol="0" anchor="ctr"/>
          <a:lstStyle/>
          <a:p>
            <a:pPr algn="ctr" indent="0" marL="0">
              <a:buNone/>
            </a:pPr>
            <a:r>
              <a:rPr lang="en-US" sz="1200" b="1" dirty="0">
                <a:solidFill>
                  <a:schemeClr val="tx2"/>
                </a:solidFill>
                <a:latin typeface="Montserrat" pitchFamily="34" charset="0"/>
                <a:ea typeface="Montserrat" pitchFamily="34" charset="-122"/>
                <a:cs typeface="Montserrat" pitchFamily="34" charset="-120"/>
              </a:rPr>
              <a:t>PLANT TELEMETRY (SCADA)</a:t>
            </a:r>
            <a:endParaRPr lang="en-US" sz="1200" dirty="0"/>
          </a:p>
        </p:txBody>
      </p:sp>
      <p:sp>
        <p:nvSpPr>
          <p:cNvPr id="6" name="Arrow 18"/>
          <p:cNvSpPr/>
          <p:nvPr/>
        </p:nvSpPr>
        <p:spPr>
          <a:xfrm>
            <a:off x="1490472" y="1828800"/>
            <a:ext cx="219456" cy="237744"/>
          </a:xfrm>
          <a:prstGeom prst="downArrow">
            <a:avLst/>
          </a:prstGeom>
          <a:solidFill>
            <a:schemeClr val="tx2"/>
          </a:solidFill>
          <a:ln w="12700">
            <a:solidFill>
              <a:srgbClr val="0B3C6F"/>
            </a:solidFill>
            <a:prstDash val="solid"/>
          </a:ln>
        </p:spPr>
      </p:sp>
      <p:sp>
        <p:nvSpPr>
          <p:cNvPr id="7" name="Arrow 19"/>
          <p:cNvSpPr/>
          <p:nvPr/>
        </p:nvSpPr>
        <p:spPr>
          <a:xfrm>
            <a:off x="4370832" y="1828800"/>
            <a:ext cx="219456" cy="237744"/>
          </a:xfrm>
          <a:prstGeom prst="downArrow">
            <a:avLst/>
          </a:prstGeom>
          <a:solidFill>
            <a:schemeClr val="tx2"/>
          </a:solidFill>
          <a:ln w="12700">
            <a:solidFill>
              <a:srgbClr val="0B3C6F"/>
            </a:solidFill>
            <a:prstDash val="solid"/>
          </a:ln>
        </p:spPr>
      </p:sp>
      <p:sp>
        <p:nvSpPr>
          <p:cNvPr id="8" name="Card 20"/>
          <p:cNvSpPr/>
          <p:nvPr/>
        </p:nvSpPr>
        <p:spPr>
          <a:xfrm>
            <a:off x="256032" y="2103120"/>
            <a:ext cx="2651760" cy="841248"/>
          </a:xfrm>
          <a:prstGeom prst="roundRect">
            <a:avLst>
              <a:gd name="adj" fmla="val 6522"/>
            </a:avLst>
          </a:prstGeom>
          <a:solidFill>
            <a:schemeClr val="bg1"/>
          </a:solidFill>
          <a:ln w="25400">
            <a:solidFill>
              <a:srgbClr val="2E7D32"/>
            </a:solidFill>
          </a:ln>
        </p:spPr>
        <p:txBody>
          <a:bodyPr wrap="square" lIns="50800" tIns="76200" rIns="76200" bIns="50800" rtlCol="0" anchor="ctr"/>
          <a:lstStyle/>
          <a:p>
            <a:pPr algn="ctr" indent="0" marL="0">
              <a:buNone/>
            </a:pPr>
            <a:r>
              <a:rPr lang="en-US" sz="1100" b="1" dirty="0">
                <a:solidFill>
                  <a:schemeClr val="accent4"/>
                </a:solidFill>
                <a:latin typeface="Montserrat" pitchFamily="34" charset="0"/>
                <a:ea typeface="Montserrat" pitchFamily="34" charset="-122"/>
                <a:cs typeface="Montserrat" pitchFamily="34" charset="-120"/>
              </a:rPr>
              <a:t>WHAT IT SAYS</a:t>
            </a:r>
            <a:endParaRPr lang="en-US" sz="1000" dirty="0"/>
          </a:p>
          <a:p>
            <a:pPr algn="ctr" indent="0" marL="0">
              <a:buNone/>
            </a:pPr>
            <a:r>
              <a:rPr lang="en-US" sz="1000" dirty="0">
                <a:solidFill>
                  <a:schemeClr val="tx1"/>
                </a:solidFill>
                <a:latin typeface="Montserrat" pitchFamily="34" charset="0"/>
                <a:ea typeface="Montserrat" pitchFamily="34" charset="-122"/>
                <a:cs typeface="Montserrat" pitchFamily="34" charset="-120"/>
              </a:rPr>
              <a:t>An inverter or a string is producing less than it should</a:t>
            </a:r>
            <a:endParaRPr lang="en-US" sz="1000" dirty="0"/>
          </a:p>
        </p:txBody>
      </p:sp>
      <p:sp>
        <p:nvSpPr>
          <p:cNvPr id="9" name="Card 21"/>
          <p:cNvSpPr/>
          <p:nvPr/>
        </p:nvSpPr>
        <p:spPr>
          <a:xfrm>
            <a:off x="3044952" y="2103120"/>
            <a:ext cx="2788920" cy="841248"/>
          </a:xfrm>
          <a:prstGeom prst="roundRect">
            <a:avLst>
              <a:gd name="adj" fmla="val 6522"/>
            </a:avLst>
          </a:prstGeom>
          <a:solidFill>
            <a:schemeClr val="bg1"/>
          </a:solidFill>
          <a:ln w="25400">
            <a:solidFill>
              <a:srgbClr val="B8322A"/>
            </a:solidFill>
          </a:ln>
        </p:spPr>
        <p:txBody>
          <a:bodyPr wrap="square" lIns="50800" tIns="76200" rIns="76200" bIns="50800" rtlCol="0" anchor="ctr"/>
          <a:lstStyle/>
          <a:p>
            <a:pPr algn="ctr" indent="0" marL="0">
              <a:buNone/>
            </a:pPr>
            <a:r>
              <a:rPr lang="en-US" sz="1100" b="1" dirty="0">
                <a:solidFill>
                  <a:schemeClr val="accent3"/>
                </a:solidFill>
                <a:latin typeface="Montserrat" pitchFamily="34" charset="0"/>
                <a:ea typeface="Montserrat" pitchFamily="34" charset="-122"/>
                <a:cs typeface="Montserrat" pitchFamily="34" charset="-120"/>
              </a:rPr>
              <a:t>WHAT IT CANNOT SAY</a:t>
            </a:r>
            <a:endParaRPr lang="en-US" sz="1000" dirty="0"/>
          </a:p>
          <a:p>
            <a:pPr algn="ctr" indent="0" marL="0">
              <a:buNone/>
            </a:pPr>
            <a:r>
              <a:rPr lang="en-US" sz="1000" b="1" dirty="0">
                <a:solidFill>
                  <a:schemeClr val="tx1"/>
                </a:solidFill>
                <a:latin typeface="Montserrat" pitchFamily="34" charset="0"/>
                <a:ea typeface="Montserrat" pitchFamily="34" charset="-122"/>
                <a:cs typeface="Montserrat" pitchFamily="34" charset="-120"/>
              </a:rPr>
              <a:t>Which module?    Dirt or damage?    How urgent?</a:t>
            </a:r>
            <a:endParaRPr lang="en-US" sz="1000" dirty="0"/>
          </a:p>
        </p:txBody>
      </p:sp>
      <p:sp>
        <p:nvSpPr>
          <p:cNvPr id="10" name="Arrow 22"/>
          <p:cNvSpPr/>
          <p:nvPr/>
        </p:nvSpPr>
        <p:spPr>
          <a:xfrm>
            <a:off x="2935224" y="2980944"/>
            <a:ext cx="219456" cy="219456"/>
          </a:xfrm>
          <a:prstGeom prst="downArrow">
            <a:avLst/>
          </a:prstGeom>
          <a:solidFill>
            <a:schemeClr val="accent3"/>
          </a:solidFill>
          <a:ln w="12700">
            <a:solidFill>
              <a:srgbClr val="B8322A"/>
            </a:solidFill>
            <a:prstDash val="solid"/>
          </a:ln>
        </p:spPr>
      </p:sp>
      <p:sp>
        <p:nvSpPr>
          <p:cNvPr id="11" name="Card 23"/>
          <p:cNvSpPr/>
          <p:nvPr/>
        </p:nvSpPr>
        <p:spPr>
          <a:xfrm>
            <a:off x="256032" y="3236976"/>
            <a:ext cx="5577840" cy="749808"/>
          </a:xfrm>
          <a:prstGeom prst="roundRect">
            <a:avLst>
              <a:gd name="adj" fmla="val 7317"/>
            </a:avLst>
          </a:prstGeom>
          <a:solidFill>
            <a:schemeClr val="bg1"/>
          </a:solidFill>
          <a:ln w="25400">
            <a:solidFill>
              <a:srgbClr val="B8322A"/>
            </a:solidFill>
          </a:ln>
        </p:spPr>
        <p:txBody>
          <a:bodyPr wrap="square" lIns="50800" tIns="76200" rIns="76200" bIns="50800" rtlCol="0" anchor="ctr"/>
          <a:lstStyle/>
          <a:p>
            <a:pPr indent="0" marL="0">
              <a:buNone/>
            </a:pPr>
            <a:r>
              <a:rPr lang="en-US" sz="1100" b="1" dirty="0">
                <a:solidFill>
                  <a:schemeClr val="accent3"/>
                </a:solidFill>
                <a:latin typeface="Montserrat" pitchFamily="34" charset="0"/>
                <a:ea typeface="Montserrat" pitchFamily="34" charset="-122"/>
                <a:cs typeface="Montserrat" pitchFamily="34" charset="-120"/>
              </a:rPr>
              <a:t>SO THE FAULT WAITS  </a:t>
            </a:r>
            <a:pPr indent="0" marL="0">
              <a:buNone/>
            </a:pPr>
            <a:r>
              <a:rPr lang="en-US" sz="1000" dirty="0">
                <a:solidFill>
                  <a:schemeClr val="tx1"/>
                </a:solidFill>
                <a:latin typeface="Montserrat" pitchFamily="34" charset="0"/>
                <a:ea typeface="Montserrat" pitchFamily="34" charset="-122"/>
                <a:cs typeface="Montserrat" pitchFamily="34" charset="-120"/>
              </a:rPr>
              <a:t>Someone drives out to look, or it sits until the next aerial survey. In our model, soiling and a cracked cell look the same from telemetry: only imaging separates them.</a:t>
            </a:r>
            <a:endParaRPr lang="en-US" sz="1000" dirty="0"/>
          </a:p>
        </p:txBody>
      </p:sp>
      <p:sp>
        <p:nvSpPr>
          <p:cNvPr id="12" name="Card 24"/>
          <p:cNvSpPr/>
          <p:nvPr/>
        </p:nvSpPr>
        <p:spPr>
          <a:xfrm>
            <a:off x="256032" y="4096512"/>
            <a:ext cx="1798320" cy="822960"/>
          </a:xfrm>
          <a:prstGeom prst="roundRect">
            <a:avLst>
              <a:gd name="adj" fmla="val 6667"/>
            </a:avLst>
          </a:prstGeom>
          <a:solidFill>
            <a:schemeClr val="bg2"/>
          </a:solidFill>
          <a:ln w="12700">
            <a:solidFill>
              <a:srgbClr val="0B3C6F"/>
            </a:solidFill>
          </a:ln>
        </p:spPr>
        <p:txBody>
          <a:bodyPr wrap="square" lIns="38100" tIns="76200" rIns="76200" bIns="38100" rtlCol="0" anchor="ctr"/>
          <a:lstStyle/>
          <a:p>
            <a:pPr indent="0" marL="0">
              <a:buNone/>
            </a:pPr>
            <a:r>
              <a:rPr lang="en-US" sz="1400" b="1" dirty="0">
                <a:solidFill>
                  <a:schemeClr val="tx2"/>
                </a:solidFill>
                <a:latin typeface="Montserrat" pitchFamily="34" charset="0"/>
                <a:ea typeface="Montserrat" pitchFamily="34" charset="-122"/>
                <a:cs typeface="Montserrat" pitchFamily="34" charset="-120"/>
              </a:rPr>
              <a:t>Annual</a:t>
            </a:r>
            <a:endParaRPr lang="en-US" sz="1000" dirty="0"/>
          </a:p>
          <a:p>
            <a:pPr indent="0" marL="0">
              <a:buNone/>
            </a:pPr>
            <a:r>
              <a:rPr lang="en-US" sz="900" dirty="0">
                <a:solidFill>
                  <a:schemeClr val="tx1"/>
                </a:solidFill>
                <a:latin typeface="Montserrat" pitchFamily="34" charset="0"/>
                <a:ea typeface="Montserrat" pitchFamily="34" charset="-122"/>
                <a:cs typeface="Montserrat" pitchFamily="34" charset="-120"/>
              </a:rPr>
              <a:t>the usual cadence of aerial infrared inspection</a:t>
            </a:r>
            <a:endParaRPr lang="en-US" sz="1000" dirty="0"/>
          </a:p>
        </p:txBody>
      </p:sp>
      <p:sp>
        <p:nvSpPr>
          <p:cNvPr id="13" name="Card 25"/>
          <p:cNvSpPr/>
          <p:nvPr/>
        </p:nvSpPr>
        <p:spPr>
          <a:xfrm>
            <a:off x="2145792" y="4096512"/>
            <a:ext cx="1798320" cy="822960"/>
          </a:xfrm>
          <a:prstGeom prst="roundRect">
            <a:avLst>
              <a:gd name="adj" fmla="val 6667"/>
            </a:avLst>
          </a:prstGeom>
          <a:solidFill>
            <a:schemeClr val="bg2"/>
          </a:solidFill>
          <a:ln w="12700">
            <a:solidFill>
              <a:srgbClr val="0B3C6F"/>
            </a:solidFill>
          </a:ln>
        </p:spPr>
        <p:txBody>
          <a:bodyPr wrap="square" lIns="38100" tIns="76200" rIns="76200" bIns="38100" rtlCol="0" anchor="ctr"/>
          <a:lstStyle/>
          <a:p>
            <a:pPr indent="0" marL="0">
              <a:buNone/>
            </a:pPr>
            <a:r>
              <a:rPr lang="en-US" sz="1400" b="1" dirty="0">
                <a:solidFill>
                  <a:schemeClr val="accent6"/>
                </a:solidFill>
                <a:latin typeface="Montserrat" pitchFamily="34" charset="0"/>
                <a:ea typeface="Montserrat" pitchFamily="34" charset="-122"/>
                <a:cs typeface="Montserrat" pitchFamily="34" charset="-120"/>
              </a:rPr>
              <a:t>Weeks to months</a:t>
            </a:r>
            <a:endParaRPr lang="en-US" sz="1000" dirty="0"/>
          </a:p>
          <a:p>
            <a:pPr indent="0" marL="0">
              <a:buNone/>
            </a:pPr>
            <a:r>
              <a:rPr lang="en-US" sz="900" dirty="0">
                <a:solidFill>
                  <a:schemeClr val="tx1"/>
                </a:solidFill>
                <a:latin typeface="Montserrat" pitchFamily="34" charset="0"/>
                <a:ea typeface="Montserrat" pitchFamily="34" charset="-122"/>
                <a:cs typeface="Montserrat" pitchFamily="34" charset="-120"/>
              </a:rPr>
              <a:t>faults below the inverter go undetected</a:t>
            </a:r>
            <a:endParaRPr lang="en-US" sz="1000" dirty="0"/>
          </a:p>
        </p:txBody>
      </p:sp>
      <p:sp>
        <p:nvSpPr>
          <p:cNvPr id="14" name="Card 26"/>
          <p:cNvSpPr/>
          <p:nvPr/>
        </p:nvSpPr>
        <p:spPr>
          <a:xfrm>
            <a:off x="4035552" y="4096512"/>
            <a:ext cx="1798320" cy="822960"/>
          </a:xfrm>
          <a:prstGeom prst="roundRect">
            <a:avLst>
              <a:gd name="adj" fmla="val 6667"/>
            </a:avLst>
          </a:prstGeom>
          <a:solidFill>
            <a:schemeClr val="bg2"/>
          </a:solidFill>
          <a:ln w="12700">
            <a:solidFill>
              <a:srgbClr val="0B3C6F"/>
            </a:solidFill>
          </a:ln>
        </p:spPr>
        <p:txBody>
          <a:bodyPr wrap="square" lIns="38100" tIns="76200" rIns="76200" bIns="38100" rtlCol="0" anchor="ctr"/>
          <a:lstStyle/>
          <a:p>
            <a:pPr indent="0" marL="0">
              <a:buNone/>
            </a:pPr>
            <a:r>
              <a:rPr lang="en-US" sz="1400" b="1" dirty="0">
                <a:solidFill>
                  <a:schemeClr val="accent3"/>
                </a:solidFill>
                <a:latin typeface="Montserrat" pitchFamily="34" charset="0"/>
                <a:ea typeface="Montserrat" pitchFamily="34" charset="-122"/>
                <a:cs typeface="Montserrat" pitchFamily="34" charset="-120"/>
              </a:rPr>
              <a:t>−41.7 %</a:t>
            </a:r>
            <a:endParaRPr lang="en-US" sz="1000" dirty="0"/>
          </a:p>
          <a:p>
            <a:pPr indent="0" marL="0">
              <a:buNone/>
            </a:pPr>
            <a:r>
              <a:rPr lang="en-US" sz="900" dirty="0">
                <a:solidFill>
                  <a:schemeClr val="tx1"/>
                </a:solidFill>
                <a:latin typeface="Montserrat" pitchFamily="34" charset="0"/>
                <a:ea typeface="Montserrat" pitchFamily="34" charset="-122"/>
                <a:cs typeface="Montserrat" pitchFamily="34" charset="-120"/>
              </a:rPr>
              <a:t>one cracked array in our model: 3.07 MWh, ₹7,509 lost in 72 h</a:t>
            </a:r>
            <a:endParaRPr lang="en-US" sz="1000" dirty="0"/>
          </a:p>
        </p:txBody>
      </p:sp>
      <p:sp>
        <p:nvSpPr>
          <p:cNvPr id="15" name="Text 27"/>
          <p:cNvSpPr txBox="1"/>
          <p:nvPr/>
        </p:nvSpPr>
        <p:spPr>
          <a:xfrm>
            <a:off x="256032" y="4946904"/>
            <a:ext cx="5577840" cy="182880"/>
          </a:xfrm>
          <a:prstGeom prst="rect">
            <a:avLst/>
          </a:prstGeom>
          <a:noFill/>
          <a:ln/>
        </p:spPr>
        <p:txBody>
          <a:bodyPr wrap="square" lIns="0" tIns="0" rIns="0" bIns="0" rtlCol="0" anchor="t"/>
          <a:lstStyle/>
          <a:p>
            <a:pPr indent="0" marL="0">
              <a:buNone/>
            </a:pPr>
            <a:r>
              <a:rPr lang="en-US" sz="800" dirty="0">
                <a:solidFill>
                  <a:schemeClr val="accent1"/>
                </a:solidFill>
                <a:latin typeface="Montserrat" pitchFamily="34" charset="0"/>
                <a:ea typeface="Montserrat" pitchFamily="34" charset="-122"/>
                <a:cs typeface="Montserrat" pitchFamily="34" charset="-120"/>
              </a:rPr>
              <a:t>Sources: Turbine Logic and EPRI, osti.gov/servlets/purl/1960134; third figure, our PV model.</a:t>
            </a:r>
            <a:endParaRPr lang="en-US" sz="800" dirty="0"/>
          </a:p>
        </p:txBody>
      </p:sp>
      <p:sp>
        <p:nvSpPr>
          <p:cNvPr id="16" name="Panel 28"/>
          <p:cNvSpPr/>
          <p:nvPr/>
        </p:nvSpPr>
        <p:spPr>
          <a:xfrm>
            <a:off x="256032" y="5175504"/>
            <a:ext cx="5577840" cy="1225296"/>
          </a:xfrm>
          <a:prstGeom prst="roundRect">
            <a:avLst>
              <a:gd name="adj" fmla="val 8955"/>
            </a:avLst>
          </a:prstGeom>
          <a:solidFill>
            <a:schemeClr val="bg1"/>
          </a:solidFill>
          <a:ln w="31750">
            <a:solidFill>
              <a:srgbClr val="0B3C6F"/>
            </a:solidFill>
            <a:prstDash val="solid"/>
          </a:ln>
        </p:spPr>
      </p:sp>
      <p:sp>
        <p:nvSpPr>
          <p:cNvPr id="17" name="Heading 29"/>
          <p:cNvSpPr txBox="1"/>
          <p:nvPr/>
        </p:nvSpPr>
        <p:spPr>
          <a:xfrm>
            <a:off x="402336" y="5239512"/>
            <a:ext cx="5285232" cy="365760"/>
          </a:xfrm>
          <a:prstGeom prst="rect">
            <a:avLst/>
          </a:prstGeom>
          <a:noFill/>
          <a:ln/>
        </p:spPr>
        <p:txBody>
          <a:bodyPr wrap="square" lIns="0" tIns="0" rIns="0" bIns="0" rtlCol="0" anchor="ctr"/>
          <a:lstStyle/>
          <a:p>
            <a:pPr indent="0" marL="0">
              <a:buNone/>
            </a:pPr>
            <a:r>
              <a:rPr lang="en-US" sz="1700" b="1" dirty="0">
                <a:solidFill>
                  <a:schemeClr val="tx2"/>
                </a:solidFill>
                <a:latin typeface="Montserrat" pitchFamily="34" charset="0"/>
                <a:ea typeface="Montserrat" pitchFamily="34" charset="-122"/>
                <a:cs typeface="Montserrat" pitchFamily="34" charset="-120"/>
              </a:rPr>
              <a:t>WHO BENEFITS</a:t>
            </a:r>
            <a:endParaRPr lang="en-US" sz="1700" dirty="0"/>
          </a:p>
        </p:txBody>
      </p:sp>
      <p:pic>
        <p:nvPicPr>
          <p:cNvPr id="18" name="Icon 30 tools" descr="D:\Projects\12. project\ppt\images\icons\tools-navy.png">    </p:cNvPr>
          <p:cNvPicPr>
            <a:picLocks noChangeAspect="1"/>
          </p:cNvPicPr>
          <p:nvPr/>
        </p:nvPicPr>
        <p:blipFill>
          <a:blip r:embed="rId1"/>
          <a:stretch>
            <a:fillRect/>
          </a:stretch>
        </p:blipFill>
        <p:spPr>
          <a:xfrm>
            <a:off x="393192" y="5678424"/>
            <a:ext cx="384048" cy="384048"/>
          </a:xfrm>
          <a:prstGeom prst="rect">
            <a:avLst/>
          </a:prstGeom>
        </p:spPr>
      </p:pic>
      <p:sp>
        <p:nvSpPr>
          <p:cNvPr id="19" name="Text 31"/>
          <p:cNvSpPr txBox="1"/>
          <p:nvPr/>
        </p:nvSpPr>
        <p:spPr>
          <a:xfrm>
            <a:off x="886968" y="5650992"/>
            <a:ext cx="1228344" cy="731520"/>
          </a:xfrm>
          <a:prstGeom prst="rect">
            <a:avLst/>
          </a:prstGeom>
          <a:noFill/>
          <a:ln/>
        </p:spPr>
        <p:txBody>
          <a:bodyPr wrap="square" lIns="0" tIns="0" rIns="0" bIns="0" rtlCol="0" anchor="t"/>
          <a:lstStyle/>
          <a:p>
            <a:pPr indent="0" marL="0">
              <a:buNone/>
            </a:pPr>
            <a:r>
              <a:rPr lang="en-US" sz="1100" b="1" dirty="0">
                <a:solidFill>
                  <a:schemeClr val="tx2"/>
                </a:solidFill>
                <a:latin typeface="Montserrat" pitchFamily="34" charset="0"/>
                <a:ea typeface="Montserrat" pitchFamily="34" charset="-122"/>
                <a:cs typeface="Montserrat" pitchFamily="34" charset="-120"/>
              </a:rPr>
              <a:t>O&amp;M crews</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Which array, what repair, by when</a:t>
            </a:r>
            <a:endParaRPr lang="en-US" sz="1000" dirty="0"/>
          </a:p>
        </p:txBody>
      </p:sp>
      <p:pic>
        <p:nvPicPr>
          <p:cNvPr id="20" name="Icon 32 rupee" descr="D:\Projects\12. project\ppt\images\icons\rupee-green.png">    </p:cNvPr>
          <p:cNvPicPr>
            <a:picLocks noChangeAspect="1"/>
          </p:cNvPicPr>
          <p:nvPr/>
        </p:nvPicPr>
        <p:blipFill>
          <a:blip r:embed="rId2"/>
          <a:stretch>
            <a:fillRect/>
          </a:stretch>
        </p:blipFill>
        <p:spPr>
          <a:xfrm>
            <a:off x="2161032" y="5678424"/>
            <a:ext cx="384048" cy="384048"/>
          </a:xfrm>
          <a:prstGeom prst="rect">
            <a:avLst/>
          </a:prstGeom>
        </p:spPr>
      </p:pic>
      <p:sp>
        <p:nvSpPr>
          <p:cNvPr id="21" name="Text 33"/>
          <p:cNvSpPr txBox="1"/>
          <p:nvPr/>
        </p:nvSpPr>
        <p:spPr>
          <a:xfrm>
            <a:off x="2654808" y="5650992"/>
            <a:ext cx="1228344" cy="731520"/>
          </a:xfrm>
          <a:prstGeom prst="rect">
            <a:avLst/>
          </a:prstGeom>
          <a:noFill/>
          <a:ln/>
        </p:spPr>
        <p:txBody>
          <a:bodyPr wrap="square" lIns="0" tIns="0" rIns="0" bIns="0" rtlCol="0" anchor="t"/>
          <a:lstStyle/>
          <a:p>
            <a:pPr indent="0" marL="0">
              <a:buNone/>
            </a:pPr>
            <a:r>
              <a:rPr lang="en-US" sz="1100" b="1" dirty="0">
                <a:solidFill>
                  <a:schemeClr val="accent4"/>
                </a:solidFill>
                <a:latin typeface="Montserrat" pitchFamily="34" charset="0"/>
                <a:ea typeface="Montserrat" pitchFamily="34" charset="-122"/>
                <a:cs typeface="Montserrat" pitchFamily="34" charset="-120"/>
              </a:rPr>
              <a:t>Asset owners</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Loss in MWh and in rupees</a:t>
            </a:r>
            <a:endParaRPr lang="en-US" sz="1000" dirty="0"/>
          </a:p>
        </p:txBody>
      </p:sp>
      <p:pic>
        <p:nvPicPr>
          <p:cNvPr id="22" name="Icon 34 bolt" descr="D:\Projects\12. project\ppt\images\icons\bolt-purple.png">    </p:cNvPr>
          <p:cNvPicPr>
            <a:picLocks noChangeAspect="1"/>
          </p:cNvPicPr>
          <p:nvPr/>
        </p:nvPicPr>
        <p:blipFill>
          <a:blip r:embed="rId3"/>
          <a:stretch>
            <a:fillRect/>
          </a:stretch>
        </p:blipFill>
        <p:spPr>
          <a:xfrm>
            <a:off x="3928872" y="5678424"/>
            <a:ext cx="384048" cy="384048"/>
          </a:xfrm>
          <a:prstGeom prst="rect">
            <a:avLst/>
          </a:prstGeom>
        </p:spPr>
      </p:pic>
      <p:sp>
        <p:nvSpPr>
          <p:cNvPr id="23" name="Text 35"/>
          <p:cNvSpPr txBox="1"/>
          <p:nvPr/>
        </p:nvSpPr>
        <p:spPr>
          <a:xfrm>
            <a:off x="4422648" y="5650992"/>
            <a:ext cx="1228344" cy="731520"/>
          </a:xfrm>
          <a:prstGeom prst="rect">
            <a:avLst/>
          </a:prstGeom>
          <a:noFill/>
          <a:ln/>
        </p:spPr>
        <p:txBody>
          <a:bodyPr wrap="square" lIns="0" tIns="0" rIns="0" bIns="0" rtlCol="0" anchor="t"/>
          <a:lstStyle/>
          <a:p>
            <a:pPr indent="0" marL="0">
              <a:buNone/>
            </a:pPr>
            <a:r>
              <a:rPr lang="en-US" sz="1100" b="1" dirty="0">
                <a:solidFill>
                  <a:schemeClr val="accent5"/>
                </a:solidFill>
                <a:latin typeface="Montserrat" pitchFamily="34" charset="0"/>
                <a:ea typeface="Montserrat" pitchFamily="34" charset="-122"/>
                <a:cs typeface="Montserrat" pitchFamily="34" charset="-120"/>
              </a:rPr>
              <a:t>Grid off-taker</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More contracted energy delivered</a:t>
            </a:r>
            <a:endParaRPr lang="en-US" sz="1000" dirty="0"/>
          </a:p>
        </p:txBody>
      </p:sp>
      <p:sp>
        <p:nvSpPr>
          <p:cNvPr id="24" name="Panel 36"/>
          <p:cNvSpPr/>
          <p:nvPr/>
        </p:nvSpPr>
        <p:spPr>
          <a:xfrm>
            <a:off x="6016752" y="1408176"/>
            <a:ext cx="5918911" cy="4992624"/>
          </a:xfrm>
          <a:prstGeom prst="roundRect">
            <a:avLst>
              <a:gd name="adj" fmla="val 2198"/>
            </a:avLst>
          </a:prstGeom>
          <a:solidFill>
            <a:schemeClr val="bg1"/>
          </a:solidFill>
          <a:ln w="31750">
            <a:solidFill>
              <a:srgbClr val="0B3C6F"/>
            </a:solidFill>
            <a:prstDash val="solid"/>
          </a:ln>
        </p:spPr>
      </p:sp>
      <p:sp>
        <p:nvSpPr>
          <p:cNvPr id="25" name="Heading 37"/>
          <p:cNvSpPr txBox="1"/>
          <p:nvPr/>
        </p:nvSpPr>
        <p:spPr>
          <a:xfrm>
            <a:off x="6163056" y="1472184"/>
            <a:ext cx="5626303" cy="365760"/>
          </a:xfrm>
          <a:prstGeom prst="rect">
            <a:avLst/>
          </a:prstGeom>
          <a:noFill/>
          <a:ln/>
        </p:spPr>
        <p:txBody>
          <a:bodyPr wrap="square" lIns="0" tIns="0" rIns="0" bIns="0" rtlCol="0" anchor="ctr"/>
          <a:lstStyle/>
          <a:p>
            <a:pPr indent="0" marL="0">
              <a:buNone/>
            </a:pPr>
            <a:r>
              <a:rPr lang="en-US" sz="1700" b="1" dirty="0">
                <a:solidFill>
                  <a:schemeClr val="tx2"/>
                </a:solidFill>
                <a:latin typeface="Montserrat" pitchFamily="34" charset="0"/>
                <a:ea typeface="Montserrat" pitchFamily="34" charset="-122"/>
                <a:cs typeface="Montserrat" pitchFamily="34" charset="-120"/>
              </a:rPr>
              <a:t>EXISTING GAPS</a:t>
            </a:r>
            <a:endParaRPr lang="en-US" sz="1700" dirty="0"/>
          </a:p>
        </p:txBody>
      </p:sp>
      <p:graphicFrame>
        <p:nvGraphicFramePr>
          <p:cNvPr id="3" name="Table 38"/>
          <p:cNvGraphicFramePr>
            <a:graphicFrameLocks noGrp="1"/>
          </p:cNvGraphicFramePr>
          <p:nvPr>
            <p:extLst>
              <p:ext uri="{D42A27DB-BD31-4B8C-83A1-F6EECF244321}">
                <p14:modId xmlns:p14="http://schemas.microsoft.com/office/powerpoint/2010/main" val="1579011935"/>
              </p:ext>
            </p:extLst>
          </p:nvPr>
        </p:nvGraphicFramePr>
        <p:xfrm>
          <a:off x="6153912" y="1883664"/>
          <a:ext cx="5644591" cy="914400"/>
        </p:xfrm>
        <a:graphic>
          <a:graphicData uri="http://schemas.openxmlformats.org/drawingml/2006/table">
            <a:tbl>
              <a:tblPr/>
              <a:tblGrid>
                <a:gridCol w="1691640"/>
                <a:gridCol w="1920240"/>
                <a:gridCol w="2032711"/>
              </a:tblGrid>
              <a:tr h="0">
                <a:tc>
                  <a:txBody>
                    <a:bodyPr/>
                    <a:lstStyle/>
                    <a:p>
                      <a:pPr indent="0" marL="0">
                        <a:buNone/>
                      </a:pPr>
                      <a:r>
                        <a:rPr lang="en-US" sz="900" b="1" dirty="0">
                          <a:solidFill>
                            <a:srgbClr val="FFFFFF"/>
                          </a:solidFill>
                          <a:latin typeface="Montserrat" pitchFamily="34" charset="0"/>
                          <a:ea typeface="Montserrat" pitchFamily="34" charset="-122"/>
                          <a:cs typeface="Montserrat" pitchFamily="34" charset="-120"/>
                        </a:rPr>
                        <a:t>Approach</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0B3C6F"/>
                    </a:solidFill>
                  </a:tcPr>
                </a:tc>
                <a:tc>
                  <a:txBody>
                    <a:bodyPr/>
                    <a:lstStyle/>
                    <a:p>
                      <a:pPr indent="0" marL="0">
                        <a:buNone/>
                      </a:pPr>
                      <a:r>
                        <a:rPr lang="en-US" sz="900" b="1" dirty="0">
                          <a:solidFill>
                            <a:srgbClr val="FFFFFF"/>
                          </a:solidFill>
                          <a:latin typeface="Montserrat" pitchFamily="34" charset="0"/>
                          <a:ea typeface="Montserrat" pitchFamily="34" charset="-122"/>
                          <a:cs typeface="Montserrat" pitchFamily="34" charset="-120"/>
                        </a:rPr>
                        <a:t>What it gives</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0B3C6F"/>
                    </a:solidFill>
                  </a:tcPr>
                </a:tc>
                <a:tc>
                  <a:txBody>
                    <a:bodyPr/>
                    <a:lstStyle/>
                    <a:p>
                      <a:pPr indent="0" marL="0">
                        <a:buNone/>
                      </a:pPr>
                      <a:r>
                        <a:rPr lang="en-US" sz="900" b="1" dirty="0">
                          <a:solidFill>
                            <a:srgbClr val="FFFFFF"/>
                          </a:solidFill>
                          <a:latin typeface="Montserrat" pitchFamily="34" charset="0"/>
                          <a:ea typeface="Montserrat" pitchFamily="34" charset="-122"/>
                          <a:cs typeface="Montserrat" pitchFamily="34" charset="-120"/>
                        </a:rPr>
                        <a:t>What is still missing</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0B3C6F"/>
                    </a:solidFill>
                  </a:tcPr>
                </a:tc>
              </a:tr>
              <a:tr h="0">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Plant SCADA and inverter monitoring</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Output fell, at an inverter or a string</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Which module, why, and how urgent</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Annual aerial infrared survey</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A thermal map of the whole field</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Flown once a year, so faults sit for weeks to months</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Drone and AI inspection platforms (Raptor Maps, Zeitview, Sitemark)</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Thermal imaging, AI defect classes, 3D twins under way</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A report of defects. No deadline, no crew plan, no re-plan when conditions change</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3C6F"/>
                          </a:solidFill>
                          <a:latin typeface="Montserrat" pitchFamily="34" charset="0"/>
                          <a:ea typeface="Montserrat" pitchFamily="34" charset="-122"/>
                          <a:cs typeface="Montserrat" pitchFamily="34" charset="-120"/>
                        </a:rPr>
                        <a:t>SURYA AGENT</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EEF4FB"/>
                    </a:solidFill>
                  </a:tcPr>
                </a:tc>
                <a:tc>
                  <a:txBody>
                    <a:bodyPr/>
                    <a:lstStyle/>
                    <a:p>
                      <a:pPr indent="0" marL="0">
                        <a:buNone/>
                      </a:pPr>
                      <a:r>
                        <a:rPr lang="en-US" sz="900" b="1" dirty="0">
                          <a:solidFill>
                            <a:srgbClr val="111111"/>
                          </a:solidFill>
                          <a:latin typeface="Montserrat" pitchFamily="34" charset="0"/>
                          <a:ea typeface="Montserrat" pitchFamily="34" charset="-122"/>
                          <a:cs typeface="Montserrat" pitchFamily="34" charset="-120"/>
                        </a:rPr>
                        <a:t>A ranked work order with a computed deadline, re-derived live, arithmetic on screen</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EEF4FB"/>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A prototype on simulated telemetry. Not yet connected to a real plant</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EEF4FB"/>
                    </a:solidFill>
                  </a:tcPr>
                </a:tc>
              </a:tr>
            </a:tbl>
          </a:graphicData>
        </a:graphic>
      </p:graphicFrame>
      <p:pic>
        <p:nvPicPr>
          <p:cNvPr id="27" name="Icon 39 search" descr="D:\Projects\12. project\ppt\images\icons\search-red.png">    </p:cNvPr>
          <p:cNvPicPr>
            <a:picLocks noChangeAspect="1"/>
          </p:cNvPicPr>
          <p:nvPr/>
        </p:nvPicPr>
        <p:blipFill>
          <a:blip r:embed="rId4"/>
          <a:stretch>
            <a:fillRect/>
          </a:stretch>
        </p:blipFill>
        <p:spPr>
          <a:xfrm>
            <a:off x="6153912" y="4398264"/>
            <a:ext cx="384048" cy="384048"/>
          </a:xfrm>
          <a:prstGeom prst="rect">
            <a:avLst/>
          </a:prstGeom>
        </p:spPr>
      </p:pic>
      <p:sp>
        <p:nvSpPr>
          <p:cNvPr id="28" name="Text 40"/>
          <p:cNvSpPr txBox="1"/>
          <p:nvPr/>
        </p:nvSpPr>
        <p:spPr>
          <a:xfrm>
            <a:off x="6647688" y="4370832"/>
            <a:ext cx="5150815" cy="822960"/>
          </a:xfrm>
          <a:prstGeom prst="rect">
            <a:avLst/>
          </a:prstGeom>
          <a:noFill/>
          <a:ln/>
        </p:spPr>
        <p:txBody>
          <a:bodyPr wrap="square" lIns="0" tIns="0" rIns="0" bIns="0" rtlCol="0" anchor="t"/>
          <a:lstStyle/>
          <a:p>
            <a:pPr indent="0" marL="0">
              <a:buNone/>
            </a:pPr>
            <a:r>
              <a:rPr lang="en-US" sz="1100" b="1" dirty="0">
                <a:solidFill>
                  <a:schemeClr val="accent3"/>
                </a:solidFill>
                <a:latin typeface="Montserrat" pitchFamily="34" charset="0"/>
                <a:ea typeface="Montserrat" pitchFamily="34" charset="-122"/>
                <a:cs typeface="Montserrat" pitchFamily="34" charset="-120"/>
              </a:rPr>
              <a:t>What nobody hands over</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A defect report tells you a panel is bad. It does not tell you when the damage stops being recoverable, which job the crew should do first, or what changes when the weather turns.</a:t>
            </a:r>
            <a:endParaRPr lang="en-US" sz="1000" dirty="0"/>
          </a:p>
        </p:txBody>
      </p:sp>
      <p:pic>
        <p:nvPicPr>
          <p:cNvPr id="29" name="Icon 41 scale" descr="D:\Projects\12. project\ppt\images\icons\scale-navy.png">    </p:cNvPr>
          <p:cNvPicPr>
            <a:picLocks noChangeAspect="1"/>
          </p:cNvPicPr>
          <p:nvPr/>
        </p:nvPicPr>
        <p:blipFill>
          <a:blip r:embed="rId5"/>
          <a:stretch>
            <a:fillRect/>
          </a:stretch>
        </p:blipFill>
        <p:spPr>
          <a:xfrm>
            <a:off x="6153912" y="5294376"/>
            <a:ext cx="384048" cy="384048"/>
          </a:xfrm>
          <a:prstGeom prst="rect">
            <a:avLst/>
          </a:prstGeom>
        </p:spPr>
      </p:pic>
      <p:sp>
        <p:nvSpPr>
          <p:cNvPr id="30" name="Text 42"/>
          <p:cNvSpPr txBox="1"/>
          <p:nvPr/>
        </p:nvSpPr>
        <p:spPr>
          <a:xfrm>
            <a:off x="6647688" y="5266944"/>
            <a:ext cx="5150815" cy="731520"/>
          </a:xfrm>
          <a:prstGeom prst="rect">
            <a:avLst/>
          </a:prstGeom>
          <a:noFill/>
          <a:ln/>
        </p:spPr>
        <p:txBody>
          <a:bodyPr wrap="square" lIns="0" tIns="0" rIns="0" bIns="0" rtlCol="0" anchor="t"/>
          <a:lstStyle/>
          <a:p>
            <a:pPr indent="0" marL="0">
              <a:buNone/>
            </a:pPr>
            <a:r>
              <a:rPr lang="en-US" sz="1100" b="1" dirty="0">
                <a:solidFill>
                  <a:schemeClr val="tx2"/>
                </a:solidFill>
                <a:latin typeface="Montserrat" pitchFamily="34" charset="0"/>
                <a:ea typeface="Montserrat" pitchFamily="34" charset="-122"/>
                <a:cs typeface="Montserrat" pitchFamily="34" charset="-120"/>
              </a:rPr>
              <a:t>What we do not claim</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The twin and the detection already exist elsewhere, and our thermal evidence comes from Raptor Maps’ own open dataset. What we add is the step after the picture.</a:t>
            </a:r>
            <a:endParaRPr lang="en-US" sz="1000" dirty="0"/>
          </a:p>
        </p:txBody>
      </p:sp>
      <p:sp>
        <p:nvSpPr>
          <p:cNvPr id="31" name="Text 43"/>
          <p:cNvSpPr txBox="1"/>
          <p:nvPr/>
        </p:nvSpPr>
        <p:spPr>
          <a:xfrm>
            <a:off x="6153912" y="6126480"/>
            <a:ext cx="5644591" cy="201168"/>
          </a:xfrm>
          <a:prstGeom prst="rect">
            <a:avLst/>
          </a:prstGeom>
          <a:noFill/>
          <a:ln/>
        </p:spPr>
        <p:txBody>
          <a:bodyPr wrap="square" lIns="0" tIns="0" rIns="0" bIns="0" rtlCol="0" anchor="t"/>
          <a:lstStyle/>
          <a:p>
            <a:pPr indent="0" marL="0">
              <a:buNone/>
            </a:pPr>
            <a:r>
              <a:rPr lang="en-US" sz="850" dirty="0">
                <a:solidFill>
                  <a:schemeClr val="accent1"/>
                </a:solidFill>
                <a:latin typeface="Montserrat" pitchFamily="34" charset="0"/>
                <a:ea typeface="Montserrat" pitchFamily="34" charset="-122"/>
                <a:cs typeface="Montserrat" pitchFamily="34" charset="-120"/>
              </a:rPr>
              <a:t>Gaps from our prior-art sweep of 4 Oct 2026, read from each company’s public material. Not a benchmark.</a:t>
            </a:r>
            <a:endParaRPr lang="en-US" sz="850" dirty="0"/>
          </a:p>
        </p:txBody>
      </p:sp>
      <p:sp>
        <p:nvSpPr>
          <p:cNvPr id="25" name="Slide Number Placeholder 0"/>
          <p:cNvSpPr>
            <a:spLocks noGrp="1"/>
          </p:cNvSpPr>
          <p:nvPr>
            <p:ph type="sldNum" sz="quarter" idx="4294967295"/>
          </p:nvPr>
        </p:nvSpPr>
        <p:spPr>
          <a:xfrm>
            <a:off x="11277295" y="6528816"/>
            <a:ext cx="64008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Montserrat"/>
                <a:ea typeface="Montserrat"/>
                <a:cs typeface="Montserra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2103120" y="91440"/>
            <a:ext cx="7345375" cy="731520"/>
          </a:xfrm>
          <a:prstGeom prst="rect">
            <a:avLst/>
          </a:prstGeom>
          <a:noFill/>
          <a:ln/>
        </p:spPr>
        <p:txBody>
          <a:bodyPr wrap="square" lIns="0" tIns="0" rIns="0" bIns="0" rtlCol="0" anchor="ctr"/>
          <a:lstStyle/>
          <a:p>
            <a:pPr algn="ctr" indent="0" marL="0">
              <a:buNone/>
            </a:pPr>
            <a:r>
              <a:rPr lang="en-US" sz="3200" b="1" dirty="0">
                <a:solidFill>
                  <a:schemeClr val="tx1"/>
                </a:solidFill>
                <a:latin typeface="Times New Roman" pitchFamily="34" charset="0"/>
                <a:ea typeface="Times New Roman" pitchFamily="34" charset="-122"/>
                <a:cs typeface="Times New Roman" pitchFamily="34" charset="-120"/>
              </a:rPr>
              <a:t>OUR SOLUTION</a:t>
            </a:r>
            <a:endParaRPr lang="en-US" sz="3200" dirty="0"/>
          </a:p>
        </p:txBody>
      </p:sp>
      <p:sp>
        <p:nvSpPr>
          <p:cNvPr id="4" name="Text 44"/>
          <p:cNvSpPr txBox="1"/>
          <p:nvPr/>
        </p:nvSpPr>
        <p:spPr>
          <a:xfrm>
            <a:off x="301752" y="932688"/>
            <a:ext cx="11588191" cy="384048"/>
          </a:xfrm>
          <a:prstGeom prst="rect">
            <a:avLst/>
          </a:prstGeom>
          <a:noFill/>
          <a:ln/>
        </p:spPr>
        <p:txBody>
          <a:bodyPr wrap="square" lIns="0" tIns="0" rIns="0" bIns="0" rtlCol="0" anchor="ctr"/>
          <a:lstStyle/>
          <a:p>
            <a:pPr indent="0" marL="0">
              <a:buNone/>
            </a:pPr>
            <a:r>
              <a:rPr lang="en-US" sz="1800" b="1" dirty="0">
                <a:solidFill>
                  <a:schemeClr val="tx2"/>
                </a:solidFill>
                <a:latin typeface="Montserrat" pitchFamily="34" charset="0"/>
                <a:ea typeface="Montserrat" pitchFamily="34" charset="-122"/>
                <a:cs typeface="Montserrat" pitchFamily="34" charset="-120"/>
              </a:rPr>
              <a:t>PROPOSED SOLUTION:  </a:t>
            </a:r>
            <a:pPr indent="0" marL="0">
              <a:buNone/>
            </a:pPr>
            <a:r>
              <a:rPr lang="en-US" sz="1500" dirty="0">
                <a:solidFill>
                  <a:schemeClr val="tx1"/>
                </a:solidFill>
                <a:latin typeface="Montserrat" pitchFamily="34" charset="0"/>
                <a:ea typeface="Montserrat" pitchFamily="34" charset="-122"/>
                <a:cs typeface="Montserrat" pitchFamily="34" charset="-120"/>
              </a:rPr>
              <a:t>one closed loop, from a telemetry anomaly to an approved work order.</a:t>
            </a:r>
            <a:endParaRPr lang="en-US" sz="1000" dirty="0"/>
          </a:p>
        </p:txBody>
      </p:sp>
      <p:sp>
        <p:nvSpPr>
          <p:cNvPr id="5" name="Card 45"/>
          <p:cNvSpPr/>
          <p:nvPr/>
        </p:nvSpPr>
        <p:spPr>
          <a:xfrm>
            <a:off x="256032" y="1389888"/>
            <a:ext cx="1261872" cy="548640"/>
          </a:xfrm>
          <a:prstGeom prst="roundRect">
            <a:avLst>
              <a:gd name="adj" fmla="val 10000"/>
            </a:avLst>
          </a:prstGeom>
          <a:solidFill>
            <a:schemeClr val="bg2"/>
          </a:solidFill>
          <a:ln w="19050">
            <a:solidFill>
              <a:srgbClr val="0B3C6F"/>
            </a:solidFill>
          </a:ln>
        </p:spPr>
        <p:txBody>
          <a:bodyPr wrap="square" lIns="25400" tIns="63500" rIns="63500" bIns="25400" rtlCol="0" anchor="ctr"/>
          <a:lstStyle/>
          <a:p>
            <a:pPr indent="0" marL="0">
              <a:buNone/>
            </a:pPr>
            <a:r>
              <a:rPr lang="en-US" sz="1200" b="1" dirty="0">
                <a:solidFill>
                  <a:schemeClr val="accent6"/>
                </a:solidFill>
                <a:latin typeface="Montserrat" pitchFamily="34" charset="0"/>
                <a:ea typeface="Montserrat" pitchFamily="34" charset="-122"/>
                <a:cs typeface="Montserrat" pitchFamily="34" charset="-120"/>
              </a:rPr>
              <a:t>1  </a:t>
            </a:r>
            <a:pPr indent="0" marL="0">
              <a:buNone/>
            </a:pPr>
            <a:r>
              <a:rPr lang="en-US" sz="1000" b="1" dirty="0">
                <a:solidFill>
                  <a:schemeClr val="tx2"/>
                </a:solidFill>
                <a:latin typeface="Montserrat" pitchFamily="34" charset="0"/>
                <a:ea typeface="Montserrat" pitchFamily="34" charset="-122"/>
                <a:cs typeface="Montserrat" pitchFamily="34" charset="-120"/>
              </a:rPr>
              <a:t>Telemetry anomaly</a:t>
            </a:r>
            <a:endParaRPr lang="en-US" sz="1000" dirty="0"/>
          </a:p>
        </p:txBody>
      </p:sp>
      <p:sp>
        <p:nvSpPr>
          <p:cNvPr id="6" name="Arrow 46"/>
          <p:cNvSpPr/>
          <p:nvPr/>
        </p:nvSpPr>
        <p:spPr>
          <a:xfrm>
            <a:off x="1545336" y="1581912"/>
            <a:ext cx="171515" cy="164592"/>
          </a:xfrm>
          <a:prstGeom prst="rightArrow">
            <a:avLst/>
          </a:prstGeom>
          <a:solidFill>
            <a:schemeClr val="tx2"/>
          </a:solidFill>
          <a:ln w="12700">
            <a:solidFill>
              <a:srgbClr val="0B3C6F"/>
            </a:solidFill>
            <a:prstDash val="solid"/>
          </a:ln>
        </p:spPr>
      </p:sp>
      <p:sp>
        <p:nvSpPr>
          <p:cNvPr id="7" name="Card 47"/>
          <p:cNvSpPr/>
          <p:nvPr/>
        </p:nvSpPr>
        <p:spPr>
          <a:xfrm>
            <a:off x="1744283" y="1389888"/>
            <a:ext cx="1261872" cy="548640"/>
          </a:xfrm>
          <a:prstGeom prst="roundRect">
            <a:avLst>
              <a:gd name="adj" fmla="val 10000"/>
            </a:avLst>
          </a:prstGeom>
          <a:solidFill>
            <a:schemeClr val="bg2"/>
          </a:solidFill>
          <a:ln w="19050">
            <a:solidFill>
              <a:srgbClr val="0B3C6F"/>
            </a:solidFill>
          </a:ln>
        </p:spPr>
        <p:txBody>
          <a:bodyPr wrap="square" lIns="25400" tIns="63500" rIns="63500" bIns="25400" rtlCol="0" anchor="ctr"/>
          <a:lstStyle/>
          <a:p>
            <a:pPr indent="0" marL="0">
              <a:buNone/>
            </a:pPr>
            <a:r>
              <a:rPr lang="en-US" sz="1200" b="1" dirty="0">
                <a:solidFill>
                  <a:schemeClr val="accent6"/>
                </a:solidFill>
                <a:latin typeface="Montserrat" pitchFamily="34" charset="0"/>
                <a:ea typeface="Montserrat" pitchFamily="34" charset="-122"/>
                <a:cs typeface="Montserrat" pitchFamily="34" charset="-120"/>
              </a:rPr>
              <a:t>2  </a:t>
            </a:r>
            <a:pPr indent="0" marL="0">
              <a:buNone/>
            </a:pPr>
            <a:r>
              <a:rPr lang="en-US" sz="1000" b="1" dirty="0">
                <a:solidFill>
                  <a:schemeClr val="tx2"/>
                </a:solidFill>
                <a:latin typeface="Montserrat" pitchFamily="34" charset="0"/>
                <a:ea typeface="Montserrat" pitchFamily="34" charset="-122"/>
                <a:cs typeface="Montserrat" pitchFamily="34" charset="-120"/>
              </a:rPr>
              <a:t>Agent triage</a:t>
            </a:r>
            <a:endParaRPr lang="en-US" sz="1000" dirty="0"/>
          </a:p>
        </p:txBody>
      </p:sp>
      <p:sp>
        <p:nvSpPr>
          <p:cNvPr id="8" name="Arrow 48"/>
          <p:cNvSpPr/>
          <p:nvPr/>
        </p:nvSpPr>
        <p:spPr>
          <a:xfrm>
            <a:off x="3033587" y="1581912"/>
            <a:ext cx="171515" cy="164592"/>
          </a:xfrm>
          <a:prstGeom prst="rightArrow">
            <a:avLst/>
          </a:prstGeom>
          <a:solidFill>
            <a:schemeClr val="tx2"/>
          </a:solidFill>
          <a:ln w="12700">
            <a:solidFill>
              <a:srgbClr val="0B3C6F"/>
            </a:solidFill>
            <a:prstDash val="solid"/>
          </a:ln>
        </p:spPr>
      </p:sp>
      <p:sp>
        <p:nvSpPr>
          <p:cNvPr id="9" name="Card 49"/>
          <p:cNvSpPr/>
          <p:nvPr/>
        </p:nvSpPr>
        <p:spPr>
          <a:xfrm>
            <a:off x="3232535" y="1389888"/>
            <a:ext cx="1261872" cy="548640"/>
          </a:xfrm>
          <a:prstGeom prst="roundRect">
            <a:avLst>
              <a:gd name="adj" fmla="val 10000"/>
            </a:avLst>
          </a:prstGeom>
          <a:solidFill>
            <a:schemeClr val="bg2"/>
          </a:solidFill>
          <a:ln w="19050">
            <a:solidFill>
              <a:srgbClr val="0B3C6F"/>
            </a:solidFill>
          </a:ln>
        </p:spPr>
        <p:txBody>
          <a:bodyPr wrap="square" lIns="25400" tIns="63500" rIns="63500" bIns="25400" rtlCol="0" anchor="ctr"/>
          <a:lstStyle/>
          <a:p>
            <a:pPr indent="0" marL="0">
              <a:buNone/>
            </a:pPr>
            <a:r>
              <a:rPr lang="en-US" sz="1200" b="1" dirty="0">
                <a:solidFill>
                  <a:schemeClr val="accent6"/>
                </a:solidFill>
                <a:latin typeface="Montserrat" pitchFamily="34" charset="0"/>
                <a:ea typeface="Montserrat" pitchFamily="34" charset="-122"/>
                <a:cs typeface="Montserrat" pitchFamily="34" charset="-120"/>
              </a:rPr>
              <a:t>3  </a:t>
            </a:r>
            <a:pPr indent="0" marL="0">
              <a:buNone/>
            </a:pPr>
            <a:r>
              <a:rPr lang="en-US" sz="1000" b="1" dirty="0">
                <a:solidFill>
                  <a:schemeClr val="tx2"/>
                </a:solidFill>
                <a:latin typeface="Montserrat" pitchFamily="34" charset="0"/>
                <a:ea typeface="Montserrat" pitchFamily="34" charset="-122"/>
                <a:cs typeface="Montserrat" pitchFamily="34" charset="-120"/>
              </a:rPr>
              <a:t>Drone dispatch</a:t>
            </a:r>
            <a:endParaRPr lang="en-US" sz="1000" dirty="0"/>
          </a:p>
        </p:txBody>
      </p:sp>
      <p:sp>
        <p:nvSpPr>
          <p:cNvPr id="10" name="Arrow 50"/>
          <p:cNvSpPr/>
          <p:nvPr/>
        </p:nvSpPr>
        <p:spPr>
          <a:xfrm>
            <a:off x="4521839" y="1581912"/>
            <a:ext cx="171515" cy="164592"/>
          </a:xfrm>
          <a:prstGeom prst="rightArrow">
            <a:avLst/>
          </a:prstGeom>
          <a:solidFill>
            <a:schemeClr val="tx2"/>
          </a:solidFill>
          <a:ln w="12700">
            <a:solidFill>
              <a:srgbClr val="0B3C6F"/>
            </a:solidFill>
            <a:prstDash val="solid"/>
          </a:ln>
        </p:spPr>
      </p:sp>
      <p:sp>
        <p:nvSpPr>
          <p:cNvPr id="11" name="Card 51"/>
          <p:cNvSpPr/>
          <p:nvPr/>
        </p:nvSpPr>
        <p:spPr>
          <a:xfrm>
            <a:off x="4720786" y="1389888"/>
            <a:ext cx="1261872" cy="548640"/>
          </a:xfrm>
          <a:prstGeom prst="roundRect">
            <a:avLst>
              <a:gd name="adj" fmla="val 10000"/>
            </a:avLst>
          </a:prstGeom>
          <a:solidFill>
            <a:schemeClr val="bg2"/>
          </a:solidFill>
          <a:ln w="19050">
            <a:solidFill>
              <a:srgbClr val="0B3C6F"/>
            </a:solidFill>
          </a:ln>
        </p:spPr>
        <p:txBody>
          <a:bodyPr wrap="square" lIns="25400" tIns="63500" rIns="63500" bIns="25400" rtlCol="0" anchor="ctr"/>
          <a:lstStyle/>
          <a:p>
            <a:pPr indent="0" marL="0">
              <a:buNone/>
            </a:pPr>
            <a:r>
              <a:rPr lang="en-US" sz="1200" b="1" dirty="0">
                <a:solidFill>
                  <a:schemeClr val="accent6"/>
                </a:solidFill>
                <a:latin typeface="Montserrat" pitchFamily="34" charset="0"/>
                <a:ea typeface="Montserrat" pitchFamily="34" charset="-122"/>
                <a:cs typeface="Montserrat" pitchFamily="34" charset="-120"/>
              </a:rPr>
              <a:t>4  </a:t>
            </a:r>
            <a:pPr indent="0" marL="0">
              <a:buNone/>
            </a:pPr>
            <a:r>
              <a:rPr lang="en-US" sz="1000" b="1" dirty="0">
                <a:solidFill>
                  <a:schemeClr val="tx2"/>
                </a:solidFill>
                <a:latin typeface="Montserrat" pitchFamily="34" charset="0"/>
                <a:ea typeface="Montserrat" pitchFamily="34" charset="-122"/>
                <a:cs typeface="Montserrat" pitchFamily="34" charset="-120"/>
              </a:rPr>
              <a:t>Evidence capture</a:t>
            </a:r>
            <a:endParaRPr lang="en-US" sz="1000" dirty="0"/>
          </a:p>
        </p:txBody>
      </p:sp>
      <p:sp>
        <p:nvSpPr>
          <p:cNvPr id="12" name="Arrow 52"/>
          <p:cNvSpPr/>
          <p:nvPr/>
        </p:nvSpPr>
        <p:spPr>
          <a:xfrm>
            <a:off x="6010090" y="1581912"/>
            <a:ext cx="171515" cy="164592"/>
          </a:xfrm>
          <a:prstGeom prst="rightArrow">
            <a:avLst/>
          </a:prstGeom>
          <a:solidFill>
            <a:schemeClr val="tx2"/>
          </a:solidFill>
          <a:ln w="12700">
            <a:solidFill>
              <a:srgbClr val="0B3C6F"/>
            </a:solidFill>
            <a:prstDash val="solid"/>
          </a:ln>
        </p:spPr>
      </p:sp>
      <p:sp>
        <p:nvSpPr>
          <p:cNvPr id="13" name="Card 53"/>
          <p:cNvSpPr/>
          <p:nvPr/>
        </p:nvSpPr>
        <p:spPr>
          <a:xfrm>
            <a:off x="6209037" y="1389888"/>
            <a:ext cx="1261872" cy="548640"/>
          </a:xfrm>
          <a:prstGeom prst="roundRect">
            <a:avLst>
              <a:gd name="adj" fmla="val 10000"/>
            </a:avLst>
          </a:prstGeom>
          <a:solidFill>
            <a:schemeClr val="bg2"/>
          </a:solidFill>
          <a:ln w="19050">
            <a:solidFill>
              <a:srgbClr val="0B3C6F"/>
            </a:solidFill>
          </a:ln>
        </p:spPr>
        <p:txBody>
          <a:bodyPr wrap="square" lIns="25400" tIns="63500" rIns="63500" bIns="25400" rtlCol="0" anchor="ctr"/>
          <a:lstStyle/>
          <a:p>
            <a:pPr indent="0" marL="0">
              <a:buNone/>
            </a:pPr>
            <a:r>
              <a:rPr lang="en-US" sz="1200" b="1" dirty="0">
                <a:solidFill>
                  <a:schemeClr val="accent6"/>
                </a:solidFill>
                <a:latin typeface="Montserrat" pitchFamily="34" charset="0"/>
                <a:ea typeface="Montserrat" pitchFamily="34" charset="-122"/>
                <a:cs typeface="Montserrat" pitchFamily="34" charset="-120"/>
              </a:rPr>
              <a:t>5  </a:t>
            </a:r>
            <a:pPr indent="0" marL="0">
              <a:buNone/>
            </a:pPr>
            <a:r>
              <a:rPr lang="en-US" sz="1000" b="1" dirty="0">
                <a:solidFill>
                  <a:schemeClr val="tx2"/>
                </a:solidFill>
                <a:latin typeface="Montserrat" pitchFamily="34" charset="0"/>
                <a:ea typeface="Montserrat" pitchFamily="34" charset="-122"/>
                <a:cs typeface="Montserrat" pitchFamily="34" charset="-120"/>
              </a:rPr>
              <a:t>Vision analysis</a:t>
            </a:r>
            <a:endParaRPr lang="en-US" sz="1000" dirty="0"/>
          </a:p>
        </p:txBody>
      </p:sp>
      <p:sp>
        <p:nvSpPr>
          <p:cNvPr id="14" name="Arrow 54"/>
          <p:cNvSpPr/>
          <p:nvPr/>
        </p:nvSpPr>
        <p:spPr>
          <a:xfrm>
            <a:off x="7498341" y="1581912"/>
            <a:ext cx="171515" cy="164592"/>
          </a:xfrm>
          <a:prstGeom prst="rightArrow">
            <a:avLst/>
          </a:prstGeom>
          <a:solidFill>
            <a:schemeClr val="tx2"/>
          </a:solidFill>
          <a:ln w="12700">
            <a:solidFill>
              <a:srgbClr val="0B3C6F"/>
            </a:solidFill>
            <a:prstDash val="solid"/>
          </a:ln>
        </p:spPr>
      </p:sp>
      <p:sp>
        <p:nvSpPr>
          <p:cNvPr id="15" name="Card 55"/>
          <p:cNvSpPr/>
          <p:nvPr/>
        </p:nvSpPr>
        <p:spPr>
          <a:xfrm>
            <a:off x="7697289" y="1389888"/>
            <a:ext cx="1261872" cy="548640"/>
          </a:xfrm>
          <a:prstGeom prst="roundRect">
            <a:avLst>
              <a:gd name="adj" fmla="val 10000"/>
            </a:avLst>
          </a:prstGeom>
          <a:solidFill>
            <a:schemeClr val="bg2"/>
          </a:solidFill>
          <a:ln w="19050">
            <a:solidFill>
              <a:srgbClr val="0B3C6F"/>
            </a:solidFill>
          </a:ln>
        </p:spPr>
        <p:txBody>
          <a:bodyPr wrap="square" lIns="25400" tIns="63500" rIns="63500" bIns="25400" rtlCol="0" anchor="ctr"/>
          <a:lstStyle/>
          <a:p>
            <a:pPr indent="0" marL="0">
              <a:buNone/>
            </a:pPr>
            <a:r>
              <a:rPr lang="en-US" sz="1200" b="1" dirty="0">
                <a:solidFill>
                  <a:schemeClr val="accent6"/>
                </a:solidFill>
                <a:latin typeface="Montserrat" pitchFamily="34" charset="0"/>
                <a:ea typeface="Montserrat" pitchFamily="34" charset="-122"/>
                <a:cs typeface="Montserrat" pitchFamily="34" charset="-120"/>
              </a:rPr>
              <a:t>6  </a:t>
            </a:r>
            <a:pPr indent="0" marL="0">
              <a:buNone/>
            </a:pPr>
            <a:r>
              <a:rPr lang="en-US" sz="1000" b="1" dirty="0">
                <a:solidFill>
                  <a:schemeClr val="tx2"/>
                </a:solidFill>
                <a:latin typeface="Montserrat" pitchFamily="34" charset="0"/>
                <a:ea typeface="Montserrat" pitchFamily="34" charset="-122"/>
                <a:cs typeface="Montserrat" pitchFamily="34" charset="-120"/>
              </a:rPr>
              <a:t>Prognosis and deadline</a:t>
            </a:r>
            <a:endParaRPr lang="en-US" sz="1000" dirty="0"/>
          </a:p>
        </p:txBody>
      </p:sp>
      <p:sp>
        <p:nvSpPr>
          <p:cNvPr id="16" name="Arrow 56"/>
          <p:cNvSpPr/>
          <p:nvPr/>
        </p:nvSpPr>
        <p:spPr>
          <a:xfrm>
            <a:off x="8986593" y="1581912"/>
            <a:ext cx="171515" cy="164592"/>
          </a:xfrm>
          <a:prstGeom prst="rightArrow">
            <a:avLst/>
          </a:prstGeom>
          <a:solidFill>
            <a:schemeClr val="tx2"/>
          </a:solidFill>
          <a:ln w="12700">
            <a:solidFill>
              <a:srgbClr val="0B3C6F"/>
            </a:solidFill>
            <a:prstDash val="solid"/>
          </a:ln>
        </p:spPr>
      </p:sp>
      <p:sp>
        <p:nvSpPr>
          <p:cNvPr id="17" name="Card 57"/>
          <p:cNvSpPr/>
          <p:nvPr/>
        </p:nvSpPr>
        <p:spPr>
          <a:xfrm>
            <a:off x="9185540" y="1389888"/>
            <a:ext cx="1261872" cy="548640"/>
          </a:xfrm>
          <a:prstGeom prst="roundRect">
            <a:avLst>
              <a:gd name="adj" fmla="val 10000"/>
            </a:avLst>
          </a:prstGeom>
          <a:solidFill>
            <a:schemeClr val="bg2"/>
          </a:solidFill>
          <a:ln w="19050">
            <a:solidFill>
              <a:srgbClr val="0B3C6F"/>
            </a:solidFill>
          </a:ln>
        </p:spPr>
        <p:txBody>
          <a:bodyPr wrap="square" lIns="25400" tIns="63500" rIns="63500" bIns="25400" rtlCol="0" anchor="ctr"/>
          <a:lstStyle/>
          <a:p>
            <a:pPr indent="0" marL="0">
              <a:buNone/>
            </a:pPr>
            <a:r>
              <a:rPr lang="en-US" sz="1200" b="1" dirty="0">
                <a:solidFill>
                  <a:schemeClr val="accent6"/>
                </a:solidFill>
                <a:latin typeface="Montserrat" pitchFamily="34" charset="0"/>
                <a:ea typeface="Montserrat" pitchFamily="34" charset="-122"/>
                <a:cs typeface="Montserrat" pitchFamily="34" charset="-120"/>
              </a:rPr>
              <a:t>7  </a:t>
            </a:r>
            <a:pPr indent="0" marL="0">
              <a:buNone/>
            </a:pPr>
            <a:r>
              <a:rPr lang="en-US" sz="1000" b="1" dirty="0">
                <a:solidFill>
                  <a:schemeClr val="tx2"/>
                </a:solidFill>
                <a:latin typeface="Montserrat" pitchFamily="34" charset="0"/>
                <a:ea typeface="Montserrat" pitchFamily="34" charset="-122"/>
                <a:cs typeface="Montserrat" pitchFamily="34" charset="-120"/>
              </a:rPr>
              <a:t>Ranked plan</a:t>
            </a:r>
            <a:endParaRPr lang="en-US" sz="1000" dirty="0"/>
          </a:p>
        </p:txBody>
      </p:sp>
      <p:sp>
        <p:nvSpPr>
          <p:cNvPr id="18" name="Arrow 58"/>
          <p:cNvSpPr/>
          <p:nvPr/>
        </p:nvSpPr>
        <p:spPr>
          <a:xfrm>
            <a:off x="10474844" y="1581912"/>
            <a:ext cx="171515" cy="164592"/>
          </a:xfrm>
          <a:prstGeom prst="rightArrow">
            <a:avLst/>
          </a:prstGeom>
          <a:solidFill>
            <a:schemeClr val="tx2"/>
          </a:solidFill>
          <a:ln w="12700">
            <a:solidFill>
              <a:srgbClr val="0B3C6F"/>
            </a:solidFill>
            <a:prstDash val="solid"/>
          </a:ln>
        </p:spPr>
      </p:sp>
      <p:sp>
        <p:nvSpPr>
          <p:cNvPr id="19" name="Card 59"/>
          <p:cNvSpPr/>
          <p:nvPr/>
        </p:nvSpPr>
        <p:spPr>
          <a:xfrm>
            <a:off x="10673791" y="1389888"/>
            <a:ext cx="1261872" cy="548640"/>
          </a:xfrm>
          <a:prstGeom prst="roundRect">
            <a:avLst>
              <a:gd name="adj" fmla="val 10000"/>
            </a:avLst>
          </a:prstGeom>
          <a:solidFill>
            <a:schemeClr val="accent3"/>
          </a:solidFill>
          <a:ln w="19050">
            <a:solidFill>
              <a:srgbClr val="B8322A"/>
            </a:solidFill>
          </a:ln>
        </p:spPr>
        <p:txBody>
          <a:bodyPr wrap="square" lIns="25400" tIns="63500" rIns="63500" bIns="25400" rtlCol="0" anchor="ctr"/>
          <a:lstStyle/>
          <a:p>
            <a:pPr indent="0" marL="0">
              <a:buNone/>
            </a:pPr>
            <a:r>
              <a:rPr lang="en-US" sz="1200" b="1" dirty="0">
                <a:solidFill>
                  <a:schemeClr val="bg1"/>
                </a:solidFill>
                <a:latin typeface="Montserrat" pitchFamily="34" charset="0"/>
                <a:ea typeface="Montserrat" pitchFamily="34" charset="-122"/>
                <a:cs typeface="Montserrat" pitchFamily="34" charset="-120"/>
              </a:rPr>
              <a:t>8  </a:t>
            </a:r>
            <a:pPr indent="0" marL="0">
              <a:buNone/>
            </a:pPr>
            <a:r>
              <a:rPr lang="en-US" sz="1000" b="1" dirty="0">
                <a:solidFill>
                  <a:schemeClr val="bg1"/>
                </a:solidFill>
                <a:latin typeface="Montserrat" pitchFamily="34" charset="0"/>
                <a:ea typeface="Montserrat" pitchFamily="34" charset="-122"/>
                <a:cs typeface="Montserrat" pitchFamily="34" charset="-120"/>
              </a:rPr>
              <a:t>Human approval</a:t>
            </a:r>
            <a:endParaRPr lang="en-US" sz="1000" dirty="0"/>
          </a:p>
        </p:txBody>
      </p:sp>
      <p:sp>
        <p:nvSpPr>
          <p:cNvPr id="20" name="Text 60"/>
          <p:cNvSpPr txBox="1"/>
          <p:nvPr/>
        </p:nvSpPr>
        <p:spPr>
          <a:xfrm>
            <a:off x="256032" y="2066544"/>
            <a:ext cx="2423160" cy="219456"/>
          </a:xfrm>
          <a:prstGeom prst="rect">
            <a:avLst/>
          </a:prstGeom>
          <a:noFill/>
          <a:ln/>
        </p:spPr>
        <p:txBody>
          <a:bodyPr wrap="square" lIns="0" tIns="0" rIns="0" bIns="0" rtlCol="0" anchor="t"/>
          <a:lstStyle/>
          <a:p>
            <a:pPr algn="ctr" indent="0" marL="0">
              <a:buNone/>
            </a:pPr>
            <a:r>
              <a:rPr lang="en-US" sz="1200" b="1" dirty="0">
                <a:solidFill>
                  <a:schemeClr val="tx1"/>
                </a:solidFill>
                <a:latin typeface="Montserrat" pitchFamily="34" charset="0"/>
                <a:ea typeface="Montserrat" pitchFamily="34" charset="-122"/>
                <a:cs typeface="Montserrat" pitchFamily="34" charset="-120"/>
              </a:rPr>
              <a:t>Actual problem</a:t>
            </a:r>
            <a:endParaRPr lang="en-US" sz="1200" dirty="0"/>
          </a:p>
        </p:txBody>
      </p:sp>
      <p:sp>
        <p:nvSpPr>
          <p:cNvPr id="21" name="Text 61"/>
          <p:cNvSpPr txBox="1"/>
          <p:nvPr/>
        </p:nvSpPr>
        <p:spPr>
          <a:xfrm>
            <a:off x="256032" y="2276856"/>
            <a:ext cx="2423160" cy="182880"/>
          </a:xfrm>
          <a:prstGeom prst="rect">
            <a:avLst/>
          </a:prstGeom>
          <a:noFill/>
          <a:ln/>
        </p:spPr>
        <p:txBody>
          <a:bodyPr wrap="square" lIns="0" tIns="0" rIns="0" bIns="0" rtlCol="0" anchor="t"/>
          <a:lstStyle/>
          <a:p>
            <a:pPr algn="ctr" indent="0" marL="0">
              <a:buNone/>
            </a:pPr>
            <a:r>
              <a:rPr lang="en-US" sz="900" b="1" dirty="0">
                <a:solidFill>
                  <a:schemeClr val="tx2"/>
                </a:solidFill>
                <a:latin typeface="Montserrat" pitchFamily="34" charset="0"/>
                <a:ea typeface="Montserrat" pitchFamily="34" charset="-122"/>
                <a:cs typeface="Montserrat" pitchFamily="34" charset="-120"/>
              </a:rPr>
              <a:t>Problems faced today</a:t>
            </a:r>
            <a:endParaRPr lang="en-US" sz="900" dirty="0"/>
          </a:p>
        </p:txBody>
      </p:sp>
      <p:sp>
        <p:nvSpPr>
          <p:cNvPr id="22" name="Text 62"/>
          <p:cNvSpPr txBox="1"/>
          <p:nvPr/>
        </p:nvSpPr>
        <p:spPr>
          <a:xfrm>
            <a:off x="2953512" y="2066544"/>
            <a:ext cx="2560320" cy="219456"/>
          </a:xfrm>
          <a:prstGeom prst="rect">
            <a:avLst/>
          </a:prstGeom>
          <a:noFill/>
          <a:ln/>
        </p:spPr>
        <p:txBody>
          <a:bodyPr wrap="square" lIns="0" tIns="0" rIns="0" bIns="0" rtlCol="0" anchor="t"/>
          <a:lstStyle/>
          <a:p>
            <a:pPr algn="ctr" indent="0" marL="0">
              <a:buNone/>
            </a:pPr>
            <a:r>
              <a:rPr lang="en-US" sz="1200" b="1" dirty="0">
                <a:solidFill>
                  <a:schemeClr val="tx1"/>
                </a:solidFill>
                <a:latin typeface="Montserrat" pitchFamily="34" charset="0"/>
                <a:ea typeface="Montserrat" pitchFamily="34" charset="-122"/>
                <a:cs typeface="Montserrat" pitchFamily="34" charset="-120"/>
              </a:rPr>
              <a:t>Proposed solution</a:t>
            </a:r>
            <a:endParaRPr lang="en-US" sz="1200" dirty="0"/>
          </a:p>
        </p:txBody>
      </p:sp>
      <p:sp>
        <p:nvSpPr>
          <p:cNvPr id="23" name="Text 63"/>
          <p:cNvSpPr txBox="1"/>
          <p:nvPr/>
        </p:nvSpPr>
        <p:spPr>
          <a:xfrm>
            <a:off x="2953512" y="2276856"/>
            <a:ext cx="2560320" cy="182880"/>
          </a:xfrm>
          <a:prstGeom prst="rect">
            <a:avLst/>
          </a:prstGeom>
          <a:noFill/>
          <a:ln/>
        </p:spPr>
        <p:txBody>
          <a:bodyPr wrap="square" lIns="0" tIns="0" rIns="0" bIns="0" rtlCol="0" anchor="t"/>
          <a:lstStyle/>
          <a:p>
            <a:pPr algn="ctr" indent="0" marL="0">
              <a:buNone/>
            </a:pPr>
            <a:r>
              <a:rPr lang="en-US" sz="900" b="1" dirty="0">
                <a:solidFill>
                  <a:schemeClr val="tx2"/>
                </a:solidFill>
                <a:latin typeface="Montserrat" pitchFamily="34" charset="0"/>
                <a:ea typeface="Montserrat" pitchFamily="34" charset="-122"/>
                <a:cs typeface="Montserrat" pitchFamily="34" charset="-120"/>
              </a:rPr>
              <a:t>How we answer each one</a:t>
            </a:r>
            <a:endParaRPr lang="en-US" sz="900" dirty="0"/>
          </a:p>
        </p:txBody>
      </p:sp>
      <p:graphicFrame>
        <p:nvGraphicFramePr>
          <p:cNvPr id="4" name="Table 64"/>
          <p:cNvGraphicFramePr>
            <a:graphicFrameLocks noGrp="1"/>
          </p:cNvGraphicFramePr>
          <p:nvPr>
            <p:extLst>
              <p:ext uri="{D42A27DB-BD31-4B8C-83A1-F6EECF244321}">
                <p14:modId xmlns:p14="http://schemas.microsoft.com/office/powerpoint/2010/main" val="1579011935"/>
              </p:ext>
            </p:extLst>
          </p:nvPr>
        </p:nvGraphicFramePr>
        <p:xfrm>
          <a:off x="256032" y="2523744"/>
          <a:ext cx="5257800" cy="914400"/>
        </p:xfrm>
        <a:graphic>
          <a:graphicData uri="http://schemas.openxmlformats.org/drawingml/2006/table">
            <a:tbl>
              <a:tblPr/>
              <a:tblGrid>
                <a:gridCol w="2423160"/>
                <a:gridCol w="274320"/>
                <a:gridCol w="2560320"/>
              </a:tblGrid>
              <a:tr h="429768">
                <a:tc>
                  <a:txBody>
                    <a:bodyPr/>
                    <a:lstStyle/>
                    <a:p>
                      <a:pPr indent="0" marL="0">
                        <a:buNone/>
                      </a:pPr>
                      <a:r>
                        <a:rPr lang="en-US" sz="950" b="1" i="1" dirty="0">
                          <a:solidFill>
                            <a:srgbClr val="B8322A"/>
                          </a:solidFill>
                          <a:latin typeface="Montserrat" pitchFamily="34" charset="0"/>
                          <a:ea typeface="Montserrat" pitchFamily="34" charset="-122"/>
                          <a:cs typeface="Montserrat" pitchFamily="34" charset="-120"/>
                        </a:rPr>
                        <a:t>Faults wait for a yearly aerial survey</a:t>
                      </a:r>
                      <a:endParaRPr lang="en-US" sz="950" dirty="0">
                        <a:latin typeface="Montserrat" charset="0"/>
                        <a:ea typeface="Montserrat" charset="0"/>
                        <a:cs typeface="Montserrat" charset="0"/>
                      </a:endParaRPr>
                    </a:p>
                  </a:txBody>
                  <a:tcPr marL="50800" marR="50800" marT="38100" marB="38100" anchor="ctr">
                    <a:lnL w="0" cap="flat" cmpd="sng" algn="ctr">
                      <a:noFill/>
                    </a:lnL>
                    <a:lnR w="0" cap="flat" cmpd="sng" algn="ctr">
                      <a:noFill/>
                    </a:lnR>
                    <a:lnT w="12700" cap="flat" cmpd="sng" algn="ctr">
                      <a:solidFill>
                        <a:srgbClr val="B8322A"/>
                      </a:solidFill>
                      <a:prstDash val="solid"/>
                      <a:round/>
                      <a:headEnd type="none" w="med" len="med"/>
                      <a:tailEnd type="none" w="med" len="med"/>
                    </a:lnT>
                    <a:lnB w="12700" cap="flat" cmpd="sng" algn="ctr">
                      <a:solidFill>
                        <a:srgbClr val="B8322A"/>
                      </a:solidFill>
                      <a:prstDash val="solid"/>
                      <a:round/>
                      <a:headEnd type="none" w="med" len="med"/>
                      <a:tailEnd type="none" w="med" len="med"/>
                    </a:lnB>
                  </a:tcPr>
                </a:tc>
                <a:tc>
                  <a:txBody>
                    <a:bodyPr/>
                    <a:lstStyle/>
                    <a:p>
                      <a:pPr algn="ctr" indent="0" marL="0">
                        <a:buNone/>
                      </a:pPr>
                      <a:r>
                        <a:rPr lang="en-US" sz="1100" b="1" dirty="0">
                          <a:solidFill>
                            <a:srgbClr val="0B3C6F"/>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111111"/>
                          </a:solidFill>
                          <a:latin typeface="Montserrat" pitchFamily="34" charset="0"/>
                          <a:ea typeface="Montserrat" pitchFamily="34" charset="-122"/>
                          <a:cs typeface="Montserrat" pitchFamily="34" charset="-120"/>
                        </a:rPr>
                        <a:t>Every array watched continuously against a physics model</a:t>
                      </a:r>
                      <a:endParaRPr lang="en-US" sz="950" dirty="0">
                        <a:latin typeface="Montserrat" charset="0"/>
                        <a:ea typeface="Montserrat" charset="0"/>
                        <a:cs typeface="Montserrat" charset="0"/>
                      </a:endParaRPr>
                    </a:p>
                  </a:txBody>
                  <a:tcPr marL="76200" marR="76200" marT="38100" marB="38100" anchor="ctr">
                    <a:lnL w="12700" cap="flat" cmpd="sng" algn="ctr">
                      <a:solidFill>
                        <a:srgbClr val="0B3C6F"/>
                      </a:solidFill>
                      <a:prstDash val="solid"/>
                      <a:round/>
                      <a:headEnd type="none" w="med" len="med"/>
                      <a:tailEnd type="none" w="med" len="med"/>
                    </a:lnL>
                    <a:lnR w="12700" cap="flat" cmpd="sng" algn="ctr">
                      <a:solidFill>
                        <a:srgbClr val="0B3C6F"/>
                      </a:solidFill>
                      <a:prstDash val="solid"/>
                      <a:round/>
                      <a:headEnd type="none" w="med" len="med"/>
                      <a:tailEnd type="none" w="med" len="med"/>
                    </a:lnR>
                    <a:lnT w="12700" cap="flat" cmpd="sng" algn="ctr">
                      <a:solidFill>
                        <a:srgbClr val="0B3C6F"/>
                      </a:solidFill>
                      <a:prstDash val="solid"/>
                      <a:round/>
                      <a:headEnd type="none" w="med" len="med"/>
                      <a:tailEnd type="none" w="med" len="med"/>
                    </a:lnT>
                    <a:lnB w="12700" cap="flat" cmpd="sng" algn="ctr">
                      <a:solidFill>
                        <a:srgbClr val="0B3C6F"/>
                      </a:solidFill>
                      <a:prstDash val="solid"/>
                      <a:round/>
                      <a:headEnd type="none" w="med" len="med"/>
                      <a:tailEnd type="none" w="med" len="med"/>
                    </a:lnB>
                  </a:tcPr>
                </a:tc>
              </a:tr>
              <a:tr h="429768">
                <a:tc>
                  <a:txBody>
                    <a:bodyPr/>
                    <a:lstStyle/>
                    <a:p>
                      <a:pPr indent="0" marL="0">
                        <a:buNone/>
                      </a:pPr>
                      <a:r>
                        <a:rPr lang="en-US" sz="950" b="1" i="1" dirty="0">
                          <a:solidFill>
                            <a:srgbClr val="B8322A"/>
                          </a:solidFill>
                          <a:latin typeface="Montserrat" pitchFamily="34" charset="0"/>
                          <a:ea typeface="Montserrat" pitchFamily="34" charset="-122"/>
                          <a:cs typeface="Montserrat" pitchFamily="34" charset="-120"/>
                        </a:rPr>
                        <a:t>Telemetry cannot tell dirt from damage</a:t>
                      </a:r>
                      <a:endParaRPr lang="en-US" sz="950" dirty="0">
                        <a:latin typeface="Montserrat" charset="0"/>
                        <a:ea typeface="Montserrat" charset="0"/>
                        <a:cs typeface="Montserrat" charset="0"/>
                      </a:endParaRPr>
                    </a:p>
                  </a:txBody>
                  <a:tcPr marL="50800" marR="50800" marT="38100" marB="38100" anchor="ctr">
                    <a:lnL w="0" cap="flat" cmpd="sng" algn="ctr">
                      <a:noFill/>
                    </a:lnL>
                    <a:lnR w="0" cap="flat" cmpd="sng" algn="ctr">
                      <a:noFill/>
                    </a:lnR>
                    <a:lnT w="12700" cap="flat" cmpd="sng" algn="ctr">
                      <a:solidFill>
                        <a:srgbClr val="B8322A"/>
                      </a:solidFill>
                      <a:prstDash val="solid"/>
                      <a:round/>
                      <a:headEnd type="none" w="med" len="med"/>
                      <a:tailEnd type="none" w="med" len="med"/>
                    </a:lnT>
                    <a:lnB w="12700" cap="flat" cmpd="sng" algn="ctr">
                      <a:solidFill>
                        <a:srgbClr val="B8322A"/>
                      </a:solidFill>
                      <a:prstDash val="solid"/>
                      <a:round/>
                      <a:headEnd type="none" w="med" len="med"/>
                      <a:tailEnd type="none" w="med" len="med"/>
                    </a:lnB>
                  </a:tcPr>
                </a:tc>
                <a:tc>
                  <a:txBody>
                    <a:bodyPr/>
                    <a:lstStyle/>
                    <a:p>
                      <a:pPr algn="ctr" indent="0" marL="0">
                        <a:buNone/>
                      </a:pPr>
                      <a:r>
                        <a:rPr lang="en-US" sz="1100" b="1" dirty="0">
                          <a:solidFill>
                            <a:srgbClr val="0B3C6F"/>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111111"/>
                          </a:solidFill>
                          <a:latin typeface="Montserrat" pitchFamily="34" charset="0"/>
                          <a:ea typeface="Montserrat" pitchFamily="34" charset="-122"/>
                          <a:cs typeface="Montserrat" pitchFamily="34" charset="-120"/>
                        </a:rPr>
                        <a:t>A drone is sent only when imaging would add something</a:t>
                      </a:r>
                      <a:endParaRPr lang="en-US" sz="950" dirty="0">
                        <a:latin typeface="Montserrat" charset="0"/>
                        <a:ea typeface="Montserrat" charset="0"/>
                        <a:cs typeface="Montserrat" charset="0"/>
                      </a:endParaRPr>
                    </a:p>
                  </a:txBody>
                  <a:tcPr marL="76200" marR="76200" marT="38100" marB="38100" anchor="ctr">
                    <a:lnL w="12700" cap="flat" cmpd="sng" algn="ctr">
                      <a:solidFill>
                        <a:srgbClr val="0B3C6F"/>
                      </a:solidFill>
                      <a:prstDash val="solid"/>
                      <a:round/>
                      <a:headEnd type="none" w="med" len="med"/>
                      <a:tailEnd type="none" w="med" len="med"/>
                    </a:lnL>
                    <a:lnR w="12700" cap="flat" cmpd="sng" algn="ctr">
                      <a:solidFill>
                        <a:srgbClr val="0B3C6F"/>
                      </a:solidFill>
                      <a:prstDash val="solid"/>
                      <a:round/>
                      <a:headEnd type="none" w="med" len="med"/>
                      <a:tailEnd type="none" w="med" len="med"/>
                    </a:lnR>
                    <a:lnT w="12700" cap="flat" cmpd="sng" algn="ctr">
                      <a:solidFill>
                        <a:srgbClr val="0B3C6F"/>
                      </a:solidFill>
                      <a:prstDash val="solid"/>
                      <a:round/>
                      <a:headEnd type="none" w="med" len="med"/>
                      <a:tailEnd type="none" w="med" len="med"/>
                    </a:lnT>
                    <a:lnB w="12700" cap="flat" cmpd="sng" algn="ctr">
                      <a:solidFill>
                        <a:srgbClr val="0B3C6F"/>
                      </a:solidFill>
                      <a:prstDash val="solid"/>
                      <a:round/>
                      <a:headEnd type="none" w="med" len="med"/>
                      <a:tailEnd type="none" w="med" len="med"/>
                    </a:lnB>
                  </a:tcPr>
                </a:tc>
              </a:tr>
              <a:tr h="429768">
                <a:tc>
                  <a:txBody>
                    <a:bodyPr/>
                    <a:lstStyle/>
                    <a:p>
                      <a:pPr indent="0" marL="0">
                        <a:buNone/>
                      </a:pPr>
                      <a:r>
                        <a:rPr lang="en-US" sz="950" b="1" i="1" dirty="0">
                          <a:solidFill>
                            <a:srgbClr val="B8322A"/>
                          </a:solidFill>
                          <a:latin typeface="Montserrat" pitchFamily="34" charset="0"/>
                          <a:ea typeface="Montserrat" pitchFamily="34" charset="-122"/>
                          <a:cs typeface="Montserrat" pitchFamily="34" charset="-120"/>
                        </a:rPr>
                        <a:t>A defect report carries no deadline</a:t>
                      </a:r>
                      <a:endParaRPr lang="en-US" sz="950" dirty="0">
                        <a:latin typeface="Montserrat" charset="0"/>
                        <a:ea typeface="Montserrat" charset="0"/>
                        <a:cs typeface="Montserrat" charset="0"/>
                      </a:endParaRPr>
                    </a:p>
                  </a:txBody>
                  <a:tcPr marL="50800" marR="50800" marT="38100" marB="38100" anchor="ctr">
                    <a:lnL w="0" cap="flat" cmpd="sng" algn="ctr">
                      <a:noFill/>
                    </a:lnL>
                    <a:lnR w="0" cap="flat" cmpd="sng" algn="ctr">
                      <a:noFill/>
                    </a:lnR>
                    <a:lnT w="12700" cap="flat" cmpd="sng" algn="ctr">
                      <a:solidFill>
                        <a:srgbClr val="B8322A"/>
                      </a:solidFill>
                      <a:prstDash val="solid"/>
                      <a:round/>
                      <a:headEnd type="none" w="med" len="med"/>
                      <a:tailEnd type="none" w="med" len="med"/>
                    </a:lnT>
                    <a:lnB w="12700" cap="flat" cmpd="sng" algn="ctr">
                      <a:solidFill>
                        <a:srgbClr val="B8322A"/>
                      </a:solidFill>
                      <a:prstDash val="solid"/>
                      <a:round/>
                      <a:headEnd type="none" w="med" len="med"/>
                      <a:tailEnd type="none" w="med" len="med"/>
                    </a:lnB>
                  </a:tcPr>
                </a:tc>
                <a:tc>
                  <a:txBody>
                    <a:bodyPr/>
                    <a:lstStyle/>
                    <a:p>
                      <a:pPr algn="ctr" indent="0" marL="0">
                        <a:buNone/>
                      </a:pPr>
                      <a:r>
                        <a:rPr lang="en-US" sz="1100" b="1" dirty="0">
                          <a:solidFill>
                            <a:srgbClr val="0B3C6F"/>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111111"/>
                          </a:solidFill>
                          <a:latin typeface="Montserrat" pitchFamily="34" charset="0"/>
                          <a:ea typeface="Montserrat" pitchFamily="34" charset="-122"/>
                          <a:cs typeface="Montserrat" pitchFamily="34" charset="-120"/>
                        </a:rPr>
                        <a:t>A deadline computed from the defect and the 72 h forecast</a:t>
                      </a:r>
                      <a:endParaRPr lang="en-US" sz="950" dirty="0">
                        <a:latin typeface="Montserrat" charset="0"/>
                        <a:ea typeface="Montserrat" charset="0"/>
                        <a:cs typeface="Montserrat" charset="0"/>
                      </a:endParaRPr>
                    </a:p>
                  </a:txBody>
                  <a:tcPr marL="76200" marR="76200" marT="38100" marB="38100" anchor="ctr">
                    <a:lnL w="12700" cap="flat" cmpd="sng" algn="ctr">
                      <a:solidFill>
                        <a:srgbClr val="0B3C6F"/>
                      </a:solidFill>
                      <a:prstDash val="solid"/>
                      <a:round/>
                      <a:headEnd type="none" w="med" len="med"/>
                      <a:tailEnd type="none" w="med" len="med"/>
                    </a:lnL>
                    <a:lnR w="12700" cap="flat" cmpd="sng" algn="ctr">
                      <a:solidFill>
                        <a:srgbClr val="0B3C6F"/>
                      </a:solidFill>
                      <a:prstDash val="solid"/>
                      <a:round/>
                      <a:headEnd type="none" w="med" len="med"/>
                      <a:tailEnd type="none" w="med" len="med"/>
                    </a:lnR>
                    <a:lnT w="12700" cap="flat" cmpd="sng" algn="ctr">
                      <a:solidFill>
                        <a:srgbClr val="0B3C6F"/>
                      </a:solidFill>
                      <a:prstDash val="solid"/>
                      <a:round/>
                      <a:headEnd type="none" w="med" len="med"/>
                      <a:tailEnd type="none" w="med" len="med"/>
                    </a:lnT>
                    <a:lnB w="12700" cap="flat" cmpd="sng" algn="ctr">
                      <a:solidFill>
                        <a:srgbClr val="0B3C6F"/>
                      </a:solidFill>
                      <a:prstDash val="solid"/>
                      <a:round/>
                      <a:headEnd type="none" w="med" len="med"/>
                      <a:tailEnd type="none" w="med" len="med"/>
                    </a:lnB>
                  </a:tcPr>
                </a:tc>
              </a:tr>
              <a:tr h="429768">
                <a:tc>
                  <a:txBody>
                    <a:bodyPr/>
                    <a:lstStyle/>
                    <a:p>
                      <a:pPr indent="0" marL="0">
                        <a:buNone/>
                      </a:pPr>
                      <a:r>
                        <a:rPr lang="en-US" sz="950" b="1" i="1" dirty="0">
                          <a:solidFill>
                            <a:srgbClr val="B8322A"/>
                          </a:solidFill>
                          <a:latin typeface="Montserrat" pitchFamily="34" charset="0"/>
                          <a:ea typeface="Montserrat" pitchFamily="34" charset="-122"/>
                          <a:cs typeface="Montserrat" pitchFamily="34" charset="-120"/>
                        </a:rPr>
                        <a:t>What to fix first is a judgement call</a:t>
                      </a:r>
                      <a:endParaRPr lang="en-US" sz="950" dirty="0">
                        <a:latin typeface="Montserrat" charset="0"/>
                        <a:ea typeface="Montserrat" charset="0"/>
                        <a:cs typeface="Montserrat" charset="0"/>
                      </a:endParaRPr>
                    </a:p>
                  </a:txBody>
                  <a:tcPr marL="50800" marR="50800" marT="38100" marB="38100" anchor="ctr">
                    <a:lnL w="0" cap="flat" cmpd="sng" algn="ctr">
                      <a:noFill/>
                    </a:lnL>
                    <a:lnR w="0" cap="flat" cmpd="sng" algn="ctr">
                      <a:noFill/>
                    </a:lnR>
                    <a:lnT w="12700" cap="flat" cmpd="sng" algn="ctr">
                      <a:solidFill>
                        <a:srgbClr val="B8322A"/>
                      </a:solidFill>
                      <a:prstDash val="solid"/>
                      <a:round/>
                      <a:headEnd type="none" w="med" len="med"/>
                      <a:tailEnd type="none" w="med" len="med"/>
                    </a:lnT>
                    <a:lnB w="12700" cap="flat" cmpd="sng" algn="ctr">
                      <a:solidFill>
                        <a:srgbClr val="B8322A"/>
                      </a:solidFill>
                      <a:prstDash val="solid"/>
                      <a:round/>
                      <a:headEnd type="none" w="med" len="med"/>
                      <a:tailEnd type="none" w="med" len="med"/>
                    </a:lnB>
                  </a:tcPr>
                </a:tc>
                <a:tc>
                  <a:txBody>
                    <a:bodyPr/>
                    <a:lstStyle/>
                    <a:p>
                      <a:pPr algn="ctr" indent="0" marL="0">
                        <a:buNone/>
                      </a:pPr>
                      <a:r>
                        <a:rPr lang="en-US" sz="1100" b="1" dirty="0">
                          <a:solidFill>
                            <a:srgbClr val="0B3C6F"/>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111111"/>
                          </a:solidFill>
                          <a:latin typeface="Montserrat" pitchFamily="34" charset="0"/>
                          <a:ea typeface="Montserrat" pitchFamily="34" charset="-122"/>
                          <a:cs typeface="Montserrat" pitchFamily="34" charset="-120"/>
                        </a:rPr>
                        <a:t>One fixed formula, with its arithmetic on screen</a:t>
                      </a:r>
                      <a:endParaRPr lang="en-US" sz="950" dirty="0">
                        <a:latin typeface="Montserrat" charset="0"/>
                        <a:ea typeface="Montserrat" charset="0"/>
                        <a:cs typeface="Montserrat" charset="0"/>
                      </a:endParaRPr>
                    </a:p>
                  </a:txBody>
                  <a:tcPr marL="76200" marR="76200" marT="38100" marB="38100" anchor="ctr">
                    <a:lnL w="12700" cap="flat" cmpd="sng" algn="ctr">
                      <a:solidFill>
                        <a:srgbClr val="0B3C6F"/>
                      </a:solidFill>
                      <a:prstDash val="solid"/>
                      <a:round/>
                      <a:headEnd type="none" w="med" len="med"/>
                      <a:tailEnd type="none" w="med" len="med"/>
                    </a:lnL>
                    <a:lnR w="12700" cap="flat" cmpd="sng" algn="ctr">
                      <a:solidFill>
                        <a:srgbClr val="0B3C6F"/>
                      </a:solidFill>
                      <a:prstDash val="solid"/>
                      <a:round/>
                      <a:headEnd type="none" w="med" len="med"/>
                      <a:tailEnd type="none" w="med" len="med"/>
                    </a:lnR>
                    <a:lnT w="12700" cap="flat" cmpd="sng" algn="ctr">
                      <a:solidFill>
                        <a:srgbClr val="0B3C6F"/>
                      </a:solidFill>
                      <a:prstDash val="solid"/>
                      <a:round/>
                      <a:headEnd type="none" w="med" len="med"/>
                      <a:tailEnd type="none" w="med" len="med"/>
                    </a:lnT>
                    <a:lnB w="12700" cap="flat" cmpd="sng" algn="ctr">
                      <a:solidFill>
                        <a:srgbClr val="0B3C6F"/>
                      </a:solidFill>
                      <a:prstDash val="solid"/>
                      <a:round/>
                      <a:headEnd type="none" w="med" len="med"/>
                      <a:tailEnd type="none" w="med" len="med"/>
                    </a:lnB>
                  </a:tcPr>
                </a:tc>
              </a:tr>
              <a:tr h="429768">
                <a:tc>
                  <a:txBody>
                    <a:bodyPr/>
                    <a:lstStyle/>
                    <a:p>
                      <a:pPr indent="0" marL="0">
                        <a:buNone/>
                      </a:pPr>
                      <a:r>
                        <a:rPr lang="en-US" sz="950" b="1" i="1" dirty="0">
                          <a:solidFill>
                            <a:srgbClr val="B8322A"/>
                          </a:solidFill>
                          <a:latin typeface="Montserrat" pitchFamily="34" charset="0"/>
                          <a:ea typeface="Montserrat" pitchFamily="34" charset="-122"/>
                          <a:cs typeface="Montserrat" pitchFamily="34" charset="-120"/>
                        </a:rPr>
                        <a:t>A plan goes stale when the weather turns</a:t>
                      </a:r>
                      <a:endParaRPr lang="en-US" sz="950" dirty="0">
                        <a:latin typeface="Montserrat" charset="0"/>
                        <a:ea typeface="Montserrat" charset="0"/>
                        <a:cs typeface="Montserrat" charset="0"/>
                      </a:endParaRPr>
                    </a:p>
                  </a:txBody>
                  <a:tcPr marL="50800" marR="50800" marT="38100" marB="38100" anchor="ctr">
                    <a:lnL w="0" cap="flat" cmpd="sng" algn="ctr">
                      <a:noFill/>
                    </a:lnL>
                    <a:lnR w="0" cap="flat" cmpd="sng" algn="ctr">
                      <a:noFill/>
                    </a:lnR>
                    <a:lnT w="12700" cap="flat" cmpd="sng" algn="ctr">
                      <a:solidFill>
                        <a:srgbClr val="B8322A"/>
                      </a:solidFill>
                      <a:prstDash val="solid"/>
                      <a:round/>
                      <a:headEnd type="none" w="med" len="med"/>
                      <a:tailEnd type="none" w="med" len="med"/>
                    </a:lnT>
                    <a:lnB w="12700" cap="flat" cmpd="sng" algn="ctr">
                      <a:solidFill>
                        <a:srgbClr val="B8322A"/>
                      </a:solidFill>
                      <a:prstDash val="solid"/>
                      <a:round/>
                      <a:headEnd type="none" w="med" len="med"/>
                      <a:tailEnd type="none" w="med" len="med"/>
                    </a:lnB>
                  </a:tcPr>
                </a:tc>
                <a:tc>
                  <a:txBody>
                    <a:bodyPr/>
                    <a:lstStyle/>
                    <a:p>
                      <a:pPr algn="ctr" indent="0" marL="0">
                        <a:buNone/>
                      </a:pPr>
                      <a:r>
                        <a:rPr lang="en-US" sz="1100" b="1" dirty="0">
                          <a:solidFill>
                            <a:srgbClr val="0B3C6F"/>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111111"/>
                          </a:solidFill>
                          <a:latin typeface="Montserrat" pitchFamily="34" charset="0"/>
                          <a:ea typeface="Montserrat" pitchFamily="34" charset="-122"/>
                          <a:cs typeface="Montserrat" pitchFamily="34" charset="-120"/>
                        </a:rPr>
                        <a:t>The queue and the crew day re-derive live</a:t>
                      </a:r>
                      <a:endParaRPr lang="en-US" sz="950" dirty="0">
                        <a:latin typeface="Montserrat" charset="0"/>
                        <a:ea typeface="Montserrat" charset="0"/>
                        <a:cs typeface="Montserrat" charset="0"/>
                      </a:endParaRPr>
                    </a:p>
                  </a:txBody>
                  <a:tcPr marL="76200" marR="76200" marT="38100" marB="38100" anchor="ctr">
                    <a:lnL w="12700" cap="flat" cmpd="sng" algn="ctr">
                      <a:solidFill>
                        <a:srgbClr val="0B3C6F"/>
                      </a:solidFill>
                      <a:prstDash val="solid"/>
                      <a:round/>
                      <a:headEnd type="none" w="med" len="med"/>
                      <a:tailEnd type="none" w="med" len="med"/>
                    </a:lnL>
                    <a:lnR w="12700" cap="flat" cmpd="sng" algn="ctr">
                      <a:solidFill>
                        <a:srgbClr val="0B3C6F"/>
                      </a:solidFill>
                      <a:prstDash val="solid"/>
                      <a:round/>
                      <a:headEnd type="none" w="med" len="med"/>
                      <a:tailEnd type="none" w="med" len="med"/>
                    </a:lnR>
                    <a:lnT w="12700" cap="flat" cmpd="sng" algn="ctr">
                      <a:solidFill>
                        <a:srgbClr val="0B3C6F"/>
                      </a:solidFill>
                      <a:prstDash val="solid"/>
                      <a:round/>
                      <a:headEnd type="none" w="med" len="med"/>
                      <a:tailEnd type="none" w="med" len="med"/>
                    </a:lnT>
                    <a:lnB w="12700" cap="flat" cmpd="sng" algn="ctr">
                      <a:solidFill>
                        <a:srgbClr val="0B3C6F"/>
                      </a:solidFill>
                      <a:prstDash val="solid"/>
                      <a:round/>
                      <a:headEnd type="none" w="med" len="med"/>
                      <a:tailEnd type="none" w="med" len="med"/>
                    </a:lnB>
                  </a:tcPr>
                </a:tc>
              </a:tr>
              <a:tr h="429768">
                <a:tc>
                  <a:txBody>
                    <a:bodyPr/>
                    <a:lstStyle/>
                    <a:p>
                      <a:pPr indent="0" marL="0">
                        <a:buNone/>
                      </a:pPr>
                      <a:r>
                        <a:rPr lang="en-US" sz="950" b="1" i="1" dirty="0">
                          <a:solidFill>
                            <a:srgbClr val="B8322A"/>
                          </a:solidFill>
                          <a:latin typeface="Montserrat" pitchFamily="34" charset="0"/>
                          <a:ea typeface="Montserrat" pitchFamily="34" charset="-122"/>
                          <a:cs typeface="Montserrat" pitchFamily="34" charset="-120"/>
                        </a:rPr>
                        <a:t>Automation nobody signed off</a:t>
                      </a:r>
                      <a:endParaRPr lang="en-US" sz="950" dirty="0">
                        <a:latin typeface="Montserrat" charset="0"/>
                        <a:ea typeface="Montserrat" charset="0"/>
                        <a:cs typeface="Montserrat" charset="0"/>
                      </a:endParaRPr>
                    </a:p>
                  </a:txBody>
                  <a:tcPr marL="50800" marR="50800" marT="38100" marB="38100" anchor="ctr">
                    <a:lnL w="0" cap="flat" cmpd="sng" algn="ctr">
                      <a:noFill/>
                    </a:lnL>
                    <a:lnR w="0" cap="flat" cmpd="sng" algn="ctr">
                      <a:noFill/>
                    </a:lnR>
                    <a:lnT w="12700" cap="flat" cmpd="sng" algn="ctr">
                      <a:solidFill>
                        <a:srgbClr val="B8322A"/>
                      </a:solidFill>
                      <a:prstDash val="solid"/>
                      <a:round/>
                      <a:headEnd type="none" w="med" len="med"/>
                      <a:tailEnd type="none" w="med" len="med"/>
                    </a:lnT>
                    <a:lnB w="12700" cap="flat" cmpd="sng" algn="ctr">
                      <a:solidFill>
                        <a:srgbClr val="B8322A"/>
                      </a:solidFill>
                      <a:prstDash val="solid"/>
                      <a:round/>
                      <a:headEnd type="none" w="med" len="med"/>
                      <a:tailEnd type="none" w="med" len="med"/>
                    </a:lnB>
                  </a:tcPr>
                </a:tc>
                <a:tc>
                  <a:txBody>
                    <a:bodyPr/>
                    <a:lstStyle/>
                    <a:p>
                      <a:pPr algn="ctr" indent="0" marL="0">
                        <a:buNone/>
                      </a:pPr>
                      <a:r>
                        <a:rPr lang="en-US" sz="1100" b="1" dirty="0">
                          <a:solidFill>
                            <a:srgbClr val="0B3C6F"/>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50" b="1" dirty="0">
                          <a:solidFill>
                            <a:srgbClr val="111111"/>
                          </a:solidFill>
                          <a:latin typeface="Montserrat" pitchFamily="34" charset="0"/>
                          <a:ea typeface="Montserrat" pitchFamily="34" charset="-122"/>
                          <a:cs typeface="Montserrat" pitchFamily="34" charset="-120"/>
                        </a:rPr>
                        <a:t>Nothing is scheduled until an operator approves</a:t>
                      </a:r>
                      <a:endParaRPr lang="en-US" sz="950" dirty="0">
                        <a:latin typeface="Montserrat" charset="0"/>
                        <a:ea typeface="Montserrat" charset="0"/>
                        <a:cs typeface="Montserrat" charset="0"/>
                      </a:endParaRPr>
                    </a:p>
                  </a:txBody>
                  <a:tcPr marL="76200" marR="76200" marT="38100" marB="38100" anchor="ctr">
                    <a:lnL w="12700" cap="flat" cmpd="sng" algn="ctr">
                      <a:solidFill>
                        <a:srgbClr val="0B3C6F"/>
                      </a:solidFill>
                      <a:prstDash val="solid"/>
                      <a:round/>
                      <a:headEnd type="none" w="med" len="med"/>
                      <a:tailEnd type="none" w="med" len="med"/>
                    </a:lnL>
                    <a:lnR w="12700" cap="flat" cmpd="sng" algn="ctr">
                      <a:solidFill>
                        <a:srgbClr val="0B3C6F"/>
                      </a:solidFill>
                      <a:prstDash val="solid"/>
                      <a:round/>
                      <a:headEnd type="none" w="med" len="med"/>
                      <a:tailEnd type="none" w="med" len="med"/>
                    </a:lnR>
                    <a:lnT w="12700" cap="flat" cmpd="sng" algn="ctr">
                      <a:solidFill>
                        <a:srgbClr val="0B3C6F"/>
                      </a:solidFill>
                      <a:prstDash val="solid"/>
                      <a:round/>
                      <a:headEnd type="none" w="med" len="med"/>
                      <a:tailEnd type="none" w="med" len="med"/>
                    </a:lnT>
                    <a:lnB w="12700" cap="flat" cmpd="sng" algn="ctr">
                      <a:solidFill>
                        <a:srgbClr val="0B3C6F"/>
                      </a:solidFill>
                      <a:prstDash val="solid"/>
                      <a:round/>
                      <a:headEnd type="none" w="med" len="med"/>
                      <a:tailEnd type="none" w="med" len="med"/>
                    </a:lnB>
                  </a:tcPr>
                </a:tc>
              </a:tr>
            </a:tbl>
          </a:graphicData>
        </a:graphic>
      </p:graphicFrame>
      <p:sp>
        <p:nvSpPr>
          <p:cNvPr id="25" name="Card 65"/>
          <p:cNvSpPr/>
          <p:nvPr/>
        </p:nvSpPr>
        <p:spPr>
          <a:xfrm>
            <a:off x="256032" y="5230368"/>
            <a:ext cx="5257800" cy="1170432"/>
          </a:xfrm>
          <a:prstGeom prst="roundRect">
            <a:avLst>
              <a:gd name="adj" fmla="val 4688"/>
            </a:avLst>
          </a:prstGeom>
          <a:solidFill>
            <a:schemeClr val="bg2"/>
          </a:solidFill>
          <a:ln w="12700">
            <a:solidFill>
              <a:srgbClr val="0B3C6F"/>
            </a:solidFill>
          </a:ln>
        </p:spPr>
        <p:txBody>
          <a:bodyPr wrap="square" lIns="50800" tIns="76200" rIns="76200" bIns="50800" rtlCol="0" anchor="ctr"/>
          <a:lstStyle/>
          <a:p>
            <a:pPr indent="0" marL="0">
              <a:buNone/>
            </a:pPr>
            <a:r>
              <a:rPr lang="en-US" sz="950" b="1" dirty="0">
                <a:solidFill>
                  <a:schemeClr val="accent3"/>
                </a:solidFill>
                <a:latin typeface="Montserrat" pitchFamily="34" charset="0"/>
                <a:ea typeface="Montserrat" pitchFamily="34" charset="-122"/>
                <a:cs typeface="Montserrat" pitchFamily="34" charset="-120"/>
              </a:rPr>
              <a:t>Honest wording: </a:t>
            </a:r>
            <a:pPr indent="0" marL="0">
              <a:buNone/>
            </a:pPr>
            <a:r>
              <a:rPr lang="en-US" sz="950" dirty="0">
                <a:solidFill>
                  <a:schemeClr val="tx1"/>
                </a:solidFill>
                <a:latin typeface="Montserrat" pitchFamily="34" charset="0"/>
                <a:ea typeface="Montserrat" pitchFamily="34" charset="-122"/>
                <a:cs typeface="Montserrat" pitchFamily="34" charset="-120"/>
              </a:rPr>
              <a:t>B-17 is diagnosed from a real thermal capture. The other 119 arrays are flagged from modelled signature. The build fails if the two are mixed.</a:t>
            </a:r>
            <a:endParaRPr lang="en-US" sz="950" dirty="0"/>
          </a:p>
        </p:txBody>
      </p:sp>
      <p:sp>
        <p:nvSpPr>
          <p:cNvPr id="26" name="Panel 66"/>
          <p:cNvSpPr/>
          <p:nvPr/>
        </p:nvSpPr>
        <p:spPr>
          <a:xfrm>
            <a:off x="5696712" y="2066544"/>
            <a:ext cx="6238951" cy="2103120"/>
          </a:xfrm>
          <a:prstGeom prst="roundRect">
            <a:avLst>
              <a:gd name="adj" fmla="val 5217"/>
            </a:avLst>
          </a:prstGeom>
          <a:solidFill>
            <a:schemeClr val="bg1"/>
          </a:solidFill>
          <a:ln w="31750">
            <a:solidFill>
              <a:srgbClr val="0B3C6F"/>
            </a:solidFill>
            <a:prstDash val="solid"/>
          </a:ln>
        </p:spPr>
      </p:sp>
      <p:sp>
        <p:nvSpPr>
          <p:cNvPr id="27" name="Text 67"/>
          <p:cNvSpPr txBox="1"/>
          <p:nvPr/>
        </p:nvSpPr>
        <p:spPr>
          <a:xfrm>
            <a:off x="5833872" y="2176272"/>
            <a:ext cx="1965960" cy="1600200"/>
          </a:xfrm>
          <a:prstGeom prst="rect">
            <a:avLst/>
          </a:prstGeom>
          <a:noFill/>
          <a:ln/>
        </p:spPr>
        <p:txBody>
          <a:bodyPr wrap="square" lIns="0" tIns="0" rIns="0" bIns="0" rtlCol="0" anchor="t"/>
          <a:lstStyle/>
          <a:p>
            <a:pPr indent="0" marL="0">
              <a:spcAft>
                <a:spcPts val="400"/>
              </a:spcAft>
              <a:buNone/>
            </a:pPr>
            <a:r>
              <a:rPr lang="en-US" sz="1300" b="1" dirty="0">
                <a:solidFill>
                  <a:schemeClr val="tx2"/>
                </a:solidFill>
                <a:latin typeface="Montserrat" pitchFamily="34" charset="0"/>
                <a:ea typeface="Montserrat" pitchFamily="34" charset="-122"/>
                <a:cs typeface="Montserrat" pitchFamily="34" charset="-120"/>
              </a:rPr>
              <a:t>The running prototype</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Not a mock-up. The detector we trained runs in the browser on the frame the drone’s camera returned: Cracked 0.89 on B-17. The thermal pass beside it is a rendering of the simulated scene.</a:t>
            </a:r>
            <a:endParaRPr lang="en-US" sz="1000" dirty="0"/>
          </a:p>
        </p:txBody>
      </p:sp>
      <p:pic>
        <p:nvPicPr>
          <p:cNvPr id="28" name="Icon 68 github" descr="D:\Projects\12. project\ppt\images\icons\github-navy.png">    </p:cNvPr>
          <p:cNvPicPr>
            <a:picLocks noChangeAspect="1"/>
          </p:cNvPicPr>
          <p:nvPr/>
        </p:nvPicPr>
        <p:blipFill>
          <a:blip r:embed="rId1"/>
          <a:stretch>
            <a:fillRect/>
          </a:stretch>
        </p:blipFill>
        <p:spPr>
          <a:xfrm>
            <a:off x="5833872" y="3730752"/>
            <a:ext cx="274320" cy="274320"/>
          </a:xfrm>
          <a:prstGeom prst="rect">
            <a:avLst/>
          </a:prstGeom>
        </p:spPr>
      </p:pic>
      <p:sp>
        <p:nvSpPr>
          <p:cNvPr id="29" name="Text 69"/>
          <p:cNvSpPr txBox="1"/>
          <p:nvPr/>
        </p:nvSpPr>
        <p:spPr>
          <a:xfrm>
            <a:off x="6153912" y="3730752"/>
            <a:ext cx="1691640" cy="274320"/>
          </a:xfrm>
          <a:prstGeom prst="rect">
            <a:avLst/>
          </a:prstGeom>
          <a:noFill/>
          <a:ln/>
        </p:spPr>
        <p:txBody>
          <a:bodyPr wrap="square" lIns="0" tIns="0" rIns="0" bIns="0" rtlCol="0" anchor="ctr"/>
          <a:lstStyle/>
          <a:p>
            <a:pPr indent="0" marL="0">
              <a:buNone/>
            </a:pPr>
            <a:r>
              <a:rPr lang="en-US" sz="750" b="1" dirty="0">
                <a:solidFill>
                  <a:schemeClr val="tx2"/>
                </a:solidFill>
                <a:latin typeface="Montserrat" pitchFamily="34" charset="0"/>
                <a:ea typeface="Montserrat" pitchFamily="34" charset="-122"/>
                <a:cs typeface="Montserrat" pitchFamily="34" charset="-120"/>
              </a:rPr>
              <a:t>github.com/RAK2315/solar-proj</a:t>
            </a:r>
            <a:endParaRPr lang="en-US" sz="750" dirty="0"/>
          </a:p>
        </p:txBody>
      </p:sp>
      <p:pic>
        <p:nvPicPr>
          <p:cNvPr id="30" name="Picture 03-drone-detection.png" descr="right, upper block: the drone’s camera frame over B-17 with the detector’s box">    </p:cNvPr>
          <p:cNvPicPr>
            <a:picLocks noChangeAspect="1"/>
          </p:cNvPicPr>
          <p:nvPr/>
        </p:nvPicPr>
        <p:blipFill>
          <a:blip r:embed="rId2"/>
          <a:stretch>
            <a:fillRect/>
          </a:stretch>
        </p:blipFill>
        <p:spPr>
          <a:xfrm>
            <a:off x="7936992" y="2194560"/>
            <a:ext cx="1885036" cy="1415799"/>
          </a:xfrm>
          <a:prstGeom prst="rect">
            <a:avLst/>
          </a:prstGeom>
        </p:spPr>
      </p:pic>
      <p:sp>
        <p:nvSpPr>
          <p:cNvPr id="31" name="Picture frame 71"/>
          <p:cNvSpPr/>
          <p:nvPr/>
        </p:nvSpPr>
        <p:spPr>
          <a:xfrm>
            <a:off x="7936992" y="2194560"/>
            <a:ext cx="1885036" cy="1415799"/>
          </a:xfrm>
          <a:prstGeom prst="rect">
            <a:avLst/>
          </a:prstGeom>
          <a:ln w="12700">
            <a:solidFill>
              <a:srgbClr val="0B3C6F"/>
            </a:solidFill>
            <a:prstDash val="solid"/>
          </a:ln>
        </p:spPr>
      </p:sp>
      <p:pic>
        <p:nvPicPr>
          <p:cNvPr id="32" name="Picture 03-thermal-pass.png" descr="right, upper block, beside it: the thermal pass over the same module">    </p:cNvPr>
          <p:cNvPicPr>
            <a:picLocks noChangeAspect="1"/>
          </p:cNvPicPr>
          <p:nvPr/>
        </p:nvPicPr>
        <p:blipFill>
          <a:blip r:embed="rId3"/>
          <a:stretch>
            <a:fillRect/>
          </a:stretch>
        </p:blipFill>
        <p:spPr>
          <a:xfrm>
            <a:off x="9913468" y="2194560"/>
            <a:ext cx="1885036" cy="1415799"/>
          </a:xfrm>
          <a:prstGeom prst="rect">
            <a:avLst/>
          </a:prstGeom>
        </p:spPr>
      </p:pic>
      <p:sp>
        <p:nvSpPr>
          <p:cNvPr id="33" name="Picture frame 73"/>
          <p:cNvSpPr/>
          <p:nvPr/>
        </p:nvSpPr>
        <p:spPr>
          <a:xfrm>
            <a:off x="9913468" y="2194560"/>
            <a:ext cx="1885036" cy="1415799"/>
          </a:xfrm>
          <a:prstGeom prst="rect">
            <a:avLst/>
          </a:prstGeom>
          <a:ln w="12700">
            <a:solidFill>
              <a:srgbClr val="0B3C6F"/>
            </a:solidFill>
            <a:prstDash val="solid"/>
          </a:ln>
        </p:spPr>
      </p:sp>
      <p:sp>
        <p:nvSpPr>
          <p:cNvPr id="34" name="Text 74"/>
          <p:cNvSpPr txBox="1"/>
          <p:nvPr/>
        </p:nvSpPr>
        <p:spPr>
          <a:xfrm>
            <a:off x="7936992" y="3646935"/>
            <a:ext cx="1885036" cy="182880"/>
          </a:xfrm>
          <a:prstGeom prst="rect">
            <a:avLst/>
          </a:prstGeom>
          <a:noFill/>
          <a:ln/>
        </p:spPr>
        <p:txBody>
          <a:bodyPr wrap="square" lIns="0" tIns="0" rIns="0" bIns="0" rtlCol="0" anchor="t"/>
          <a:lstStyle/>
          <a:p>
            <a:pPr algn="ctr" indent="0" marL="0">
              <a:buNone/>
            </a:pPr>
            <a:r>
              <a:rPr lang="en-US" sz="900" b="1" dirty="0">
                <a:solidFill>
                  <a:schemeClr val="tx2"/>
                </a:solidFill>
                <a:latin typeface="Montserrat" pitchFamily="34" charset="0"/>
                <a:ea typeface="Montserrat" pitchFamily="34" charset="-122"/>
                <a:cs typeface="Montserrat" pitchFamily="34" charset="-120"/>
              </a:rPr>
              <a:t>Detection, in the browser</a:t>
            </a:r>
            <a:endParaRPr lang="en-US" sz="900" dirty="0"/>
          </a:p>
        </p:txBody>
      </p:sp>
      <p:sp>
        <p:nvSpPr>
          <p:cNvPr id="35" name="Text 75"/>
          <p:cNvSpPr txBox="1"/>
          <p:nvPr/>
        </p:nvSpPr>
        <p:spPr>
          <a:xfrm>
            <a:off x="9913468" y="3646935"/>
            <a:ext cx="1885036" cy="182880"/>
          </a:xfrm>
          <a:prstGeom prst="rect">
            <a:avLst/>
          </a:prstGeom>
          <a:noFill/>
          <a:ln/>
        </p:spPr>
        <p:txBody>
          <a:bodyPr wrap="square" lIns="0" tIns="0" rIns="0" bIns="0" rtlCol="0" anchor="t"/>
          <a:lstStyle/>
          <a:p>
            <a:pPr algn="ctr" indent="0" marL="0">
              <a:buNone/>
            </a:pPr>
            <a:r>
              <a:rPr lang="en-US" sz="900" b="1" dirty="0">
                <a:solidFill>
                  <a:schemeClr val="tx2"/>
                </a:solidFill>
                <a:latin typeface="Montserrat" pitchFamily="34" charset="0"/>
                <a:ea typeface="Montserrat" pitchFamily="34" charset="-122"/>
                <a:cs typeface="Montserrat" pitchFamily="34" charset="-120"/>
              </a:rPr>
              <a:t>Thermal pass, rendered</a:t>
            </a:r>
            <a:endParaRPr lang="en-US" sz="900" dirty="0"/>
          </a:p>
        </p:txBody>
      </p:sp>
      <p:sp>
        <p:nvSpPr>
          <p:cNvPr id="36" name="Panel 76"/>
          <p:cNvSpPr/>
          <p:nvPr/>
        </p:nvSpPr>
        <p:spPr>
          <a:xfrm>
            <a:off x="5696712" y="4297680"/>
            <a:ext cx="6238951" cy="2103120"/>
          </a:xfrm>
          <a:prstGeom prst="roundRect">
            <a:avLst>
              <a:gd name="adj" fmla="val 5217"/>
            </a:avLst>
          </a:prstGeom>
          <a:solidFill>
            <a:schemeClr val="bg1"/>
          </a:solidFill>
          <a:ln w="31750">
            <a:solidFill>
              <a:srgbClr val="0B3C6F"/>
            </a:solidFill>
            <a:prstDash val="solid"/>
          </a:ln>
        </p:spPr>
      </p:sp>
      <p:sp>
        <p:nvSpPr>
          <p:cNvPr id="37" name="Heading 77"/>
          <p:cNvSpPr txBox="1"/>
          <p:nvPr/>
        </p:nvSpPr>
        <p:spPr>
          <a:xfrm>
            <a:off x="5843016" y="4361688"/>
            <a:ext cx="5946343" cy="365760"/>
          </a:xfrm>
          <a:prstGeom prst="rect">
            <a:avLst/>
          </a:prstGeom>
          <a:noFill/>
          <a:ln/>
        </p:spPr>
        <p:txBody>
          <a:bodyPr wrap="square" lIns="0" tIns="0" rIns="0" bIns="0" rtlCol="0" anchor="ctr"/>
          <a:lstStyle/>
          <a:p>
            <a:pPr indent="0" marL="0">
              <a:buNone/>
            </a:pPr>
            <a:r>
              <a:rPr lang="en-US" sz="1700" b="1" dirty="0">
                <a:solidFill>
                  <a:schemeClr val="tx2"/>
                </a:solidFill>
                <a:latin typeface="Montserrat" pitchFamily="34" charset="0"/>
                <a:ea typeface="Montserrat" pitchFamily="34" charset="-122"/>
                <a:cs typeface="Montserrat" pitchFamily="34" charset="-120"/>
              </a:rPr>
              <a:t>WHERE THE AI IS</a:t>
            </a:r>
            <a:endParaRPr lang="en-US" sz="1700" dirty="0"/>
          </a:p>
        </p:txBody>
      </p:sp>
      <p:pic>
        <p:nvPicPr>
          <p:cNvPr id="38" name="Icon 78 eye" descr="D:\Projects\12. project\ppt\images\icons\eye-navy.png">    </p:cNvPr>
          <p:cNvPicPr>
            <a:picLocks noChangeAspect="1"/>
          </p:cNvPicPr>
          <p:nvPr/>
        </p:nvPicPr>
        <p:blipFill>
          <a:blip r:embed="rId4"/>
          <a:stretch>
            <a:fillRect/>
          </a:stretch>
        </p:blipFill>
        <p:spPr>
          <a:xfrm>
            <a:off x="5833872" y="4800600"/>
            <a:ext cx="384048" cy="384048"/>
          </a:xfrm>
          <a:prstGeom prst="rect">
            <a:avLst/>
          </a:prstGeom>
        </p:spPr>
      </p:pic>
      <p:sp>
        <p:nvSpPr>
          <p:cNvPr id="39" name="Text 79"/>
          <p:cNvSpPr txBox="1"/>
          <p:nvPr/>
        </p:nvSpPr>
        <p:spPr>
          <a:xfrm>
            <a:off x="6327648" y="4773168"/>
            <a:ext cx="2442820" cy="566928"/>
          </a:xfrm>
          <a:prstGeom prst="rect">
            <a:avLst/>
          </a:prstGeom>
          <a:noFill/>
          <a:ln/>
        </p:spPr>
        <p:txBody>
          <a:bodyPr wrap="square" lIns="0" tIns="0" rIns="0" bIns="0" rtlCol="0" anchor="t"/>
          <a:lstStyle/>
          <a:p>
            <a:pPr indent="0" marL="0">
              <a:buNone/>
            </a:pPr>
            <a:r>
              <a:rPr lang="en-US" sz="1100" b="1" dirty="0">
                <a:solidFill>
                  <a:schemeClr val="tx2"/>
                </a:solidFill>
                <a:latin typeface="Montserrat" pitchFamily="34" charset="0"/>
                <a:ea typeface="Montserrat" pitchFamily="34" charset="-122"/>
                <a:cs typeface="Montserrat" pitchFamily="34" charset="-120"/>
              </a:rPr>
              <a:t>Vision detector, trained by us</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YOLOv8n on 921 labelled photographs. Cracked AP@50 0.995, held-out test split.</a:t>
            </a:r>
            <a:endParaRPr lang="en-US" sz="1000" dirty="0"/>
          </a:p>
        </p:txBody>
      </p:sp>
      <p:pic>
        <p:nvPicPr>
          <p:cNvPr id="40" name="Icon 80 robot" descr="D:\Projects\12. project\ppt\images\icons\robot-purple.png">    </p:cNvPr>
          <p:cNvPicPr>
            <a:picLocks noChangeAspect="1"/>
          </p:cNvPicPr>
          <p:nvPr/>
        </p:nvPicPr>
        <p:blipFill>
          <a:blip r:embed="rId5"/>
          <a:stretch>
            <a:fillRect/>
          </a:stretch>
        </p:blipFill>
        <p:spPr>
          <a:xfrm>
            <a:off x="8861908" y="4800600"/>
            <a:ext cx="384048" cy="384048"/>
          </a:xfrm>
          <a:prstGeom prst="rect">
            <a:avLst/>
          </a:prstGeom>
        </p:spPr>
      </p:pic>
      <p:sp>
        <p:nvSpPr>
          <p:cNvPr id="41" name="Text 81"/>
          <p:cNvSpPr txBox="1"/>
          <p:nvPr/>
        </p:nvSpPr>
        <p:spPr>
          <a:xfrm>
            <a:off x="9355684" y="4773168"/>
            <a:ext cx="2442820" cy="566928"/>
          </a:xfrm>
          <a:prstGeom prst="rect">
            <a:avLst/>
          </a:prstGeom>
          <a:noFill/>
          <a:ln/>
        </p:spPr>
        <p:txBody>
          <a:bodyPr wrap="square" lIns="0" tIns="0" rIns="0" bIns="0" rtlCol="0" anchor="t"/>
          <a:lstStyle/>
          <a:p>
            <a:pPr indent="0" marL="0">
              <a:buNone/>
            </a:pPr>
            <a:r>
              <a:rPr lang="en-US" sz="1100" b="1" dirty="0">
                <a:solidFill>
                  <a:schemeClr val="accent5"/>
                </a:solidFill>
                <a:latin typeface="Montserrat" pitchFamily="34" charset="0"/>
                <a:ea typeface="Montserrat" pitchFamily="34" charset="-122"/>
                <a:cs typeface="Montserrat" pitchFamily="34" charset="-120"/>
              </a:rPr>
              <a:t>Agent reasoning</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openai/gpt-oss-120b on Groq writes the triage. It never supplies a number.</a:t>
            </a:r>
            <a:endParaRPr lang="en-US" sz="1000" dirty="0"/>
          </a:p>
        </p:txBody>
      </p:sp>
      <p:pic>
        <p:nvPicPr>
          <p:cNvPr id="42" name="Icon 82 clock" descr="D:\Projects\12. project\ppt\images\icons\clock-orange.png">    </p:cNvPr>
          <p:cNvPicPr>
            <a:picLocks noChangeAspect="1"/>
          </p:cNvPicPr>
          <p:nvPr/>
        </p:nvPicPr>
        <p:blipFill>
          <a:blip r:embed="rId6"/>
          <a:stretch>
            <a:fillRect/>
          </a:stretch>
        </p:blipFill>
        <p:spPr>
          <a:xfrm>
            <a:off x="5833872" y="5404104"/>
            <a:ext cx="384048" cy="384048"/>
          </a:xfrm>
          <a:prstGeom prst="rect">
            <a:avLst/>
          </a:prstGeom>
        </p:spPr>
      </p:pic>
      <p:sp>
        <p:nvSpPr>
          <p:cNvPr id="43" name="Text 83"/>
          <p:cNvSpPr txBox="1"/>
          <p:nvPr/>
        </p:nvSpPr>
        <p:spPr>
          <a:xfrm>
            <a:off x="6327648" y="5376672"/>
            <a:ext cx="2442820" cy="566928"/>
          </a:xfrm>
          <a:prstGeom prst="rect">
            <a:avLst/>
          </a:prstGeom>
          <a:noFill/>
          <a:ln/>
        </p:spPr>
        <p:txBody>
          <a:bodyPr wrap="square" lIns="0" tIns="0" rIns="0" bIns="0" rtlCol="0" anchor="t"/>
          <a:lstStyle/>
          <a:p>
            <a:pPr indent="0" marL="0">
              <a:buNone/>
            </a:pPr>
            <a:r>
              <a:rPr lang="en-US" sz="1100" b="1" dirty="0">
                <a:solidFill>
                  <a:schemeClr val="accent6"/>
                </a:solidFill>
                <a:latin typeface="Montserrat" pitchFamily="34" charset="0"/>
                <a:ea typeface="Montserrat" pitchFamily="34" charset="-122"/>
                <a:cs typeface="Montserrat" pitchFamily="34" charset="-120"/>
              </a:rPr>
              <a:t>Prognosis that ends in an hour</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A thermal-dose model and the 72 h forecast give "act before 14:00".</a:t>
            </a:r>
            <a:endParaRPr lang="en-US" sz="1000" dirty="0"/>
          </a:p>
        </p:txBody>
      </p:sp>
      <p:pic>
        <p:nvPicPr>
          <p:cNvPr id="44" name="Icon 84 calc" descr="D:\Projects\12. project\ppt\images\icons\calc-green.png">    </p:cNvPr>
          <p:cNvPicPr>
            <a:picLocks noChangeAspect="1"/>
          </p:cNvPicPr>
          <p:nvPr/>
        </p:nvPicPr>
        <p:blipFill>
          <a:blip r:embed="rId7"/>
          <a:stretch>
            <a:fillRect/>
          </a:stretch>
        </p:blipFill>
        <p:spPr>
          <a:xfrm>
            <a:off x="8861908" y="5404104"/>
            <a:ext cx="384048" cy="384048"/>
          </a:xfrm>
          <a:prstGeom prst="rect">
            <a:avLst/>
          </a:prstGeom>
        </p:spPr>
      </p:pic>
      <p:sp>
        <p:nvSpPr>
          <p:cNvPr id="45" name="Text 85"/>
          <p:cNvSpPr txBox="1"/>
          <p:nvPr/>
        </p:nvSpPr>
        <p:spPr>
          <a:xfrm>
            <a:off x="9355684" y="5376672"/>
            <a:ext cx="2442820" cy="566928"/>
          </a:xfrm>
          <a:prstGeom prst="rect">
            <a:avLst/>
          </a:prstGeom>
          <a:noFill/>
          <a:ln/>
        </p:spPr>
        <p:txBody>
          <a:bodyPr wrap="square" lIns="0" tIns="0" rIns="0" bIns="0" rtlCol="0" anchor="t"/>
          <a:lstStyle/>
          <a:p>
            <a:pPr indent="0" marL="0">
              <a:buNone/>
            </a:pPr>
            <a:r>
              <a:rPr lang="en-US" sz="1100" b="1" dirty="0">
                <a:solidFill>
                  <a:schemeClr val="accent4"/>
                </a:solidFill>
                <a:latin typeface="Montserrat" pitchFamily="34" charset="0"/>
                <a:ea typeface="Montserrat" pitchFamily="34" charset="-122"/>
                <a:cs typeface="Montserrat" pitchFamily="34" charset="-120"/>
              </a:rPr>
              <a:t>Crew plan, exact optimisation</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A mixed-integer program, HiGHS in WebAssembly, capped at 50 ms.</a:t>
            </a:r>
            <a:endParaRPr lang="en-US" sz="1000" dirty="0"/>
          </a:p>
        </p:txBody>
      </p:sp>
      <p:sp>
        <p:nvSpPr>
          <p:cNvPr id="46" name="Text 86"/>
          <p:cNvSpPr txBox="1"/>
          <p:nvPr/>
        </p:nvSpPr>
        <p:spPr>
          <a:xfrm>
            <a:off x="5833872" y="5998464"/>
            <a:ext cx="5964631" cy="329184"/>
          </a:xfrm>
          <a:prstGeom prst="rect">
            <a:avLst/>
          </a:prstGeom>
          <a:noFill/>
          <a:ln/>
        </p:spPr>
        <p:txBody>
          <a:bodyPr wrap="square" lIns="0" tIns="0" rIns="0" bIns="0" rtlCol="0" anchor="ctr"/>
          <a:lstStyle/>
          <a:p>
            <a:pPr indent="0" marL="0">
              <a:buNone/>
            </a:pPr>
            <a:r>
              <a:rPr lang="en-US" sz="900" b="1" dirty="0">
                <a:solidFill>
                  <a:schemeClr val="tx2"/>
                </a:solidFill>
                <a:latin typeface="Montserrat" pitchFamily="34" charset="0"/>
                <a:ea typeface="Montserrat" pitchFamily="34" charset="-122"/>
                <a:cs typeface="Montserrat" pitchFamily="34" charset="-120"/>
              </a:rPr>
              <a:t>Not AI, on purpose: </a:t>
            </a:r>
            <a:pPr indent="0" marL="0">
              <a:buNone/>
            </a:pPr>
            <a:r>
              <a:rPr lang="en-US" sz="900" dirty="0">
                <a:solidFill>
                  <a:schemeClr val="tx1"/>
                </a:solidFill>
                <a:latin typeface="Montserrat" pitchFamily="34" charset="0"/>
                <a:ea typeface="Montserrat" pitchFamily="34" charset="-122"/>
                <a:cs typeface="Montserrat" pitchFamily="34" charset="-120"/>
              </a:rPr>
              <a:t>the queue order is a fixed formula.  </a:t>
            </a:r>
            <a:pPr indent="0" marL="0">
              <a:buNone/>
            </a:pPr>
            <a:r>
              <a:rPr lang="en-US" sz="900" b="1" dirty="0">
                <a:solidFill>
                  <a:schemeClr val="accent3"/>
                </a:solidFill>
                <a:latin typeface="Montserrat" pitchFamily="34" charset="0"/>
                <a:ea typeface="Montserrat" pitchFamily="34" charset="-122"/>
                <a:cs typeface="Montserrat" pitchFamily="34" charset="-120"/>
              </a:rPr>
              <a:t>In progress, no result claimed: </a:t>
            </a:r>
            <a:pPr indent="0" marL="0">
              <a:buNone/>
            </a:pPr>
            <a:r>
              <a:rPr lang="en-US" sz="900" dirty="0">
                <a:solidFill>
                  <a:schemeClr val="tx1"/>
                </a:solidFill>
                <a:latin typeface="Montserrat" pitchFamily="34" charset="0"/>
                <a:ea typeface="Montserrat" pitchFamily="34" charset="-122"/>
                <a:cs typeface="Montserrat" pitchFamily="34" charset="-120"/>
              </a:rPr>
              <a:t>a thermal classifier on Raptor Maps’ InfraredSolarModules.</a:t>
            </a:r>
            <a:endParaRPr lang="en-US" sz="900" dirty="0"/>
          </a:p>
        </p:txBody>
      </p:sp>
      <p:sp>
        <p:nvSpPr>
          <p:cNvPr id="25" name="Slide Number Placeholder 0"/>
          <p:cNvSpPr>
            <a:spLocks noGrp="1"/>
          </p:cNvSpPr>
          <p:nvPr>
            <p:ph type="sldNum" sz="quarter" idx="4294967295"/>
          </p:nvPr>
        </p:nvSpPr>
        <p:spPr>
          <a:xfrm>
            <a:off x="11277295" y="6528816"/>
            <a:ext cx="64008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Montserrat"/>
                <a:ea typeface="Montserrat"/>
                <a:cs typeface="Montserrat"/>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2103120" y="91440"/>
            <a:ext cx="7345375" cy="731520"/>
          </a:xfrm>
          <a:prstGeom prst="rect">
            <a:avLst/>
          </a:prstGeom>
          <a:noFill/>
          <a:ln/>
        </p:spPr>
        <p:txBody>
          <a:bodyPr wrap="square" lIns="0" tIns="0" rIns="0" bIns="0" rtlCol="0" anchor="ctr"/>
          <a:lstStyle/>
          <a:p>
            <a:pPr algn="ctr" indent="0" marL="0">
              <a:buNone/>
            </a:pPr>
            <a:r>
              <a:rPr lang="en-US" sz="3200" b="1" dirty="0">
                <a:solidFill>
                  <a:schemeClr val="tx1"/>
                </a:solidFill>
                <a:latin typeface="Times New Roman" pitchFamily="34" charset="0"/>
                <a:ea typeface="Times New Roman" pitchFamily="34" charset="-122"/>
                <a:cs typeface="Times New Roman" pitchFamily="34" charset="-120"/>
              </a:rPr>
              <a:t>TECH STACK AND FLOW</a:t>
            </a:r>
            <a:endParaRPr lang="en-US" sz="3200" dirty="0"/>
          </a:p>
        </p:txBody>
      </p:sp>
      <p:sp>
        <p:nvSpPr>
          <p:cNvPr id="4" name="Text 87"/>
          <p:cNvSpPr txBox="1"/>
          <p:nvPr/>
        </p:nvSpPr>
        <p:spPr>
          <a:xfrm>
            <a:off x="301752" y="932688"/>
            <a:ext cx="7086600" cy="402336"/>
          </a:xfrm>
          <a:prstGeom prst="rect">
            <a:avLst/>
          </a:prstGeom>
          <a:noFill/>
          <a:ln/>
        </p:spPr>
        <p:txBody>
          <a:bodyPr wrap="square" lIns="0" tIns="0" rIns="0" bIns="0" rtlCol="0" anchor="ctr"/>
          <a:lstStyle/>
          <a:p>
            <a:pPr indent="0" marL="0">
              <a:buNone/>
            </a:pPr>
            <a:r>
              <a:rPr lang="en-US" sz="1100" b="1" dirty="0">
                <a:solidFill>
                  <a:schemeClr val="tx2"/>
                </a:solidFill>
                <a:latin typeface="Montserrat" pitchFamily="34" charset="0"/>
                <a:ea typeface="Montserrat" pitchFamily="34" charset="-122"/>
                <a:cs typeface="Montserrat" pitchFamily="34" charset="-120"/>
              </a:rPr>
              <a:t>A physics model, a trained detector and an exact solver, all running in the browser, behind a build that fails if a number drifts.</a:t>
            </a:r>
            <a:endParaRPr lang="en-US" sz="1100" dirty="0"/>
          </a:p>
        </p:txBody>
      </p:sp>
      <p:sp>
        <p:nvSpPr>
          <p:cNvPr id="5" name="Text 88"/>
          <p:cNvSpPr txBox="1"/>
          <p:nvPr/>
        </p:nvSpPr>
        <p:spPr>
          <a:xfrm>
            <a:off x="256032" y="1408176"/>
            <a:ext cx="941832" cy="658368"/>
          </a:xfrm>
          <a:prstGeom prst="rect">
            <a:avLst/>
          </a:prstGeom>
          <a:noFill/>
          <a:ln/>
        </p:spPr>
        <p:txBody>
          <a:bodyPr wrap="square" lIns="0" tIns="0" rIns="0" bIns="0" rtlCol="0" anchor="ctr"/>
          <a:lstStyle/>
          <a:p>
            <a:pPr algn="ctr" indent="0" marL="0">
              <a:buNone/>
            </a:pPr>
            <a:r>
              <a:rPr lang="en-US" sz="1050" b="1" dirty="0">
                <a:solidFill>
                  <a:schemeClr val="tx2"/>
                </a:solidFill>
                <a:latin typeface="Montserrat" pitchFamily="34" charset="0"/>
                <a:ea typeface="Montserrat" pitchFamily="34" charset="-122"/>
                <a:cs typeface="Montserrat" pitchFamily="34" charset="-120"/>
              </a:rPr>
              <a:t>BEFORE THE BUILD</a:t>
            </a:r>
            <a:endParaRPr lang="en-US" sz="1050" dirty="0"/>
          </a:p>
        </p:txBody>
      </p:sp>
      <p:sp>
        <p:nvSpPr>
          <p:cNvPr id="6" name="Card 89"/>
          <p:cNvSpPr/>
          <p:nvPr/>
        </p:nvSpPr>
        <p:spPr>
          <a:xfrm>
            <a:off x="1307592" y="1408176"/>
            <a:ext cx="1981200" cy="658368"/>
          </a:xfrm>
          <a:prstGeom prst="roundRect">
            <a:avLst>
              <a:gd name="adj" fmla="val 8333"/>
            </a:avLst>
          </a:prstGeom>
          <a:solidFill>
            <a:schemeClr val="bg2"/>
          </a:solidFill>
          <a:ln w="12700">
            <a:solidFill>
              <a:srgbClr val="0B3C6F"/>
            </a:solidFill>
          </a:ln>
        </p:spPr>
        <p:txBody>
          <a:bodyPr wrap="square" lIns="25400" tIns="50800" rIns="50800" bIns="25400" rtlCol="0" anchor="ctr"/>
          <a:lstStyle/>
          <a:p>
            <a:pPr algn="ctr" indent="0" marL="0">
              <a:buNone/>
            </a:pPr>
            <a:r>
              <a:rPr lang="en-US" sz="950" b="1" dirty="0">
                <a:solidFill>
                  <a:schemeClr val="tx2"/>
                </a:solidFill>
                <a:latin typeface="Montserrat" pitchFamily="34" charset="0"/>
                <a:ea typeface="Montserrat" pitchFamily="34" charset="-122"/>
                <a:cs typeface="Montserrat" pitchFamily="34" charset="-120"/>
              </a:rPr>
              <a:t>PV model and generators</a:t>
            </a:r>
            <a:endParaRPr lang="en-US" sz="950" dirty="0"/>
          </a:p>
          <a:p>
            <a:pPr algn="ctr" indent="0" marL="0">
              <a:buNone/>
            </a:pPr>
            <a:r>
              <a:rPr lang="en-US" sz="900" dirty="0">
                <a:solidFill>
                  <a:schemeClr val="tx1"/>
                </a:solidFill>
                <a:latin typeface="Montserrat" pitchFamily="34" charset="0"/>
                <a:ea typeface="Montserrat" pitchFamily="34" charset="-122"/>
                <a:cs typeface="Montserrat" pitchFamily="34" charset="-120"/>
              </a:rPr>
              <a:t>Python</a:t>
            </a:r>
            <a:endParaRPr lang="en-US" sz="950" dirty="0"/>
          </a:p>
        </p:txBody>
      </p:sp>
      <p:sp>
        <p:nvSpPr>
          <p:cNvPr id="7" name="Card 90"/>
          <p:cNvSpPr/>
          <p:nvPr/>
        </p:nvSpPr>
        <p:spPr>
          <a:xfrm>
            <a:off x="3380232" y="1408176"/>
            <a:ext cx="1981200" cy="658368"/>
          </a:xfrm>
          <a:prstGeom prst="roundRect">
            <a:avLst>
              <a:gd name="adj" fmla="val 8333"/>
            </a:avLst>
          </a:prstGeom>
          <a:solidFill>
            <a:schemeClr val="bg2"/>
          </a:solidFill>
          <a:ln w="12700">
            <a:solidFill>
              <a:srgbClr val="0B3C6F"/>
            </a:solidFill>
          </a:ln>
        </p:spPr>
        <p:txBody>
          <a:bodyPr wrap="square" lIns="25400" tIns="50800" rIns="50800" bIns="25400" rtlCol="0" anchor="ctr"/>
          <a:lstStyle/>
          <a:p>
            <a:pPr algn="ctr" indent="0" marL="0">
              <a:buNone/>
            </a:pPr>
            <a:r>
              <a:rPr lang="en-US" sz="950" b="1" dirty="0">
                <a:solidFill>
                  <a:schemeClr val="tx2"/>
                </a:solidFill>
                <a:latin typeface="Montserrat" pitchFamily="34" charset="0"/>
                <a:ea typeface="Montserrat" pitchFamily="34" charset="-122"/>
                <a:cs typeface="Montserrat" pitchFamily="34" charset="-120"/>
              </a:rPr>
              <a:t>Detector training</a:t>
            </a:r>
            <a:endParaRPr lang="en-US" sz="950" dirty="0"/>
          </a:p>
          <a:p>
            <a:pPr algn="ctr" indent="0" marL="0">
              <a:buNone/>
            </a:pPr>
            <a:r>
              <a:rPr lang="en-US" sz="900" dirty="0">
                <a:solidFill>
                  <a:schemeClr val="tx1"/>
                </a:solidFill>
                <a:latin typeface="Montserrat" pitchFamily="34" charset="0"/>
                <a:ea typeface="Montserrat" pitchFamily="34" charset="-122"/>
                <a:cs typeface="Montserrat" pitchFamily="34" charset="-120"/>
              </a:rPr>
              <a:t>YOLOv8n to ONNX, on Colab</a:t>
            </a:r>
            <a:endParaRPr lang="en-US" sz="950" dirty="0"/>
          </a:p>
        </p:txBody>
      </p:sp>
      <p:sp>
        <p:nvSpPr>
          <p:cNvPr id="8" name="Card 91"/>
          <p:cNvSpPr/>
          <p:nvPr/>
        </p:nvSpPr>
        <p:spPr>
          <a:xfrm>
            <a:off x="5452872" y="1408176"/>
            <a:ext cx="1981200" cy="658368"/>
          </a:xfrm>
          <a:prstGeom prst="roundRect">
            <a:avLst>
              <a:gd name="adj" fmla="val 8333"/>
            </a:avLst>
          </a:prstGeom>
          <a:solidFill>
            <a:schemeClr val="bg2"/>
          </a:solidFill>
          <a:ln w="12700">
            <a:solidFill>
              <a:srgbClr val="0B3C6F"/>
            </a:solidFill>
          </a:ln>
        </p:spPr>
        <p:txBody>
          <a:bodyPr wrap="square" lIns="25400" tIns="50800" rIns="50800" bIns="25400" rtlCol="0" anchor="ctr"/>
          <a:lstStyle/>
          <a:p>
            <a:pPr algn="ctr" indent="0" marL="0">
              <a:buNone/>
            </a:pPr>
            <a:r>
              <a:rPr lang="en-US" sz="950" b="1" dirty="0">
                <a:solidFill>
                  <a:schemeClr val="tx2"/>
                </a:solidFill>
                <a:latin typeface="Montserrat" pitchFamily="34" charset="0"/>
                <a:ea typeface="Montserrat" pitchFamily="34" charset="-122"/>
                <a:cs typeface="Montserrat" pitchFamily="34" charset="-120"/>
              </a:rPr>
              <a:t>Thermal cell grid</a:t>
            </a:r>
            <a:endParaRPr lang="en-US" sz="950" dirty="0"/>
          </a:p>
          <a:p>
            <a:pPr algn="ctr" indent="0" marL="0">
              <a:buNone/>
            </a:pPr>
            <a:r>
              <a:rPr lang="en-US" sz="900" dirty="0">
                <a:solidFill>
                  <a:schemeClr val="tx1"/>
                </a:solidFill>
                <a:latin typeface="Montserrat" pitchFamily="34" charset="0"/>
                <a:ea typeface="Montserrat" pitchFamily="34" charset="-122"/>
                <a:cs typeface="Montserrat" pitchFamily="34" charset="-120"/>
              </a:rPr>
              <a:t>classical image processing</a:t>
            </a:r>
            <a:endParaRPr lang="en-US" sz="950" dirty="0"/>
          </a:p>
        </p:txBody>
      </p:sp>
      <p:sp>
        <p:nvSpPr>
          <p:cNvPr id="9" name="Arrow 92"/>
          <p:cNvSpPr/>
          <p:nvPr/>
        </p:nvSpPr>
        <p:spPr>
          <a:xfrm>
            <a:off x="4242816" y="2093976"/>
            <a:ext cx="256032" cy="201168"/>
          </a:xfrm>
          <a:prstGeom prst="downArrow">
            <a:avLst/>
          </a:prstGeom>
          <a:solidFill>
            <a:schemeClr val="tx2"/>
          </a:solidFill>
          <a:ln w="12700">
            <a:solidFill>
              <a:srgbClr val="0B3C6F"/>
            </a:solidFill>
            <a:prstDash val="solid"/>
          </a:ln>
        </p:spPr>
      </p:sp>
      <p:sp>
        <p:nvSpPr>
          <p:cNvPr id="10" name="Text 93"/>
          <p:cNvSpPr txBox="1"/>
          <p:nvPr/>
        </p:nvSpPr>
        <p:spPr>
          <a:xfrm>
            <a:off x="256032" y="2322576"/>
            <a:ext cx="941832" cy="512064"/>
          </a:xfrm>
          <a:prstGeom prst="rect">
            <a:avLst/>
          </a:prstGeom>
          <a:noFill/>
          <a:ln/>
        </p:spPr>
        <p:txBody>
          <a:bodyPr wrap="square" lIns="0" tIns="0" rIns="0" bIns="0" rtlCol="0" anchor="ctr"/>
          <a:lstStyle/>
          <a:p>
            <a:pPr algn="ctr" indent="0" marL="0">
              <a:buNone/>
            </a:pPr>
            <a:r>
              <a:rPr lang="en-US" sz="1050" b="1" dirty="0">
                <a:solidFill>
                  <a:schemeClr val="tx2"/>
                </a:solidFill>
                <a:latin typeface="Montserrat" pitchFamily="34" charset="0"/>
                <a:ea typeface="Montserrat" pitchFamily="34" charset="-122"/>
                <a:cs typeface="Montserrat" pitchFamily="34" charset="-120"/>
              </a:rPr>
              <a:t>BUILD GATE</a:t>
            </a:r>
            <a:endParaRPr lang="en-US" sz="1050" dirty="0"/>
          </a:p>
        </p:txBody>
      </p:sp>
      <p:sp>
        <p:nvSpPr>
          <p:cNvPr id="11" name="Card 94"/>
          <p:cNvSpPr/>
          <p:nvPr/>
        </p:nvSpPr>
        <p:spPr>
          <a:xfrm>
            <a:off x="1307592" y="2322576"/>
            <a:ext cx="6126480" cy="512064"/>
          </a:xfrm>
          <a:prstGeom prst="roundRect">
            <a:avLst>
              <a:gd name="adj" fmla="val 10714"/>
            </a:avLst>
          </a:prstGeom>
          <a:solidFill>
            <a:schemeClr val="tx2"/>
          </a:solidFill>
          <a:ln w="12700">
            <a:solidFill>
              <a:srgbClr val="0B3C6F"/>
            </a:solidFill>
          </a:ln>
        </p:spPr>
        <p:txBody>
          <a:bodyPr wrap="square" lIns="25400" tIns="50800" rIns="50800" bIns="25400" rtlCol="0" anchor="ctr"/>
          <a:lstStyle/>
          <a:p>
            <a:pPr algn="ctr" indent="0" marL="0">
              <a:buNone/>
            </a:pPr>
            <a:r>
              <a:rPr lang="en-US" sz="950" b="1" dirty="0">
                <a:solidFill>
                  <a:schemeClr val="bg1"/>
                </a:solidFill>
                <a:latin typeface="Montserrat" pitchFamily="34" charset="0"/>
                <a:ea typeface="Montserrat" pitchFamily="34" charset="-122"/>
                <a:cs typeface="Montserrat" pitchFamily="34" charset="-120"/>
              </a:rPr>
              <a:t>Zod schemas and 16 invariants   &gt;   scan for hardcoded numbers and wording   &gt;   457 tests, physics golden-tested against Python   &gt;   compile</a:t>
            </a:r>
            <a:endParaRPr lang="en-US" sz="950" dirty="0"/>
          </a:p>
        </p:txBody>
      </p:sp>
      <p:sp>
        <p:nvSpPr>
          <p:cNvPr id="12" name="Arrow 95"/>
          <p:cNvSpPr/>
          <p:nvPr/>
        </p:nvSpPr>
        <p:spPr>
          <a:xfrm>
            <a:off x="4242816" y="2862072"/>
            <a:ext cx="256032" cy="201168"/>
          </a:xfrm>
          <a:prstGeom prst="downArrow">
            <a:avLst/>
          </a:prstGeom>
          <a:solidFill>
            <a:schemeClr val="tx2"/>
          </a:solidFill>
          <a:ln w="12700">
            <a:solidFill>
              <a:srgbClr val="0B3C6F"/>
            </a:solidFill>
            <a:prstDash val="solid"/>
          </a:ln>
        </p:spPr>
      </p:sp>
      <p:sp>
        <p:nvSpPr>
          <p:cNvPr id="13" name="Text 96"/>
          <p:cNvSpPr txBox="1"/>
          <p:nvPr/>
        </p:nvSpPr>
        <p:spPr>
          <a:xfrm>
            <a:off x="256032" y="3090672"/>
            <a:ext cx="941832" cy="1810512"/>
          </a:xfrm>
          <a:prstGeom prst="rect">
            <a:avLst/>
          </a:prstGeom>
          <a:noFill/>
          <a:ln/>
        </p:spPr>
        <p:txBody>
          <a:bodyPr wrap="square" lIns="0" tIns="0" rIns="0" bIns="0" rtlCol="0" anchor="ctr"/>
          <a:lstStyle/>
          <a:p>
            <a:pPr algn="ctr" indent="0" marL="0">
              <a:buNone/>
            </a:pPr>
            <a:r>
              <a:rPr lang="en-US" sz="1050" b="1" dirty="0">
                <a:solidFill>
                  <a:schemeClr val="tx2"/>
                </a:solidFill>
                <a:latin typeface="Montserrat" pitchFamily="34" charset="0"/>
                <a:ea typeface="Montserrat" pitchFamily="34" charset="-122"/>
                <a:cs typeface="Montserrat" pitchFamily="34" charset="-120"/>
              </a:rPr>
              <a:t>IN THE BROWSER</a:t>
            </a:r>
            <a:endParaRPr lang="en-US" sz="1050" dirty="0"/>
          </a:p>
        </p:txBody>
      </p:sp>
      <p:sp>
        <p:nvSpPr>
          <p:cNvPr id="14" name="Card 97"/>
          <p:cNvSpPr/>
          <p:nvPr/>
        </p:nvSpPr>
        <p:spPr>
          <a:xfrm>
            <a:off x="1307592" y="3090672"/>
            <a:ext cx="6126480" cy="384048"/>
          </a:xfrm>
          <a:prstGeom prst="roundRect">
            <a:avLst>
              <a:gd name="adj" fmla="val 14286"/>
            </a:avLst>
          </a:prstGeom>
          <a:solidFill>
            <a:schemeClr val="accent2"/>
          </a:solidFill>
          <a:ln w="12700">
            <a:solidFill>
              <a:srgbClr val="0E7C86"/>
            </a:solidFill>
          </a:ln>
        </p:spPr>
        <p:txBody>
          <a:bodyPr wrap="square" lIns="25400" tIns="50800" rIns="50800" bIns="25400" rtlCol="0" anchor="ctr"/>
          <a:lstStyle/>
          <a:p>
            <a:pPr algn="ctr" indent="0" marL="0">
              <a:buNone/>
            </a:pPr>
            <a:r>
              <a:rPr lang="en-US" sz="950" b="1" dirty="0">
                <a:solidFill>
                  <a:schemeClr val="bg1"/>
                </a:solidFill>
                <a:latin typeface="Montserrat" pitchFamily="34" charset="0"/>
                <a:ea typeface="Montserrat" pitchFamily="34" charset="-122"/>
                <a:cs typeface="Montserrat" pitchFamily="34" charset="-120"/>
              </a:rPr>
              <a:t>ONE CLOCK: site time. Every screen is a pure function of it and the scenario events</a:t>
            </a:r>
            <a:endParaRPr lang="en-US" sz="950" dirty="0"/>
          </a:p>
        </p:txBody>
      </p:sp>
      <p:sp>
        <p:nvSpPr>
          <p:cNvPr id="15" name="Card 98"/>
          <p:cNvSpPr/>
          <p:nvPr/>
        </p:nvSpPr>
        <p:spPr>
          <a:xfrm>
            <a:off x="1307592" y="3566160"/>
            <a:ext cx="1981200" cy="603504"/>
          </a:xfrm>
          <a:prstGeom prst="roundRect">
            <a:avLst>
              <a:gd name="adj" fmla="val 9091"/>
            </a:avLst>
          </a:prstGeom>
          <a:solidFill>
            <a:schemeClr val="bg1"/>
          </a:solidFill>
          <a:ln w="19050">
            <a:solidFill>
              <a:srgbClr val="0E7C86"/>
            </a:solidFill>
          </a:ln>
        </p:spPr>
        <p:txBody>
          <a:bodyPr wrap="square" lIns="25400" tIns="50800" rIns="50800" bIns="25400" rtlCol="0" anchor="ctr"/>
          <a:lstStyle/>
          <a:p>
            <a:pPr algn="ctr" indent="0" marL="0">
              <a:buNone/>
            </a:pPr>
            <a:r>
              <a:rPr lang="en-US" sz="950" b="1" dirty="0">
                <a:solidFill>
                  <a:schemeClr val="accent2"/>
                </a:solidFill>
                <a:latin typeface="Montserrat" pitchFamily="34" charset="0"/>
                <a:ea typeface="Montserrat" pitchFamily="34" charset="-122"/>
                <a:cs typeface="Montserrat" pitchFamily="34" charset="-120"/>
              </a:rPr>
              <a:t>PV model per array</a:t>
            </a:r>
            <a:endParaRPr lang="en-US" sz="950" dirty="0"/>
          </a:p>
          <a:p>
            <a:pPr algn="ctr" indent="0" marL="0">
              <a:buNone/>
            </a:pPr>
            <a:r>
              <a:rPr lang="en-US" sz="900" dirty="0">
                <a:solidFill>
                  <a:schemeClr val="tx1"/>
                </a:solidFill>
                <a:latin typeface="Montserrat" pitchFamily="34" charset="0"/>
                <a:ea typeface="Montserrat" pitchFamily="34" charset="-122"/>
                <a:cs typeface="Montserrat" pitchFamily="34" charset="-120"/>
              </a:rPr>
              <a:t>plus dropped hazards</a:t>
            </a:r>
            <a:endParaRPr lang="en-US" sz="950" dirty="0"/>
          </a:p>
        </p:txBody>
      </p:sp>
      <p:sp>
        <p:nvSpPr>
          <p:cNvPr id="16" name="Card 99"/>
          <p:cNvSpPr/>
          <p:nvPr/>
        </p:nvSpPr>
        <p:spPr>
          <a:xfrm>
            <a:off x="3380232" y="3566160"/>
            <a:ext cx="1981200" cy="603504"/>
          </a:xfrm>
          <a:prstGeom prst="roundRect">
            <a:avLst>
              <a:gd name="adj" fmla="val 9091"/>
            </a:avLst>
          </a:prstGeom>
          <a:solidFill>
            <a:schemeClr val="bg1"/>
          </a:solidFill>
          <a:ln w="19050">
            <a:solidFill>
              <a:srgbClr val="0E7C86"/>
            </a:solidFill>
          </a:ln>
        </p:spPr>
        <p:txBody>
          <a:bodyPr wrap="square" lIns="25400" tIns="50800" rIns="50800" bIns="25400" rtlCol="0" anchor="ctr"/>
          <a:lstStyle/>
          <a:p>
            <a:pPr algn="ctr" indent="0" marL="0">
              <a:buNone/>
            </a:pPr>
            <a:r>
              <a:rPr lang="en-US" sz="950" b="1" dirty="0">
                <a:solidFill>
                  <a:schemeClr val="accent2"/>
                </a:solidFill>
                <a:latin typeface="Montserrat" pitchFamily="34" charset="0"/>
                <a:ea typeface="Montserrat" pitchFamily="34" charset="-122"/>
                <a:cs typeface="Montserrat" pitchFamily="34" charset="-120"/>
              </a:rPr>
              <a:t>Ranked queue</a:t>
            </a:r>
            <a:endParaRPr lang="en-US" sz="950" dirty="0"/>
          </a:p>
          <a:p>
            <a:pPr algn="ctr" indent="0" marL="0">
              <a:buNone/>
            </a:pPr>
            <a:r>
              <a:rPr lang="en-US" sz="900" dirty="0">
                <a:solidFill>
                  <a:schemeClr val="tx1"/>
                </a:solidFill>
                <a:latin typeface="Montserrat" pitchFamily="34" charset="0"/>
                <a:ea typeface="Montserrat" pitchFamily="34" charset="-122"/>
                <a:cs typeface="Montserrat" pitchFamily="34" charset="-120"/>
              </a:rPr>
              <a:t>one fixed formula</a:t>
            </a:r>
            <a:endParaRPr lang="en-US" sz="950" dirty="0"/>
          </a:p>
        </p:txBody>
      </p:sp>
      <p:sp>
        <p:nvSpPr>
          <p:cNvPr id="17" name="Card 100"/>
          <p:cNvSpPr/>
          <p:nvPr/>
        </p:nvSpPr>
        <p:spPr>
          <a:xfrm>
            <a:off x="5452872" y="3566160"/>
            <a:ext cx="1981200" cy="603504"/>
          </a:xfrm>
          <a:prstGeom prst="roundRect">
            <a:avLst>
              <a:gd name="adj" fmla="val 9091"/>
            </a:avLst>
          </a:prstGeom>
          <a:solidFill>
            <a:schemeClr val="bg1"/>
          </a:solidFill>
          <a:ln w="19050">
            <a:solidFill>
              <a:srgbClr val="0E7C86"/>
            </a:solidFill>
          </a:ln>
        </p:spPr>
        <p:txBody>
          <a:bodyPr wrap="square" lIns="25400" tIns="50800" rIns="50800" bIns="25400" rtlCol="0" anchor="ctr"/>
          <a:lstStyle/>
          <a:p>
            <a:pPr algn="ctr" indent="0" marL="0">
              <a:buNone/>
            </a:pPr>
            <a:r>
              <a:rPr lang="en-US" sz="950" b="1" dirty="0">
                <a:solidFill>
                  <a:schemeClr val="accent2"/>
                </a:solidFill>
                <a:latin typeface="Montserrat" pitchFamily="34" charset="0"/>
                <a:ea typeface="Montserrat" pitchFamily="34" charset="-122"/>
                <a:cs typeface="Montserrat" pitchFamily="34" charset="-120"/>
              </a:rPr>
              <a:t>Crew plan</a:t>
            </a:r>
            <a:endParaRPr lang="en-US" sz="950" dirty="0"/>
          </a:p>
          <a:p>
            <a:pPr algn="ctr" indent="0" marL="0">
              <a:buNone/>
            </a:pPr>
            <a:r>
              <a:rPr lang="en-US" sz="900" dirty="0">
                <a:solidFill>
                  <a:schemeClr val="tx1"/>
                </a:solidFill>
                <a:latin typeface="Montserrat" pitchFamily="34" charset="0"/>
                <a:ea typeface="Montserrat" pitchFamily="34" charset="-122"/>
                <a:cs typeface="Montserrat" pitchFamily="34" charset="-120"/>
              </a:rPr>
              <a:t>HiGHS in WebAssembly</a:t>
            </a:r>
            <a:endParaRPr lang="en-US" sz="950" dirty="0"/>
          </a:p>
        </p:txBody>
      </p:sp>
      <p:sp>
        <p:nvSpPr>
          <p:cNvPr id="18" name="Card 101"/>
          <p:cNvSpPr/>
          <p:nvPr/>
        </p:nvSpPr>
        <p:spPr>
          <a:xfrm>
            <a:off x="1307592" y="4242816"/>
            <a:ext cx="1981200" cy="603504"/>
          </a:xfrm>
          <a:prstGeom prst="roundRect">
            <a:avLst>
              <a:gd name="adj" fmla="val 9091"/>
            </a:avLst>
          </a:prstGeom>
          <a:solidFill>
            <a:schemeClr val="bg1"/>
          </a:solidFill>
          <a:ln w="19050">
            <a:solidFill>
              <a:srgbClr val="0E7C86"/>
            </a:solidFill>
          </a:ln>
        </p:spPr>
        <p:txBody>
          <a:bodyPr wrap="square" lIns="25400" tIns="50800" rIns="50800" bIns="25400" rtlCol="0" anchor="ctr"/>
          <a:lstStyle/>
          <a:p>
            <a:pPr algn="ctr" indent="0" marL="0">
              <a:buNone/>
            </a:pPr>
            <a:r>
              <a:rPr lang="en-US" sz="950" b="1" dirty="0">
                <a:solidFill>
                  <a:schemeClr val="accent2"/>
                </a:solidFill>
                <a:latin typeface="Montserrat" pitchFamily="34" charset="0"/>
                <a:ea typeface="Montserrat" pitchFamily="34" charset="-122"/>
                <a:cs typeface="Montserrat" pitchFamily="34" charset="-120"/>
              </a:rPr>
              <a:t>Detector</a:t>
            </a:r>
            <a:endParaRPr lang="en-US" sz="950" dirty="0"/>
          </a:p>
          <a:p>
            <a:pPr algn="ctr" indent="0" marL="0">
              <a:buNone/>
            </a:pPr>
            <a:r>
              <a:rPr lang="en-US" sz="900" dirty="0">
                <a:solidFill>
                  <a:schemeClr val="tx1"/>
                </a:solidFill>
                <a:latin typeface="Montserrat" pitchFamily="34" charset="0"/>
                <a:ea typeface="Montserrat" pitchFamily="34" charset="-122"/>
                <a:cs typeface="Montserrat" pitchFamily="34" charset="-120"/>
              </a:rPr>
              <a:t>ONNX Runtime Web</a:t>
            </a:r>
            <a:endParaRPr lang="en-US" sz="950" dirty="0"/>
          </a:p>
        </p:txBody>
      </p:sp>
      <p:sp>
        <p:nvSpPr>
          <p:cNvPr id="19" name="Card 102"/>
          <p:cNvSpPr/>
          <p:nvPr/>
        </p:nvSpPr>
        <p:spPr>
          <a:xfrm>
            <a:off x="3380232" y="4242816"/>
            <a:ext cx="1981200" cy="603504"/>
          </a:xfrm>
          <a:prstGeom prst="roundRect">
            <a:avLst>
              <a:gd name="adj" fmla="val 9091"/>
            </a:avLst>
          </a:prstGeom>
          <a:solidFill>
            <a:schemeClr val="bg1"/>
          </a:solidFill>
          <a:ln w="19050">
            <a:solidFill>
              <a:srgbClr val="0E7C86"/>
            </a:solidFill>
          </a:ln>
        </p:spPr>
        <p:txBody>
          <a:bodyPr wrap="square" lIns="25400" tIns="50800" rIns="50800" bIns="25400" rtlCol="0" anchor="ctr"/>
          <a:lstStyle/>
          <a:p>
            <a:pPr algn="ctr" indent="0" marL="0">
              <a:buNone/>
            </a:pPr>
            <a:r>
              <a:rPr lang="en-US" sz="950" b="1" dirty="0">
                <a:solidFill>
                  <a:schemeClr val="accent2"/>
                </a:solidFill>
                <a:latin typeface="Montserrat" pitchFamily="34" charset="0"/>
                <a:ea typeface="Montserrat" pitchFamily="34" charset="-122"/>
                <a:cs typeface="Montserrat" pitchFamily="34" charset="-120"/>
              </a:rPr>
              <a:t>3D twin</a:t>
            </a:r>
            <a:endParaRPr lang="en-US" sz="950" dirty="0"/>
          </a:p>
          <a:p>
            <a:pPr algn="ctr" indent="0" marL="0">
              <a:buNone/>
            </a:pPr>
            <a:r>
              <a:rPr lang="en-US" sz="900" dirty="0">
                <a:solidFill>
                  <a:schemeClr val="tx1"/>
                </a:solidFill>
                <a:latin typeface="Montserrat" pitchFamily="34" charset="0"/>
                <a:ea typeface="Montserrat" pitchFamily="34" charset="-122"/>
                <a:cs typeface="Montserrat" pitchFamily="34" charset="-120"/>
              </a:rPr>
              <a:t>React Three Fiber</a:t>
            </a:r>
            <a:endParaRPr lang="en-US" sz="950" dirty="0"/>
          </a:p>
        </p:txBody>
      </p:sp>
      <p:sp>
        <p:nvSpPr>
          <p:cNvPr id="20" name="Card 103"/>
          <p:cNvSpPr/>
          <p:nvPr/>
        </p:nvSpPr>
        <p:spPr>
          <a:xfrm>
            <a:off x="5452872" y="4242816"/>
            <a:ext cx="1981200" cy="603504"/>
          </a:xfrm>
          <a:prstGeom prst="roundRect">
            <a:avLst>
              <a:gd name="adj" fmla="val 9091"/>
            </a:avLst>
          </a:prstGeom>
          <a:solidFill>
            <a:schemeClr val="bg1"/>
          </a:solidFill>
          <a:ln w="19050">
            <a:solidFill>
              <a:srgbClr val="0E7C86"/>
            </a:solidFill>
          </a:ln>
        </p:spPr>
        <p:txBody>
          <a:bodyPr wrap="square" lIns="25400" tIns="50800" rIns="50800" bIns="25400" rtlCol="0" anchor="ctr"/>
          <a:lstStyle/>
          <a:p>
            <a:pPr algn="ctr" indent="0" marL="0">
              <a:buNone/>
            </a:pPr>
            <a:r>
              <a:rPr lang="en-US" sz="950" b="1" dirty="0">
                <a:solidFill>
                  <a:schemeClr val="accent2"/>
                </a:solidFill>
                <a:latin typeface="Montserrat" pitchFamily="34" charset="0"/>
                <a:ea typeface="Montserrat" pitchFamily="34" charset="-122"/>
                <a:cs typeface="Montserrat" pitchFamily="34" charset="-120"/>
              </a:rPr>
              <a:t>Glass overlay</a:t>
            </a:r>
            <a:endParaRPr lang="en-US" sz="950" dirty="0"/>
          </a:p>
          <a:p>
            <a:pPr algn="ctr" indent="0" marL="0">
              <a:buNone/>
            </a:pPr>
            <a:r>
              <a:rPr lang="en-US" sz="900" dirty="0">
                <a:solidFill>
                  <a:schemeClr val="tx1"/>
                </a:solidFill>
                <a:latin typeface="Montserrat" pitchFamily="34" charset="0"/>
                <a:ea typeface="Montserrat" pitchFamily="34" charset="-122"/>
                <a:cs typeface="Montserrat" pitchFamily="34" charset="-120"/>
              </a:rPr>
              <a:t>six screens, 2D fallback</a:t>
            </a:r>
            <a:endParaRPr lang="en-US" sz="950" dirty="0"/>
          </a:p>
        </p:txBody>
      </p:sp>
      <p:sp>
        <p:nvSpPr>
          <p:cNvPr id="21" name="Arrow 104"/>
          <p:cNvSpPr/>
          <p:nvPr/>
        </p:nvSpPr>
        <p:spPr>
          <a:xfrm>
            <a:off x="2711196" y="4928616"/>
            <a:ext cx="256032" cy="201168"/>
          </a:xfrm>
          <a:prstGeom prst="downArrow">
            <a:avLst/>
          </a:prstGeom>
          <a:solidFill>
            <a:schemeClr val="tx2"/>
          </a:solidFill>
          <a:ln w="12700">
            <a:solidFill>
              <a:srgbClr val="0B3C6F"/>
            </a:solidFill>
            <a:prstDash val="solid"/>
          </a:ln>
        </p:spPr>
      </p:sp>
      <p:sp>
        <p:nvSpPr>
          <p:cNvPr id="22" name="Arrow 105"/>
          <p:cNvSpPr/>
          <p:nvPr/>
        </p:nvSpPr>
        <p:spPr>
          <a:xfrm>
            <a:off x="5774436" y="4928616"/>
            <a:ext cx="256032" cy="201168"/>
          </a:xfrm>
          <a:prstGeom prst="downArrow">
            <a:avLst/>
          </a:prstGeom>
          <a:solidFill>
            <a:schemeClr val="tx2"/>
          </a:solidFill>
          <a:ln w="12700">
            <a:solidFill>
              <a:srgbClr val="0B3C6F"/>
            </a:solidFill>
            <a:prstDash val="solid"/>
          </a:ln>
        </p:spPr>
      </p:sp>
      <p:sp>
        <p:nvSpPr>
          <p:cNvPr id="23" name="Text 106"/>
          <p:cNvSpPr txBox="1"/>
          <p:nvPr/>
        </p:nvSpPr>
        <p:spPr>
          <a:xfrm>
            <a:off x="256032" y="5157216"/>
            <a:ext cx="941832" cy="1243584"/>
          </a:xfrm>
          <a:prstGeom prst="rect">
            <a:avLst/>
          </a:prstGeom>
          <a:noFill/>
          <a:ln/>
        </p:spPr>
        <p:txBody>
          <a:bodyPr wrap="square" lIns="0" tIns="0" rIns="0" bIns="0" rtlCol="0" anchor="ctr"/>
          <a:lstStyle/>
          <a:p>
            <a:pPr algn="ctr" indent="0" marL="0">
              <a:buNone/>
            </a:pPr>
            <a:r>
              <a:rPr lang="en-US" sz="1050" b="1" dirty="0">
                <a:solidFill>
                  <a:schemeClr val="tx2"/>
                </a:solidFill>
                <a:latin typeface="Montserrat" pitchFamily="34" charset="0"/>
                <a:ea typeface="Montserrat" pitchFamily="34" charset="-122"/>
                <a:cs typeface="Montserrat" pitchFamily="34" charset="-120"/>
              </a:rPr>
              <a:t>WHAT LEAVES IT</a:t>
            </a:r>
            <a:endParaRPr lang="en-US" sz="1050" dirty="0"/>
          </a:p>
        </p:txBody>
      </p:sp>
      <p:sp>
        <p:nvSpPr>
          <p:cNvPr id="24" name="Card 107"/>
          <p:cNvSpPr/>
          <p:nvPr/>
        </p:nvSpPr>
        <p:spPr>
          <a:xfrm>
            <a:off x="1307592" y="5157216"/>
            <a:ext cx="3017520" cy="1243584"/>
          </a:xfrm>
          <a:prstGeom prst="roundRect">
            <a:avLst>
              <a:gd name="adj" fmla="val 4412"/>
            </a:avLst>
          </a:prstGeom>
          <a:solidFill>
            <a:schemeClr val="bg2"/>
          </a:solidFill>
          <a:ln w="25400">
            <a:solidFill>
              <a:srgbClr val="0B3C6F"/>
            </a:solidFill>
          </a:ln>
        </p:spPr>
        <p:txBody>
          <a:bodyPr wrap="square" lIns="25400" tIns="50800" rIns="50800" bIns="25400" rtlCol="0" anchor="ctr"/>
          <a:lstStyle/>
          <a:p>
            <a:pPr algn="ctr" indent="0" marL="0">
              <a:buNone/>
            </a:pPr>
            <a:r>
              <a:rPr lang="en-US" sz="950" b="1" dirty="0">
                <a:solidFill>
                  <a:schemeClr val="tx2"/>
                </a:solidFill>
                <a:latin typeface="Montserrat" pitchFamily="34" charset="0"/>
                <a:ea typeface="Montserrat" pitchFamily="34" charset="-122"/>
                <a:cs typeface="Montserrat" pitchFamily="34" charset="-120"/>
              </a:rPr>
              <a:t>ONE NETWORK CALL</a:t>
            </a:r>
            <a:endParaRPr lang="en-US" sz="950" dirty="0"/>
          </a:p>
          <a:p>
            <a:pPr algn="ctr" indent="0" marL="0">
              <a:buNone/>
            </a:pPr>
            <a:r>
              <a:rPr lang="en-US" sz="950" dirty="0">
                <a:solidFill>
                  <a:schemeClr val="tx1"/>
                </a:solidFill>
                <a:latin typeface="Montserrat" pitchFamily="34" charset="0"/>
                <a:ea typeface="Montserrat" pitchFamily="34" charset="-122"/>
                <a:cs typeface="Montserrat" pitchFamily="34" charset="-120"/>
              </a:rPr>
              <a:t>/api/triage to Groq. The server recomputes the facts and cross-checks the reply</a:t>
            </a:r>
            <a:endParaRPr lang="en-US" sz="950" dirty="0"/>
          </a:p>
        </p:txBody>
      </p:sp>
      <p:sp>
        <p:nvSpPr>
          <p:cNvPr id="25" name="Card 108"/>
          <p:cNvSpPr/>
          <p:nvPr/>
        </p:nvSpPr>
        <p:spPr>
          <a:xfrm>
            <a:off x="4416552" y="5157216"/>
            <a:ext cx="3017520" cy="1243584"/>
          </a:xfrm>
          <a:prstGeom prst="roundRect">
            <a:avLst>
              <a:gd name="adj" fmla="val 4412"/>
            </a:avLst>
          </a:prstGeom>
          <a:solidFill>
            <a:schemeClr val="accent3"/>
          </a:solidFill>
          <a:ln w="12700">
            <a:solidFill>
              <a:srgbClr val="B8322A"/>
            </a:solidFill>
          </a:ln>
        </p:spPr>
        <p:txBody>
          <a:bodyPr wrap="square" lIns="25400" tIns="50800" rIns="50800" bIns="25400" rtlCol="0" anchor="ctr"/>
          <a:lstStyle/>
          <a:p>
            <a:pPr algn="ctr" indent="0" marL="0">
              <a:buNone/>
            </a:pPr>
            <a:r>
              <a:rPr lang="en-US" sz="950" b="1" dirty="0">
                <a:solidFill>
                  <a:schemeClr val="bg1"/>
                </a:solidFill>
                <a:latin typeface="Montserrat" pitchFamily="34" charset="0"/>
                <a:ea typeface="Montserrat" pitchFamily="34" charset="-122"/>
                <a:cs typeface="Montserrat" pitchFamily="34" charset="-120"/>
              </a:rPr>
              <a:t>THE OPERATOR</a:t>
            </a:r>
            <a:endParaRPr lang="en-US" sz="950" dirty="0"/>
          </a:p>
          <a:p>
            <a:pPr algn="ctr" indent="0" marL="0">
              <a:buNone/>
            </a:pPr>
            <a:r>
              <a:rPr lang="en-US" sz="950" dirty="0">
                <a:solidFill>
                  <a:schemeClr val="bg1"/>
                </a:solidFill>
                <a:latin typeface="Montserrat" pitchFamily="34" charset="0"/>
                <a:ea typeface="Montserrat" pitchFamily="34" charset="-122"/>
                <a:cs typeface="Montserrat" pitchFamily="34" charset="-120"/>
              </a:rPr>
              <a:t>approves or declines. Only then does a work order exist</a:t>
            </a:r>
            <a:endParaRPr lang="en-US" sz="950" dirty="0"/>
          </a:p>
        </p:txBody>
      </p:sp>
      <p:sp>
        <p:nvSpPr>
          <p:cNvPr id="26" name="Panel 109"/>
          <p:cNvSpPr/>
          <p:nvPr/>
        </p:nvSpPr>
        <p:spPr>
          <a:xfrm>
            <a:off x="7616952" y="932688"/>
            <a:ext cx="4318711" cy="2761488"/>
          </a:xfrm>
          <a:prstGeom prst="roundRect">
            <a:avLst>
              <a:gd name="adj" fmla="val 3974"/>
            </a:avLst>
          </a:prstGeom>
          <a:solidFill>
            <a:schemeClr val="bg1"/>
          </a:solidFill>
          <a:ln w="31750">
            <a:solidFill>
              <a:srgbClr val="0B3C6F"/>
            </a:solidFill>
            <a:prstDash val="solid"/>
          </a:ln>
        </p:spPr>
      </p:sp>
      <p:sp>
        <p:nvSpPr>
          <p:cNvPr id="27" name="Heading 110"/>
          <p:cNvSpPr txBox="1"/>
          <p:nvPr/>
        </p:nvSpPr>
        <p:spPr>
          <a:xfrm>
            <a:off x="7763256" y="996696"/>
            <a:ext cx="4026103" cy="365760"/>
          </a:xfrm>
          <a:prstGeom prst="rect">
            <a:avLst/>
          </a:prstGeom>
          <a:noFill/>
          <a:ln/>
        </p:spPr>
        <p:txBody>
          <a:bodyPr wrap="square" lIns="0" tIns="0" rIns="0" bIns="0" rtlCol="0" anchor="ctr"/>
          <a:lstStyle/>
          <a:p>
            <a:pPr indent="0" marL="0">
              <a:buNone/>
            </a:pPr>
            <a:r>
              <a:rPr lang="en-US" sz="1700" b="1" dirty="0">
                <a:solidFill>
                  <a:schemeClr val="tx2"/>
                </a:solidFill>
                <a:latin typeface="Montserrat" pitchFamily="34" charset="0"/>
                <a:ea typeface="Montserrat" pitchFamily="34" charset="-122"/>
                <a:cs typeface="Montserrat" pitchFamily="34" charset="-120"/>
              </a:rPr>
              <a:t>TECHNOLOGY STACK</a:t>
            </a:r>
            <a:endParaRPr lang="en-US" sz="1700" dirty="0"/>
          </a:p>
        </p:txBody>
      </p:sp>
      <p:pic>
        <p:nvPicPr>
          <p:cNvPr id="28" name="Icon 111 react" descr="D:\Projects\12. project\ppt\images\icons\react-blue.png">    </p:cNvPr>
          <p:cNvPicPr>
            <a:picLocks noChangeAspect="1"/>
          </p:cNvPicPr>
          <p:nvPr/>
        </p:nvPicPr>
        <p:blipFill>
          <a:blip r:embed="rId1"/>
          <a:stretch>
            <a:fillRect/>
          </a:stretch>
        </p:blipFill>
        <p:spPr>
          <a:xfrm>
            <a:off x="7781544" y="1444752"/>
            <a:ext cx="274320" cy="274320"/>
          </a:xfrm>
          <a:prstGeom prst="rect">
            <a:avLst/>
          </a:prstGeom>
        </p:spPr>
      </p:pic>
      <p:sp>
        <p:nvSpPr>
          <p:cNvPr id="29" name="Text 112"/>
          <p:cNvSpPr txBox="1"/>
          <p:nvPr/>
        </p:nvSpPr>
        <p:spPr>
          <a:xfrm>
            <a:off x="8165592" y="1408176"/>
            <a:ext cx="1051560" cy="368808"/>
          </a:xfrm>
          <a:prstGeom prst="rect">
            <a:avLst/>
          </a:prstGeom>
          <a:noFill/>
          <a:ln/>
        </p:spPr>
        <p:txBody>
          <a:bodyPr wrap="square" lIns="0" tIns="0" rIns="0" bIns="0" rtlCol="0" anchor="ctr"/>
          <a:lstStyle/>
          <a:p>
            <a:pPr indent="0" marL="0">
              <a:buNone/>
            </a:pPr>
            <a:r>
              <a:rPr lang="en-US" sz="1100" b="1" dirty="0">
                <a:solidFill>
                  <a:schemeClr val="tx1"/>
                </a:solidFill>
                <a:latin typeface="Montserrat" pitchFamily="34" charset="0"/>
                <a:ea typeface="Montserrat" pitchFamily="34" charset="-122"/>
                <a:cs typeface="Montserrat" pitchFamily="34" charset="-120"/>
              </a:rPr>
              <a:t>Frontend:</a:t>
            </a:r>
            <a:endParaRPr lang="en-US" sz="1100" dirty="0"/>
          </a:p>
        </p:txBody>
      </p:sp>
      <p:sp>
        <p:nvSpPr>
          <p:cNvPr id="30" name="Text 113"/>
          <p:cNvSpPr txBox="1"/>
          <p:nvPr/>
        </p:nvSpPr>
        <p:spPr>
          <a:xfrm>
            <a:off x="9217152" y="1408176"/>
            <a:ext cx="2581351" cy="368808"/>
          </a:xfrm>
          <a:prstGeom prst="rect">
            <a:avLst/>
          </a:prstGeom>
          <a:noFill/>
          <a:ln/>
        </p:spPr>
        <p:txBody>
          <a:bodyPr wrap="square" lIns="0" tIns="0" rIns="0" bIns="0" rtlCol="0" anchor="ctr"/>
          <a:lstStyle/>
          <a:p>
            <a:pPr indent="0" marL="0">
              <a:buNone/>
            </a:pPr>
            <a:r>
              <a:rPr lang="en-US" sz="1050" b="1" dirty="0">
                <a:solidFill>
                  <a:schemeClr val="tx2"/>
                </a:solidFill>
                <a:latin typeface="Montserrat" pitchFamily="34" charset="0"/>
                <a:ea typeface="Montserrat" pitchFamily="34" charset="-122"/>
                <a:cs typeface="Montserrat" pitchFamily="34" charset="-120"/>
              </a:rPr>
              <a:t>Next.js 15</a:t>
            </a:r>
            <a:pPr indent="0" marL="0">
              <a:buNone/>
            </a:pPr>
            <a:r>
              <a:rPr lang="en-US" sz="1050" b="1" dirty="0">
                <a:solidFill>
                  <a:schemeClr val="tx1"/>
                </a:solidFill>
                <a:latin typeface="Montserrat" pitchFamily="34" charset="0"/>
                <a:ea typeface="Montserrat" pitchFamily="34" charset="-122"/>
                <a:cs typeface="Montserrat" pitchFamily="34" charset="-120"/>
              </a:rPr>
              <a:t> + </a:t>
            </a:r>
            <a:pPr indent="0" marL="0">
              <a:buNone/>
            </a:pPr>
            <a:r>
              <a:rPr lang="en-US" sz="1050" b="1" dirty="0">
                <a:solidFill>
                  <a:schemeClr val="accent2"/>
                </a:solidFill>
                <a:latin typeface="Montserrat" pitchFamily="34" charset="0"/>
                <a:ea typeface="Montserrat" pitchFamily="34" charset="-122"/>
                <a:cs typeface="Montserrat" pitchFamily="34" charset="-120"/>
              </a:rPr>
              <a:t>React 19</a:t>
            </a:r>
            <a:pPr indent="0" marL="0">
              <a:buNone/>
            </a:pPr>
            <a:r>
              <a:rPr lang="en-US" sz="1050" b="1" dirty="0">
                <a:solidFill>
                  <a:schemeClr val="tx1"/>
                </a:solidFill>
                <a:latin typeface="Montserrat" pitchFamily="34" charset="0"/>
                <a:ea typeface="Montserrat" pitchFamily="34" charset="-122"/>
                <a:cs typeface="Montserrat" pitchFamily="34" charset="-120"/>
              </a:rPr>
              <a:t> + </a:t>
            </a:r>
            <a:pPr indent="0" marL="0">
              <a:buNone/>
            </a:pPr>
            <a:r>
              <a:rPr lang="en-US" sz="1050" b="1" dirty="0">
                <a:solidFill>
                  <a:schemeClr val="tx2"/>
                </a:solidFill>
                <a:latin typeface="Montserrat" pitchFamily="34" charset="0"/>
                <a:ea typeface="Montserrat" pitchFamily="34" charset="-122"/>
                <a:cs typeface="Montserrat" pitchFamily="34" charset="-120"/>
              </a:rPr>
              <a:t>TypeScript</a:t>
            </a:r>
            <a:endParaRPr lang="en-US" sz="1000" dirty="0"/>
          </a:p>
        </p:txBody>
      </p:sp>
      <p:pic>
        <p:nvPicPr>
          <p:cNvPr id="31" name="Icon 114 cube" descr="D:\Projects\12. project\ppt\images\icons\cube-blue.png">    </p:cNvPr>
          <p:cNvPicPr>
            <a:picLocks noChangeAspect="1"/>
          </p:cNvPicPr>
          <p:nvPr/>
        </p:nvPicPr>
        <p:blipFill>
          <a:blip r:embed="rId2"/>
          <a:stretch>
            <a:fillRect/>
          </a:stretch>
        </p:blipFill>
        <p:spPr>
          <a:xfrm>
            <a:off x="7781544" y="1813560"/>
            <a:ext cx="274320" cy="274320"/>
          </a:xfrm>
          <a:prstGeom prst="rect">
            <a:avLst/>
          </a:prstGeom>
        </p:spPr>
      </p:pic>
      <p:sp>
        <p:nvSpPr>
          <p:cNvPr id="32" name="Text 115"/>
          <p:cNvSpPr txBox="1"/>
          <p:nvPr/>
        </p:nvSpPr>
        <p:spPr>
          <a:xfrm>
            <a:off x="8165592" y="1776984"/>
            <a:ext cx="1051560" cy="368808"/>
          </a:xfrm>
          <a:prstGeom prst="rect">
            <a:avLst/>
          </a:prstGeom>
          <a:noFill/>
          <a:ln/>
        </p:spPr>
        <p:txBody>
          <a:bodyPr wrap="square" lIns="0" tIns="0" rIns="0" bIns="0" rtlCol="0" anchor="ctr"/>
          <a:lstStyle/>
          <a:p>
            <a:pPr indent="0" marL="0">
              <a:buNone/>
            </a:pPr>
            <a:r>
              <a:rPr lang="en-US" sz="1100" b="1" dirty="0">
                <a:solidFill>
                  <a:schemeClr val="tx1"/>
                </a:solidFill>
                <a:latin typeface="Montserrat" pitchFamily="34" charset="0"/>
                <a:ea typeface="Montserrat" pitchFamily="34" charset="-122"/>
                <a:cs typeface="Montserrat" pitchFamily="34" charset="-120"/>
              </a:rPr>
              <a:t>3D twin:</a:t>
            </a:r>
            <a:endParaRPr lang="en-US" sz="1100" dirty="0"/>
          </a:p>
        </p:txBody>
      </p:sp>
      <p:sp>
        <p:nvSpPr>
          <p:cNvPr id="33" name="Text 116"/>
          <p:cNvSpPr txBox="1"/>
          <p:nvPr/>
        </p:nvSpPr>
        <p:spPr>
          <a:xfrm>
            <a:off x="9217152" y="1776984"/>
            <a:ext cx="2581351" cy="368808"/>
          </a:xfrm>
          <a:prstGeom prst="rect">
            <a:avLst/>
          </a:prstGeom>
          <a:noFill/>
          <a:ln/>
        </p:spPr>
        <p:txBody>
          <a:bodyPr wrap="square" lIns="0" tIns="0" rIns="0" bIns="0" rtlCol="0" anchor="ctr"/>
          <a:lstStyle/>
          <a:p>
            <a:pPr indent="0" marL="0">
              <a:buNone/>
            </a:pPr>
            <a:r>
              <a:rPr lang="en-US" sz="1050" b="1" dirty="0">
                <a:solidFill>
                  <a:schemeClr val="tx2"/>
                </a:solidFill>
                <a:latin typeface="Montserrat" pitchFamily="34" charset="0"/>
                <a:ea typeface="Montserrat" pitchFamily="34" charset="-122"/>
                <a:cs typeface="Montserrat" pitchFamily="34" charset="-120"/>
              </a:rPr>
              <a:t>three.js</a:t>
            </a:r>
            <a:pPr indent="0" marL="0">
              <a:buNone/>
            </a:pPr>
            <a:r>
              <a:rPr lang="en-US" sz="1050" b="1" dirty="0">
                <a:solidFill>
                  <a:schemeClr val="tx1"/>
                </a:solidFill>
                <a:latin typeface="Montserrat" pitchFamily="34" charset="0"/>
                <a:ea typeface="Montserrat" pitchFamily="34" charset="-122"/>
                <a:cs typeface="Montserrat" pitchFamily="34" charset="-120"/>
              </a:rPr>
              <a:t> + </a:t>
            </a:r>
            <a:pPr indent="0" marL="0">
              <a:buNone/>
            </a:pPr>
            <a:r>
              <a:rPr lang="en-US" sz="1050" b="1" dirty="0">
                <a:solidFill>
                  <a:schemeClr val="accent2"/>
                </a:solidFill>
                <a:latin typeface="Montserrat" pitchFamily="34" charset="0"/>
                <a:ea typeface="Montserrat" pitchFamily="34" charset="-122"/>
                <a:cs typeface="Montserrat" pitchFamily="34" charset="-120"/>
              </a:rPr>
              <a:t>React Three Fiber</a:t>
            </a:r>
            <a:endParaRPr lang="en-US" sz="1000" dirty="0"/>
          </a:p>
        </p:txBody>
      </p:sp>
      <p:pic>
        <p:nvPicPr>
          <p:cNvPr id="34" name="Icon 117 eye" descr="D:\Projects\12. project\ppt\images\icons\eye-blue.png">    </p:cNvPr>
          <p:cNvPicPr>
            <a:picLocks noChangeAspect="1"/>
          </p:cNvPicPr>
          <p:nvPr/>
        </p:nvPicPr>
        <p:blipFill>
          <a:blip r:embed="rId3"/>
          <a:stretch>
            <a:fillRect/>
          </a:stretch>
        </p:blipFill>
        <p:spPr>
          <a:xfrm>
            <a:off x="7781544" y="2182368"/>
            <a:ext cx="274320" cy="274320"/>
          </a:xfrm>
          <a:prstGeom prst="rect">
            <a:avLst/>
          </a:prstGeom>
        </p:spPr>
      </p:pic>
      <p:sp>
        <p:nvSpPr>
          <p:cNvPr id="35" name="Text 118"/>
          <p:cNvSpPr txBox="1"/>
          <p:nvPr/>
        </p:nvSpPr>
        <p:spPr>
          <a:xfrm>
            <a:off x="8165592" y="2145792"/>
            <a:ext cx="1051560" cy="368808"/>
          </a:xfrm>
          <a:prstGeom prst="rect">
            <a:avLst/>
          </a:prstGeom>
          <a:noFill/>
          <a:ln/>
        </p:spPr>
        <p:txBody>
          <a:bodyPr wrap="square" lIns="0" tIns="0" rIns="0" bIns="0" rtlCol="0" anchor="ctr"/>
          <a:lstStyle/>
          <a:p>
            <a:pPr indent="0" marL="0">
              <a:buNone/>
            </a:pPr>
            <a:r>
              <a:rPr lang="en-US" sz="1100" b="1" dirty="0">
                <a:solidFill>
                  <a:schemeClr val="tx1"/>
                </a:solidFill>
                <a:latin typeface="Montserrat" pitchFamily="34" charset="0"/>
                <a:ea typeface="Montserrat" pitchFamily="34" charset="-122"/>
                <a:cs typeface="Montserrat" pitchFamily="34" charset="-120"/>
              </a:rPr>
              <a:t>Vision:</a:t>
            </a:r>
            <a:endParaRPr lang="en-US" sz="1100" dirty="0"/>
          </a:p>
        </p:txBody>
      </p:sp>
      <p:sp>
        <p:nvSpPr>
          <p:cNvPr id="36" name="Text 119"/>
          <p:cNvSpPr txBox="1"/>
          <p:nvPr/>
        </p:nvSpPr>
        <p:spPr>
          <a:xfrm>
            <a:off x="9217152" y="2145792"/>
            <a:ext cx="2581351" cy="368808"/>
          </a:xfrm>
          <a:prstGeom prst="rect">
            <a:avLst/>
          </a:prstGeom>
          <a:noFill/>
          <a:ln/>
        </p:spPr>
        <p:txBody>
          <a:bodyPr wrap="square" lIns="0" tIns="0" rIns="0" bIns="0" rtlCol="0" anchor="ctr"/>
          <a:lstStyle/>
          <a:p>
            <a:pPr indent="0" marL="0">
              <a:buNone/>
            </a:pPr>
            <a:r>
              <a:rPr lang="en-US" sz="1050" b="1" dirty="0">
                <a:solidFill>
                  <a:schemeClr val="tx2"/>
                </a:solidFill>
                <a:latin typeface="Montserrat" pitchFamily="34" charset="0"/>
                <a:ea typeface="Montserrat" pitchFamily="34" charset="-122"/>
                <a:cs typeface="Montserrat" pitchFamily="34" charset="-120"/>
              </a:rPr>
              <a:t>YOLOv8n</a:t>
            </a:r>
            <a:pPr indent="0" marL="0">
              <a:buNone/>
            </a:pPr>
            <a:r>
              <a:rPr lang="en-US" sz="1050" b="1" dirty="0">
                <a:solidFill>
                  <a:schemeClr val="tx1"/>
                </a:solidFill>
                <a:latin typeface="Montserrat" pitchFamily="34" charset="0"/>
                <a:ea typeface="Montserrat" pitchFamily="34" charset="-122"/>
                <a:cs typeface="Montserrat" pitchFamily="34" charset="-120"/>
              </a:rPr>
              <a:t> on </a:t>
            </a:r>
            <a:pPr indent="0" marL="0">
              <a:buNone/>
            </a:pPr>
            <a:r>
              <a:rPr lang="en-US" sz="1050" b="1" dirty="0">
                <a:solidFill>
                  <a:schemeClr val="accent2"/>
                </a:solidFill>
                <a:latin typeface="Montserrat" pitchFamily="34" charset="0"/>
                <a:ea typeface="Montserrat" pitchFamily="34" charset="-122"/>
                <a:cs typeface="Montserrat" pitchFamily="34" charset="-120"/>
              </a:rPr>
              <a:t>ONNX Runtime Web</a:t>
            </a:r>
            <a:endParaRPr lang="en-US" sz="1000" dirty="0"/>
          </a:p>
        </p:txBody>
      </p:sp>
      <p:pic>
        <p:nvPicPr>
          <p:cNvPr id="37" name="Icon 120 calc" descr="D:\Projects\12. project\ppt\images\icons\calc-blue.png">    </p:cNvPr>
          <p:cNvPicPr>
            <a:picLocks noChangeAspect="1"/>
          </p:cNvPicPr>
          <p:nvPr/>
        </p:nvPicPr>
        <p:blipFill>
          <a:blip r:embed="rId4"/>
          <a:stretch>
            <a:fillRect/>
          </a:stretch>
        </p:blipFill>
        <p:spPr>
          <a:xfrm>
            <a:off x="7781544" y="2551176"/>
            <a:ext cx="274320" cy="274320"/>
          </a:xfrm>
          <a:prstGeom prst="rect">
            <a:avLst/>
          </a:prstGeom>
        </p:spPr>
      </p:pic>
      <p:sp>
        <p:nvSpPr>
          <p:cNvPr id="38" name="Text 121"/>
          <p:cNvSpPr txBox="1"/>
          <p:nvPr/>
        </p:nvSpPr>
        <p:spPr>
          <a:xfrm>
            <a:off x="8165592" y="2514600"/>
            <a:ext cx="1051560" cy="368808"/>
          </a:xfrm>
          <a:prstGeom prst="rect">
            <a:avLst/>
          </a:prstGeom>
          <a:noFill/>
          <a:ln/>
        </p:spPr>
        <p:txBody>
          <a:bodyPr wrap="square" lIns="0" tIns="0" rIns="0" bIns="0" rtlCol="0" anchor="ctr"/>
          <a:lstStyle/>
          <a:p>
            <a:pPr indent="0" marL="0">
              <a:buNone/>
            </a:pPr>
            <a:r>
              <a:rPr lang="en-US" sz="1100" b="1" dirty="0">
                <a:solidFill>
                  <a:schemeClr val="tx1"/>
                </a:solidFill>
                <a:latin typeface="Montserrat" pitchFamily="34" charset="0"/>
                <a:ea typeface="Montserrat" pitchFamily="34" charset="-122"/>
                <a:cs typeface="Montserrat" pitchFamily="34" charset="-120"/>
              </a:rPr>
              <a:t>Optimiser:</a:t>
            </a:r>
            <a:endParaRPr lang="en-US" sz="1100" dirty="0"/>
          </a:p>
        </p:txBody>
      </p:sp>
      <p:sp>
        <p:nvSpPr>
          <p:cNvPr id="39" name="Text 122"/>
          <p:cNvSpPr txBox="1"/>
          <p:nvPr/>
        </p:nvSpPr>
        <p:spPr>
          <a:xfrm>
            <a:off x="9217152" y="2514600"/>
            <a:ext cx="2581351" cy="368808"/>
          </a:xfrm>
          <a:prstGeom prst="rect">
            <a:avLst/>
          </a:prstGeom>
          <a:noFill/>
          <a:ln/>
        </p:spPr>
        <p:txBody>
          <a:bodyPr wrap="square" lIns="0" tIns="0" rIns="0" bIns="0" rtlCol="0" anchor="ctr"/>
          <a:lstStyle/>
          <a:p>
            <a:pPr indent="0" marL="0">
              <a:buNone/>
            </a:pPr>
            <a:r>
              <a:rPr lang="en-US" sz="1050" b="1" dirty="0">
                <a:solidFill>
                  <a:schemeClr val="tx2"/>
                </a:solidFill>
                <a:latin typeface="Montserrat" pitchFamily="34" charset="0"/>
                <a:ea typeface="Montserrat" pitchFamily="34" charset="-122"/>
                <a:cs typeface="Montserrat" pitchFamily="34" charset="-120"/>
              </a:rPr>
              <a:t>HiGHS</a:t>
            </a:r>
            <a:pPr indent="0" marL="0">
              <a:buNone/>
            </a:pPr>
            <a:r>
              <a:rPr lang="en-US" sz="1050" b="1" dirty="0">
                <a:solidFill>
                  <a:schemeClr val="tx1"/>
                </a:solidFill>
                <a:latin typeface="Montserrat" pitchFamily="34" charset="0"/>
                <a:ea typeface="Montserrat" pitchFamily="34" charset="-122"/>
                <a:cs typeface="Montserrat" pitchFamily="34" charset="-120"/>
              </a:rPr>
              <a:t> in </a:t>
            </a:r>
            <a:pPr indent="0" marL="0">
              <a:buNone/>
            </a:pPr>
            <a:r>
              <a:rPr lang="en-US" sz="1050" b="1" dirty="0">
                <a:solidFill>
                  <a:schemeClr val="accent2"/>
                </a:solidFill>
                <a:latin typeface="Montserrat" pitchFamily="34" charset="0"/>
                <a:ea typeface="Montserrat" pitchFamily="34" charset="-122"/>
                <a:cs typeface="Montserrat" pitchFamily="34" charset="-120"/>
              </a:rPr>
              <a:t>WebAssembly</a:t>
            </a:r>
            <a:endParaRPr lang="en-US" sz="1000" dirty="0"/>
          </a:p>
        </p:txBody>
      </p:sp>
      <p:pic>
        <p:nvPicPr>
          <p:cNvPr id="40" name="Icon 123 robot" descr="D:\Projects\12. project\ppt\images\icons\robot-blue.png">    </p:cNvPr>
          <p:cNvPicPr>
            <a:picLocks noChangeAspect="1"/>
          </p:cNvPicPr>
          <p:nvPr/>
        </p:nvPicPr>
        <p:blipFill>
          <a:blip r:embed="rId5"/>
          <a:stretch>
            <a:fillRect/>
          </a:stretch>
        </p:blipFill>
        <p:spPr>
          <a:xfrm>
            <a:off x="7781544" y="2919984"/>
            <a:ext cx="274320" cy="274320"/>
          </a:xfrm>
          <a:prstGeom prst="rect">
            <a:avLst/>
          </a:prstGeom>
        </p:spPr>
      </p:pic>
      <p:sp>
        <p:nvSpPr>
          <p:cNvPr id="41" name="Text 124"/>
          <p:cNvSpPr txBox="1"/>
          <p:nvPr/>
        </p:nvSpPr>
        <p:spPr>
          <a:xfrm>
            <a:off x="8165592" y="2883408"/>
            <a:ext cx="1051560" cy="368808"/>
          </a:xfrm>
          <a:prstGeom prst="rect">
            <a:avLst/>
          </a:prstGeom>
          <a:noFill/>
          <a:ln/>
        </p:spPr>
        <p:txBody>
          <a:bodyPr wrap="square" lIns="0" tIns="0" rIns="0" bIns="0" rtlCol="0" anchor="ctr"/>
          <a:lstStyle/>
          <a:p>
            <a:pPr indent="0" marL="0">
              <a:buNone/>
            </a:pPr>
            <a:r>
              <a:rPr lang="en-US" sz="1100" b="1" dirty="0">
                <a:solidFill>
                  <a:schemeClr val="tx1"/>
                </a:solidFill>
                <a:latin typeface="Montserrat" pitchFamily="34" charset="0"/>
                <a:ea typeface="Montserrat" pitchFamily="34" charset="-122"/>
                <a:cs typeface="Montserrat" pitchFamily="34" charset="-120"/>
              </a:rPr>
              <a:t>Agent:</a:t>
            </a:r>
            <a:endParaRPr lang="en-US" sz="1100" dirty="0"/>
          </a:p>
        </p:txBody>
      </p:sp>
      <p:sp>
        <p:nvSpPr>
          <p:cNvPr id="42" name="Text 125"/>
          <p:cNvSpPr txBox="1"/>
          <p:nvPr/>
        </p:nvSpPr>
        <p:spPr>
          <a:xfrm>
            <a:off x="9217152" y="2883408"/>
            <a:ext cx="2581351" cy="368808"/>
          </a:xfrm>
          <a:prstGeom prst="rect">
            <a:avLst/>
          </a:prstGeom>
          <a:noFill/>
          <a:ln/>
        </p:spPr>
        <p:txBody>
          <a:bodyPr wrap="square" lIns="0" tIns="0" rIns="0" bIns="0" rtlCol="0" anchor="ctr"/>
          <a:lstStyle/>
          <a:p>
            <a:pPr indent="0" marL="0">
              <a:buNone/>
            </a:pPr>
            <a:r>
              <a:rPr lang="en-US" sz="1050" b="1" dirty="0">
                <a:solidFill>
                  <a:schemeClr val="tx2"/>
                </a:solidFill>
                <a:latin typeface="Montserrat" pitchFamily="34" charset="0"/>
                <a:ea typeface="Montserrat" pitchFamily="34" charset="-122"/>
                <a:cs typeface="Montserrat" pitchFamily="34" charset="-120"/>
              </a:rPr>
              <a:t>openai/gpt-oss-120b</a:t>
            </a:r>
            <a:pPr indent="0" marL="0">
              <a:buNone/>
            </a:pPr>
            <a:r>
              <a:rPr lang="en-US" sz="1050" b="1" dirty="0">
                <a:solidFill>
                  <a:schemeClr val="tx1"/>
                </a:solidFill>
                <a:latin typeface="Montserrat" pitchFamily="34" charset="0"/>
                <a:ea typeface="Montserrat" pitchFamily="34" charset="-122"/>
                <a:cs typeface="Montserrat" pitchFamily="34" charset="-120"/>
              </a:rPr>
              <a:t> on </a:t>
            </a:r>
            <a:pPr indent="0" marL="0">
              <a:buNone/>
            </a:pPr>
            <a:r>
              <a:rPr lang="en-US" sz="1050" b="1" dirty="0">
                <a:solidFill>
                  <a:schemeClr val="accent2"/>
                </a:solidFill>
                <a:latin typeface="Montserrat" pitchFamily="34" charset="0"/>
                <a:ea typeface="Montserrat" pitchFamily="34" charset="-122"/>
                <a:cs typeface="Montserrat" pitchFamily="34" charset="-120"/>
              </a:rPr>
              <a:t>Groq</a:t>
            </a:r>
            <a:endParaRPr lang="en-US" sz="1000" dirty="0"/>
          </a:p>
        </p:txBody>
      </p:sp>
      <p:pic>
        <p:nvPicPr>
          <p:cNvPr id="43" name="Icon 126 python" descr="D:\Projects\12. project\ppt\images\icons\python-blue.png">    </p:cNvPr>
          <p:cNvPicPr>
            <a:picLocks noChangeAspect="1"/>
          </p:cNvPicPr>
          <p:nvPr/>
        </p:nvPicPr>
        <p:blipFill>
          <a:blip r:embed="rId6"/>
          <a:stretch>
            <a:fillRect/>
          </a:stretch>
        </p:blipFill>
        <p:spPr>
          <a:xfrm>
            <a:off x="7781544" y="3288792"/>
            <a:ext cx="274320" cy="274320"/>
          </a:xfrm>
          <a:prstGeom prst="rect">
            <a:avLst/>
          </a:prstGeom>
        </p:spPr>
      </p:pic>
      <p:sp>
        <p:nvSpPr>
          <p:cNvPr id="44" name="Text 127"/>
          <p:cNvSpPr txBox="1"/>
          <p:nvPr/>
        </p:nvSpPr>
        <p:spPr>
          <a:xfrm>
            <a:off x="8165592" y="3252216"/>
            <a:ext cx="1051560" cy="368808"/>
          </a:xfrm>
          <a:prstGeom prst="rect">
            <a:avLst/>
          </a:prstGeom>
          <a:noFill/>
          <a:ln/>
        </p:spPr>
        <p:txBody>
          <a:bodyPr wrap="square" lIns="0" tIns="0" rIns="0" bIns="0" rtlCol="0" anchor="ctr"/>
          <a:lstStyle/>
          <a:p>
            <a:pPr indent="0" marL="0">
              <a:buNone/>
            </a:pPr>
            <a:r>
              <a:rPr lang="en-US" sz="1100" b="1" dirty="0">
                <a:solidFill>
                  <a:schemeClr val="tx1"/>
                </a:solidFill>
                <a:latin typeface="Montserrat" pitchFamily="34" charset="0"/>
                <a:ea typeface="Montserrat" pitchFamily="34" charset="-122"/>
                <a:cs typeface="Montserrat" pitchFamily="34" charset="-120"/>
              </a:rPr>
              <a:t>Offline:</a:t>
            </a:r>
            <a:endParaRPr lang="en-US" sz="1100" dirty="0"/>
          </a:p>
        </p:txBody>
      </p:sp>
      <p:sp>
        <p:nvSpPr>
          <p:cNvPr id="45" name="Text 128"/>
          <p:cNvSpPr txBox="1"/>
          <p:nvPr/>
        </p:nvSpPr>
        <p:spPr>
          <a:xfrm>
            <a:off x="9217152" y="3252216"/>
            <a:ext cx="2581351" cy="368808"/>
          </a:xfrm>
          <a:prstGeom prst="rect">
            <a:avLst/>
          </a:prstGeom>
          <a:noFill/>
          <a:ln/>
        </p:spPr>
        <p:txBody>
          <a:bodyPr wrap="square" lIns="0" tIns="0" rIns="0" bIns="0" rtlCol="0" anchor="ctr"/>
          <a:lstStyle/>
          <a:p>
            <a:pPr indent="0" marL="0">
              <a:buNone/>
            </a:pPr>
            <a:r>
              <a:rPr lang="en-US" sz="1050" b="1" dirty="0">
                <a:solidFill>
                  <a:schemeClr val="tx2"/>
                </a:solidFill>
                <a:latin typeface="Montserrat" pitchFamily="34" charset="0"/>
                <a:ea typeface="Montserrat" pitchFamily="34" charset="-122"/>
                <a:cs typeface="Montserrat" pitchFamily="34" charset="-120"/>
              </a:rPr>
              <a:t>Python</a:t>
            </a:r>
            <a:pPr indent="0" marL="0">
              <a:buNone/>
            </a:pPr>
            <a:r>
              <a:rPr lang="en-US" sz="1050" b="1" dirty="0">
                <a:solidFill>
                  <a:schemeClr val="tx1"/>
                </a:solidFill>
                <a:latin typeface="Montserrat" pitchFamily="34" charset="0"/>
                <a:ea typeface="Montserrat" pitchFamily="34" charset="-122"/>
                <a:cs typeface="Montserrat" pitchFamily="34" charset="-120"/>
              </a:rPr>
              <a:t> + </a:t>
            </a:r>
            <a:pPr indent="0" marL="0">
              <a:buNone/>
            </a:pPr>
            <a:r>
              <a:rPr lang="en-US" sz="1050" b="1" dirty="0">
                <a:solidFill>
                  <a:schemeClr val="accent2"/>
                </a:solidFill>
                <a:latin typeface="Montserrat" pitchFamily="34" charset="0"/>
                <a:ea typeface="Montserrat" pitchFamily="34" charset="-122"/>
                <a:cs typeface="Montserrat" pitchFamily="34" charset="-120"/>
              </a:rPr>
              <a:t>Colab T4</a:t>
            </a:r>
            <a:pPr indent="0" marL="0">
              <a:buNone/>
            </a:pPr>
            <a:r>
              <a:rPr lang="en-US" sz="1050" b="1" dirty="0">
                <a:solidFill>
                  <a:schemeClr val="tx1"/>
                </a:solidFill>
                <a:latin typeface="Montserrat" pitchFamily="34" charset="0"/>
                <a:ea typeface="Montserrat" pitchFamily="34" charset="-122"/>
                <a:cs typeface="Montserrat" pitchFamily="34" charset="-120"/>
              </a:rPr>
              <a:t> for training</a:t>
            </a:r>
            <a:endParaRPr lang="en-US" sz="1000" dirty="0"/>
          </a:p>
        </p:txBody>
      </p:sp>
      <p:sp>
        <p:nvSpPr>
          <p:cNvPr id="46" name="Panel 129"/>
          <p:cNvSpPr/>
          <p:nvPr/>
        </p:nvSpPr>
        <p:spPr>
          <a:xfrm>
            <a:off x="7616952" y="3822192"/>
            <a:ext cx="4318711" cy="2578608"/>
          </a:xfrm>
          <a:prstGeom prst="roundRect">
            <a:avLst>
              <a:gd name="adj" fmla="val 4255"/>
            </a:avLst>
          </a:prstGeom>
          <a:solidFill>
            <a:schemeClr val="bg1"/>
          </a:solidFill>
          <a:ln w="31750">
            <a:solidFill>
              <a:srgbClr val="0B3C6F"/>
            </a:solidFill>
            <a:prstDash val="solid"/>
          </a:ln>
        </p:spPr>
      </p:sp>
      <p:sp>
        <p:nvSpPr>
          <p:cNvPr id="47" name="Heading 130"/>
          <p:cNvSpPr txBox="1"/>
          <p:nvPr/>
        </p:nvSpPr>
        <p:spPr>
          <a:xfrm>
            <a:off x="7763256" y="3886200"/>
            <a:ext cx="4026103" cy="365760"/>
          </a:xfrm>
          <a:prstGeom prst="rect">
            <a:avLst/>
          </a:prstGeom>
          <a:noFill/>
          <a:ln/>
        </p:spPr>
        <p:txBody>
          <a:bodyPr wrap="square" lIns="0" tIns="0" rIns="0" bIns="0" rtlCol="0" anchor="ctr"/>
          <a:lstStyle/>
          <a:p>
            <a:pPr indent="0" marL="0">
              <a:buNone/>
            </a:pPr>
            <a:r>
              <a:rPr lang="en-US" sz="1700" b="1" dirty="0">
                <a:solidFill>
                  <a:schemeClr val="tx2"/>
                </a:solidFill>
                <a:latin typeface="Montserrat" pitchFamily="34" charset="0"/>
                <a:ea typeface="Montserrat" pitchFamily="34" charset="-122"/>
                <a:cs typeface="Montserrat" pitchFamily="34" charset="-120"/>
              </a:rPr>
              <a:t>WHY THESE CHOICES</a:t>
            </a:r>
            <a:endParaRPr lang="en-US" sz="1700" dirty="0"/>
          </a:p>
        </p:txBody>
      </p:sp>
      <p:pic>
        <p:nvPicPr>
          <p:cNvPr id="48" name="Icon 131 globe" descr="D:\Projects\12. project\ppt\images\icons\globe-navy.png">    </p:cNvPr>
          <p:cNvPicPr>
            <a:picLocks noChangeAspect="1"/>
          </p:cNvPicPr>
          <p:nvPr/>
        </p:nvPicPr>
        <p:blipFill>
          <a:blip r:embed="rId7"/>
          <a:stretch>
            <a:fillRect/>
          </a:stretch>
        </p:blipFill>
        <p:spPr>
          <a:xfrm>
            <a:off x="7781544" y="4325112"/>
            <a:ext cx="329184" cy="329184"/>
          </a:xfrm>
          <a:prstGeom prst="rect">
            <a:avLst/>
          </a:prstGeom>
        </p:spPr>
      </p:pic>
      <p:sp>
        <p:nvSpPr>
          <p:cNvPr id="49" name="Text 132"/>
          <p:cNvSpPr txBox="1"/>
          <p:nvPr/>
        </p:nvSpPr>
        <p:spPr>
          <a:xfrm>
            <a:off x="8220456" y="4297680"/>
            <a:ext cx="3550615" cy="470916"/>
          </a:xfrm>
          <a:prstGeom prst="rect">
            <a:avLst/>
          </a:prstGeom>
          <a:noFill/>
          <a:ln/>
        </p:spPr>
        <p:txBody>
          <a:bodyPr wrap="square" lIns="0" tIns="0" rIns="0" bIns="0" rtlCol="0" anchor="t"/>
          <a:lstStyle/>
          <a:p>
            <a:pPr indent="0" marL="0">
              <a:buNone/>
            </a:pPr>
            <a:r>
              <a:rPr lang="en-US" sz="1050" b="1" dirty="0">
                <a:solidFill>
                  <a:schemeClr val="tx2"/>
                </a:solidFill>
                <a:latin typeface="Montserrat" pitchFamily="34" charset="0"/>
                <a:ea typeface="Montserrat" pitchFamily="34" charset="-122"/>
                <a:cs typeface="Montserrat" pitchFamily="34" charset="-120"/>
              </a:rPr>
              <a:t>Everything in the browser </a:t>
            </a:r>
            <a:pPr indent="0" marL="0">
              <a:buNone/>
            </a:pPr>
            <a:r>
              <a:rPr lang="en-US" sz="1000" dirty="0">
                <a:solidFill>
                  <a:schemeClr val="tx1"/>
                </a:solidFill>
                <a:latin typeface="Montserrat" pitchFamily="34" charset="0"/>
                <a:ea typeface="Montserrat" pitchFamily="34" charset="-122"/>
                <a:cs typeface="Montserrat" pitchFamily="34" charset="-120"/>
              </a:rPr>
              <a:t>no GPU and no model server, so nothing can cold-start in front of a judge.</a:t>
            </a:r>
            <a:endParaRPr lang="en-US" sz="1000" dirty="0"/>
          </a:p>
        </p:txBody>
      </p:sp>
      <p:pic>
        <p:nvPicPr>
          <p:cNvPr id="50" name="Icon 133 scale" descr="D:\Projects\12. project\ppt\images\icons\scale-green.png">    </p:cNvPr>
          <p:cNvPicPr>
            <a:picLocks noChangeAspect="1"/>
          </p:cNvPicPr>
          <p:nvPr/>
        </p:nvPicPr>
        <p:blipFill>
          <a:blip r:embed="rId8"/>
          <a:stretch>
            <a:fillRect/>
          </a:stretch>
        </p:blipFill>
        <p:spPr>
          <a:xfrm>
            <a:off x="7781544" y="4832604"/>
            <a:ext cx="329184" cy="329184"/>
          </a:xfrm>
          <a:prstGeom prst="rect">
            <a:avLst/>
          </a:prstGeom>
        </p:spPr>
      </p:pic>
      <p:sp>
        <p:nvSpPr>
          <p:cNvPr id="51" name="Text 134"/>
          <p:cNvSpPr txBox="1"/>
          <p:nvPr/>
        </p:nvSpPr>
        <p:spPr>
          <a:xfrm>
            <a:off x="8220456" y="4805172"/>
            <a:ext cx="3550615" cy="470916"/>
          </a:xfrm>
          <a:prstGeom prst="rect">
            <a:avLst/>
          </a:prstGeom>
          <a:noFill/>
          <a:ln/>
        </p:spPr>
        <p:txBody>
          <a:bodyPr wrap="square" lIns="0" tIns="0" rIns="0" bIns="0" rtlCol="0" anchor="t"/>
          <a:lstStyle/>
          <a:p>
            <a:pPr indent="0" marL="0">
              <a:buNone/>
            </a:pPr>
            <a:r>
              <a:rPr lang="en-US" sz="1050" b="1" dirty="0">
                <a:solidFill>
                  <a:schemeClr val="accent4"/>
                </a:solidFill>
                <a:latin typeface="Montserrat" pitchFamily="34" charset="0"/>
                <a:ea typeface="Montserrat" pitchFamily="34" charset="-122"/>
                <a:cs typeface="Montserrat" pitchFamily="34" charset="-120"/>
              </a:rPr>
              <a:t>An exact solver beside a heuristic </a:t>
            </a:r>
            <a:pPr indent="0" marL="0">
              <a:buNone/>
            </a:pPr>
            <a:r>
              <a:rPr lang="en-US" sz="1000" dirty="0">
                <a:solidFill>
                  <a:schemeClr val="tx1"/>
                </a:solidFill>
                <a:latin typeface="Montserrat" pitchFamily="34" charset="0"/>
                <a:ea typeface="Montserrat" pitchFamily="34" charset="-122"/>
                <a:cs typeface="Montserrat" pitchFamily="34" charset="-120"/>
              </a:rPr>
              <a:t>a new rule is one line of a model, and the answer is provable.</a:t>
            </a:r>
            <a:endParaRPr lang="en-US" sz="1000" dirty="0"/>
          </a:p>
        </p:txBody>
      </p:sp>
      <p:pic>
        <p:nvPicPr>
          <p:cNvPr id="52" name="Icon 135 shield" descr="D:\Projects\12. project\ppt\images\icons\shield-purple.png">    </p:cNvPr>
          <p:cNvPicPr>
            <a:picLocks noChangeAspect="1"/>
          </p:cNvPicPr>
          <p:nvPr/>
        </p:nvPicPr>
        <p:blipFill>
          <a:blip r:embed="rId9"/>
          <a:stretch>
            <a:fillRect/>
          </a:stretch>
        </p:blipFill>
        <p:spPr>
          <a:xfrm>
            <a:off x="7781544" y="5340096"/>
            <a:ext cx="329184" cy="329184"/>
          </a:xfrm>
          <a:prstGeom prst="rect">
            <a:avLst/>
          </a:prstGeom>
        </p:spPr>
      </p:pic>
      <p:sp>
        <p:nvSpPr>
          <p:cNvPr id="53" name="Text 136"/>
          <p:cNvSpPr txBox="1"/>
          <p:nvPr/>
        </p:nvSpPr>
        <p:spPr>
          <a:xfrm>
            <a:off x="8220456" y="5312664"/>
            <a:ext cx="3550615" cy="470916"/>
          </a:xfrm>
          <a:prstGeom prst="rect">
            <a:avLst/>
          </a:prstGeom>
          <a:noFill/>
          <a:ln/>
        </p:spPr>
        <p:txBody>
          <a:bodyPr wrap="square" lIns="0" tIns="0" rIns="0" bIns="0" rtlCol="0" anchor="t"/>
          <a:lstStyle/>
          <a:p>
            <a:pPr indent="0" marL="0">
              <a:buNone/>
            </a:pPr>
            <a:r>
              <a:rPr lang="en-US" sz="1050" b="1" dirty="0">
                <a:solidFill>
                  <a:schemeClr val="accent5"/>
                </a:solidFill>
                <a:latin typeface="Montserrat" pitchFamily="34" charset="0"/>
                <a:ea typeface="Montserrat" pitchFamily="34" charset="-122"/>
                <a:cs typeface="Montserrat" pitchFamily="34" charset="-120"/>
              </a:rPr>
              <a:t>The model writes words, not numbers </a:t>
            </a:r>
            <a:pPr indent="0" marL="0">
              <a:buNone/>
            </a:pPr>
            <a:r>
              <a:rPr lang="en-US" sz="1000" dirty="0">
                <a:solidFill>
                  <a:schemeClr val="tx1"/>
                </a:solidFill>
                <a:latin typeface="Montserrat" pitchFamily="34" charset="0"/>
                <a:ea typeface="Montserrat" pitchFamily="34" charset="-122"/>
                <a:cs typeface="Montserrat" pitchFamily="34" charset="-120"/>
              </a:rPr>
              <a:t>every figure comes from the physics and is cross-checked.</a:t>
            </a:r>
            <a:endParaRPr lang="en-US" sz="1000" dirty="0"/>
          </a:p>
        </p:txBody>
      </p:sp>
      <p:pic>
        <p:nvPicPr>
          <p:cNvPr id="54" name="Icon 137 sync" descr="D:\Projects\12. project\ppt\images\icons\sync-teal.png">    </p:cNvPr>
          <p:cNvPicPr>
            <a:picLocks noChangeAspect="1"/>
          </p:cNvPicPr>
          <p:nvPr/>
        </p:nvPicPr>
        <p:blipFill>
          <a:blip r:embed="rId10"/>
          <a:stretch>
            <a:fillRect/>
          </a:stretch>
        </p:blipFill>
        <p:spPr>
          <a:xfrm>
            <a:off x="7781544" y="5847588"/>
            <a:ext cx="329184" cy="329184"/>
          </a:xfrm>
          <a:prstGeom prst="rect">
            <a:avLst/>
          </a:prstGeom>
        </p:spPr>
      </p:pic>
      <p:sp>
        <p:nvSpPr>
          <p:cNvPr id="55" name="Text 138"/>
          <p:cNvSpPr txBox="1"/>
          <p:nvPr/>
        </p:nvSpPr>
        <p:spPr>
          <a:xfrm>
            <a:off x="8220456" y="5820156"/>
            <a:ext cx="3550615" cy="470916"/>
          </a:xfrm>
          <a:prstGeom prst="rect">
            <a:avLst/>
          </a:prstGeom>
          <a:noFill/>
          <a:ln/>
        </p:spPr>
        <p:txBody>
          <a:bodyPr wrap="square" lIns="0" tIns="0" rIns="0" bIns="0" rtlCol="0" anchor="t"/>
          <a:lstStyle/>
          <a:p>
            <a:pPr indent="0" marL="0">
              <a:buNone/>
            </a:pPr>
            <a:r>
              <a:rPr lang="en-US" sz="1050" b="1" dirty="0">
                <a:solidFill>
                  <a:schemeClr val="accent2"/>
                </a:solidFill>
                <a:latin typeface="Montserrat" pitchFamily="34" charset="0"/>
                <a:ea typeface="Montserrat" pitchFamily="34" charset="-122"/>
                <a:cs typeface="Montserrat" pitchFamily="34" charset="-120"/>
              </a:rPr>
              <a:t>One clock </a:t>
            </a:r>
            <a:pPr indent="0" marL="0">
              <a:buNone/>
            </a:pPr>
            <a:r>
              <a:rPr lang="en-US" sz="1000" dirty="0">
                <a:solidFill>
                  <a:schemeClr val="tx1"/>
                </a:solidFill>
                <a:latin typeface="Montserrat" pitchFamily="34" charset="0"/>
                <a:ea typeface="Montserrat" pitchFamily="34" charset="-122"/>
                <a:cs typeface="Montserrat" pitchFamily="34" charset="-120"/>
              </a:rPr>
              <a:t>seek backwards and every screen is correct. Same input, same site.</a:t>
            </a:r>
            <a:endParaRPr lang="en-US" sz="1000" dirty="0"/>
          </a:p>
        </p:txBody>
      </p:sp>
      <p:sp>
        <p:nvSpPr>
          <p:cNvPr id="25" name="Slide Number Placeholder 0"/>
          <p:cNvSpPr>
            <a:spLocks noGrp="1"/>
          </p:cNvSpPr>
          <p:nvPr>
            <p:ph type="sldNum" sz="quarter" idx="4294967295"/>
          </p:nvPr>
        </p:nvSpPr>
        <p:spPr>
          <a:xfrm>
            <a:off x="11277295" y="6528816"/>
            <a:ext cx="64008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Montserrat"/>
                <a:ea typeface="Montserrat"/>
                <a:cs typeface="Montserra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2103120" y="91440"/>
            <a:ext cx="7345375" cy="731520"/>
          </a:xfrm>
          <a:prstGeom prst="rect">
            <a:avLst/>
          </a:prstGeom>
          <a:noFill/>
          <a:ln/>
        </p:spPr>
        <p:txBody>
          <a:bodyPr wrap="square" lIns="0" tIns="0" rIns="0" bIns="0" rtlCol="0" anchor="ctr"/>
          <a:lstStyle/>
          <a:p>
            <a:pPr algn="ctr" indent="0" marL="0">
              <a:buNone/>
            </a:pPr>
            <a:r>
              <a:rPr lang="en-US" sz="3200" b="1" dirty="0">
                <a:solidFill>
                  <a:schemeClr val="tx1"/>
                </a:solidFill>
                <a:latin typeface="Times New Roman" pitchFamily="34" charset="0"/>
                <a:ea typeface="Times New Roman" pitchFamily="34" charset="-122"/>
                <a:cs typeface="Times New Roman" pitchFamily="34" charset="-120"/>
              </a:rPr>
              <a:t>OUR USP</a:t>
            </a:r>
            <a:endParaRPr lang="en-US" sz="3200" dirty="0"/>
          </a:p>
        </p:txBody>
      </p:sp>
      <p:sp>
        <p:nvSpPr>
          <p:cNvPr id="4" name="Text 139"/>
          <p:cNvSpPr txBox="1"/>
          <p:nvPr/>
        </p:nvSpPr>
        <p:spPr>
          <a:xfrm>
            <a:off x="301752" y="932688"/>
            <a:ext cx="11588191" cy="384048"/>
          </a:xfrm>
          <a:prstGeom prst="rect">
            <a:avLst/>
          </a:prstGeom>
          <a:noFill/>
          <a:ln/>
        </p:spPr>
        <p:txBody>
          <a:bodyPr wrap="square" lIns="0" tIns="0" rIns="0" bIns="0" rtlCol="0" anchor="ctr"/>
          <a:lstStyle/>
          <a:p>
            <a:pPr indent="0" marL="0">
              <a:buNone/>
            </a:pPr>
            <a:r>
              <a:rPr lang="en-US" sz="1800" b="1" dirty="0">
                <a:solidFill>
                  <a:schemeClr val="tx2"/>
                </a:solidFill>
                <a:latin typeface="Montserrat" pitchFamily="34" charset="0"/>
                <a:ea typeface="Montserrat" pitchFamily="34" charset="-122"/>
                <a:cs typeface="Montserrat" pitchFamily="34" charset="-120"/>
              </a:rPr>
              <a:t>THE PLAN, NOT THE PICTURE:  </a:t>
            </a:r>
            <a:pPr indent="0" marL="0">
              <a:buNone/>
            </a:pPr>
            <a:r>
              <a:rPr lang="en-US" sz="1500" dirty="0">
                <a:solidFill>
                  <a:schemeClr val="tx1"/>
                </a:solidFill>
                <a:latin typeface="Montserrat" pitchFamily="34" charset="0"/>
                <a:ea typeface="Montserrat" pitchFamily="34" charset="-122"/>
                <a:cs typeface="Montserrat" pitchFamily="34" charset="-120"/>
              </a:rPr>
              <a:t>others detect and report. We hand over a deadline and a plan.</a:t>
            </a:r>
            <a:endParaRPr lang="en-US" sz="1000" dirty="0"/>
          </a:p>
        </p:txBody>
      </p:sp>
      <p:sp>
        <p:nvSpPr>
          <p:cNvPr id="5" name="Panel 140"/>
          <p:cNvSpPr/>
          <p:nvPr/>
        </p:nvSpPr>
        <p:spPr>
          <a:xfrm>
            <a:off x="256032" y="1408176"/>
            <a:ext cx="4572000" cy="4992624"/>
          </a:xfrm>
          <a:prstGeom prst="roundRect">
            <a:avLst>
              <a:gd name="adj" fmla="val 2400"/>
            </a:avLst>
          </a:prstGeom>
          <a:solidFill>
            <a:schemeClr val="bg1"/>
          </a:solidFill>
          <a:ln w="31750">
            <a:solidFill>
              <a:srgbClr val="0B3C6F"/>
            </a:solidFill>
            <a:prstDash val="solid"/>
          </a:ln>
        </p:spPr>
      </p:sp>
      <p:sp>
        <p:nvSpPr>
          <p:cNvPr id="6" name="Heading 141"/>
          <p:cNvSpPr txBox="1"/>
          <p:nvPr/>
        </p:nvSpPr>
        <p:spPr>
          <a:xfrm>
            <a:off x="402336" y="1472184"/>
            <a:ext cx="4279392" cy="365760"/>
          </a:xfrm>
          <a:prstGeom prst="rect">
            <a:avLst/>
          </a:prstGeom>
          <a:noFill/>
          <a:ln/>
        </p:spPr>
        <p:txBody>
          <a:bodyPr wrap="square" lIns="0" tIns="0" rIns="0" bIns="0" rtlCol="0" anchor="ctr"/>
          <a:lstStyle/>
          <a:p>
            <a:pPr indent="0" marL="0">
              <a:buNone/>
            </a:pPr>
            <a:r>
              <a:rPr lang="en-US" sz="1700" b="1" dirty="0">
                <a:solidFill>
                  <a:schemeClr val="tx2"/>
                </a:solidFill>
                <a:latin typeface="Montserrat" pitchFamily="34" charset="0"/>
                <a:ea typeface="Montserrat" pitchFamily="34" charset="-122"/>
                <a:cs typeface="Montserrat" pitchFamily="34" charset="-120"/>
              </a:rPr>
              <a:t>INNOVATION AND UNIQUENESS</a:t>
            </a:r>
            <a:endParaRPr lang="en-US" sz="1700" dirty="0"/>
          </a:p>
        </p:txBody>
      </p:sp>
      <p:pic>
        <p:nvPicPr>
          <p:cNvPr id="7" name="Icon 142 clock" descr="D:\Projects\12. project\ppt\images\icons\clock-navy.png">    </p:cNvPr>
          <p:cNvPicPr>
            <a:picLocks noChangeAspect="1"/>
          </p:cNvPicPr>
          <p:nvPr/>
        </p:nvPicPr>
        <p:blipFill>
          <a:blip r:embed="rId1"/>
          <a:stretch>
            <a:fillRect/>
          </a:stretch>
        </p:blipFill>
        <p:spPr>
          <a:xfrm>
            <a:off x="420624" y="1911096"/>
            <a:ext cx="384048" cy="384048"/>
          </a:xfrm>
          <a:prstGeom prst="rect">
            <a:avLst/>
          </a:prstGeom>
        </p:spPr>
      </p:pic>
      <p:sp>
        <p:nvSpPr>
          <p:cNvPr id="8" name="Text 143"/>
          <p:cNvSpPr txBox="1"/>
          <p:nvPr/>
        </p:nvSpPr>
        <p:spPr>
          <a:xfrm>
            <a:off x="914400" y="1883664"/>
            <a:ext cx="3749040" cy="676656"/>
          </a:xfrm>
          <a:prstGeom prst="rect">
            <a:avLst/>
          </a:prstGeom>
          <a:noFill/>
          <a:ln/>
        </p:spPr>
        <p:txBody>
          <a:bodyPr wrap="square" lIns="0" tIns="0" rIns="0" bIns="0" rtlCol="0" anchor="t"/>
          <a:lstStyle/>
          <a:p>
            <a:pPr indent="0" marL="0">
              <a:buNone/>
            </a:pPr>
            <a:r>
              <a:rPr lang="en-US" sz="1100" b="1" dirty="0">
                <a:solidFill>
                  <a:schemeClr val="tx2"/>
                </a:solidFill>
                <a:latin typeface="Montserrat" pitchFamily="34" charset="0"/>
                <a:ea typeface="Montserrat" pitchFamily="34" charset="-122"/>
                <a:cs typeface="Montserrat" pitchFamily="34" charset="-120"/>
              </a:rPr>
              <a:t>A computed deadline</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Not a flagged defect: an hour, worked out from the defect, its mechanism and the 72 h forecast.</a:t>
            </a:r>
            <a:endParaRPr lang="en-US" sz="1000" dirty="0"/>
          </a:p>
        </p:txBody>
      </p:sp>
      <p:pic>
        <p:nvPicPr>
          <p:cNvPr id="9" name="Icon 144 sync" descr="D:\Projects\12. project\ppt\images\icons\sync-teal.png">    </p:cNvPr>
          <p:cNvPicPr>
            <a:picLocks noChangeAspect="1"/>
          </p:cNvPicPr>
          <p:nvPr/>
        </p:nvPicPr>
        <p:blipFill>
          <a:blip r:embed="rId2"/>
          <a:stretch>
            <a:fillRect/>
          </a:stretch>
        </p:blipFill>
        <p:spPr>
          <a:xfrm>
            <a:off x="420624" y="2624328"/>
            <a:ext cx="384048" cy="384048"/>
          </a:xfrm>
          <a:prstGeom prst="rect">
            <a:avLst/>
          </a:prstGeom>
        </p:spPr>
      </p:pic>
      <p:sp>
        <p:nvSpPr>
          <p:cNvPr id="10" name="Text 145"/>
          <p:cNvSpPr txBox="1"/>
          <p:nvPr/>
        </p:nvSpPr>
        <p:spPr>
          <a:xfrm>
            <a:off x="914400" y="2596896"/>
            <a:ext cx="3749040" cy="676656"/>
          </a:xfrm>
          <a:prstGeom prst="rect">
            <a:avLst/>
          </a:prstGeom>
          <a:noFill/>
          <a:ln/>
        </p:spPr>
        <p:txBody>
          <a:bodyPr wrap="square" lIns="0" tIns="0" rIns="0" bIns="0" rtlCol="0" anchor="t"/>
          <a:lstStyle/>
          <a:p>
            <a:pPr indent="0" marL="0">
              <a:buNone/>
            </a:pPr>
            <a:r>
              <a:rPr lang="en-US" sz="1100" b="1" dirty="0">
                <a:solidFill>
                  <a:schemeClr val="accent2"/>
                </a:solidFill>
                <a:latin typeface="Montserrat" pitchFamily="34" charset="0"/>
                <a:ea typeface="Montserrat" pitchFamily="34" charset="-122"/>
                <a:cs typeface="Montserrat" pitchFamily="34" charset="-120"/>
              </a:rPr>
              <a:t>A plan that re-derives live</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Change the conditions and the queue, the deadlines and the crew day are worked out again.</a:t>
            </a:r>
            <a:endParaRPr lang="en-US" sz="1000" dirty="0"/>
          </a:p>
        </p:txBody>
      </p:sp>
      <p:pic>
        <p:nvPicPr>
          <p:cNvPr id="11" name="Icon 146 calc" descr="D:\Projects\12. project\ppt\images\icons\calc-purple.png">    </p:cNvPr>
          <p:cNvPicPr>
            <a:picLocks noChangeAspect="1"/>
          </p:cNvPicPr>
          <p:nvPr/>
        </p:nvPicPr>
        <p:blipFill>
          <a:blip r:embed="rId3"/>
          <a:stretch>
            <a:fillRect/>
          </a:stretch>
        </p:blipFill>
        <p:spPr>
          <a:xfrm>
            <a:off x="420624" y="3337560"/>
            <a:ext cx="384048" cy="384048"/>
          </a:xfrm>
          <a:prstGeom prst="rect">
            <a:avLst/>
          </a:prstGeom>
        </p:spPr>
      </p:pic>
      <p:sp>
        <p:nvSpPr>
          <p:cNvPr id="12" name="Text 147"/>
          <p:cNvSpPr txBox="1"/>
          <p:nvPr/>
        </p:nvSpPr>
        <p:spPr>
          <a:xfrm>
            <a:off x="914400" y="3310128"/>
            <a:ext cx="3749040" cy="676656"/>
          </a:xfrm>
          <a:prstGeom prst="rect">
            <a:avLst/>
          </a:prstGeom>
          <a:noFill/>
          <a:ln/>
        </p:spPr>
        <p:txBody>
          <a:bodyPr wrap="square" lIns="0" tIns="0" rIns="0" bIns="0" rtlCol="0" anchor="t"/>
          <a:lstStyle/>
          <a:p>
            <a:pPr indent="0" marL="0">
              <a:buNone/>
            </a:pPr>
            <a:r>
              <a:rPr lang="en-US" sz="1100" b="1" dirty="0">
                <a:solidFill>
                  <a:schemeClr val="accent5"/>
                </a:solidFill>
                <a:latin typeface="Montserrat" pitchFamily="34" charset="0"/>
                <a:ea typeface="Montserrat" pitchFamily="34" charset="-122"/>
                <a:cs typeface="Montserrat" pitchFamily="34" charset="-120"/>
              </a:rPr>
              <a:t>Arithmetic on screen</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The ranking formula with its inputs on every job, and a ? on every number for its source.</a:t>
            </a:r>
            <a:endParaRPr lang="en-US" sz="1000" dirty="0"/>
          </a:p>
        </p:txBody>
      </p:sp>
      <p:pic>
        <p:nvPicPr>
          <p:cNvPr id="13" name="Icon 148 user" descr="D:\Projects\12. project\ppt\images\icons\user-red.png">    </p:cNvPr>
          <p:cNvPicPr>
            <a:picLocks noChangeAspect="1"/>
          </p:cNvPicPr>
          <p:nvPr/>
        </p:nvPicPr>
        <p:blipFill>
          <a:blip r:embed="rId4"/>
          <a:stretch>
            <a:fillRect/>
          </a:stretch>
        </p:blipFill>
        <p:spPr>
          <a:xfrm>
            <a:off x="420624" y="4050792"/>
            <a:ext cx="384048" cy="384048"/>
          </a:xfrm>
          <a:prstGeom prst="rect">
            <a:avLst/>
          </a:prstGeom>
        </p:spPr>
      </p:pic>
      <p:sp>
        <p:nvSpPr>
          <p:cNvPr id="14" name="Text 149"/>
          <p:cNvSpPr txBox="1"/>
          <p:nvPr/>
        </p:nvSpPr>
        <p:spPr>
          <a:xfrm>
            <a:off x="914400" y="4023360"/>
            <a:ext cx="3749040" cy="676656"/>
          </a:xfrm>
          <a:prstGeom prst="rect">
            <a:avLst/>
          </a:prstGeom>
          <a:noFill/>
          <a:ln/>
        </p:spPr>
        <p:txBody>
          <a:bodyPr wrap="square" lIns="0" tIns="0" rIns="0" bIns="0" rtlCol="0" anchor="t"/>
          <a:lstStyle/>
          <a:p>
            <a:pPr indent="0" marL="0">
              <a:buNone/>
            </a:pPr>
            <a:r>
              <a:rPr lang="en-US" sz="1100" b="1" dirty="0">
                <a:solidFill>
                  <a:schemeClr val="accent3"/>
                </a:solidFill>
                <a:latin typeface="Montserrat" pitchFamily="34" charset="0"/>
                <a:ea typeface="Montserrat" pitchFamily="34" charset="-122"/>
                <a:cs typeface="Montserrat" pitchFamily="34" charset="-120"/>
              </a:rPr>
              <a:t>A human gate</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The agent proposes. Only an operator’s click creates a work order.</a:t>
            </a:r>
            <a:endParaRPr lang="en-US" sz="1000" dirty="0"/>
          </a:p>
        </p:txBody>
      </p:sp>
      <p:pic>
        <p:nvPicPr>
          <p:cNvPr id="15" name="Icon 150 plane" descr="D:\Projects\12. project\ppt\images\icons\plane-green.png">    </p:cNvPr>
          <p:cNvPicPr>
            <a:picLocks noChangeAspect="1"/>
          </p:cNvPicPr>
          <p:nvPr/>
        </p:nvPicPr>
        <p:blipFill>
          <a:blip r:embed="rId5"/>
          <a:stretch>
            <a:fillRect/>
          </a:stretch>
        </p:blipFill>
        <p:spPr>
          <a:xfrm>
            <a:off x="420624" y="4764024"/>
            <a:ext cx="384048" cy="384048"/>
          </a:xfrm>
          <a:prstGeom prst="rect">
            <a:avLst/>
          </a:prstGeom>
        </p:spPr>
      </p:pic>
      <p:sp>
        <p:nvSpPr>
          <p:cNvPr id="16" name="Text 151"/>
          <p:cNvSpPr txBox="1"/>
          <p:nvPr/>
        </p:nvSpPr>
        <p:spPr>
          <a:xfrm>
            <a:off x="914400" y="4736592"/>
            <a:ext cx="3749040" cy="676656"/>
          </a:xfrm>
          <a:prstGeom prst="rect">
            <a:avLst/>
          </a:prstGeom>
          <a:noFill/>
          <a:ln/>
        </p:spPr>
        <p:txBody>
          <a:bodyPr wrap="square" lIns="0" tIns="0" rIns="0" bIns="0" rtlCol="0" anchor="t"/>
          <a:lstStyle/>
          <a:p>
            <a:pPr indent="0" marL="0">
              <a:buNone/>
            </a:pPr>
            <a:r>
              <a:rPr lang="en-US" sz="1100" b="1" dirty="0">
                <a:solidFill>
                  <a:schemeClr val="accent4"/>
                </a:solidFill>
                <a:latin typeface="Montserrat" pitchFamily="34" charset="0"/>
                <a:ea typeface="Montserrat" pitchFamily="34" charset="-122"/>
                <a:cs typeface="Montserrat" pitchFamily="34" charset="-120"/>
              </a:rPr>
              <a:t>It says no</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A dirty array gets a wash crew and no flight: imaging it would add nothing.</a:t>
            </a:r>
            <a:endParaRPr lang="en-US" sz="1000" dirty="0"/>
          </a:p>
        </p:txBody>
      </p:sp>
      <p:sp>
        <p:nvSpPr>
          <p:cNvPr id="17" name="Card 152"/>
          <p:cNvSpPr/>
          <p:nvPr/>
        </p:nvSpPr>
        <p:spPr>
          <a:xfrm>
            <a:off x="420624" y="5468112"/>
            <a:ext cx="4242816" cy="804672"/>
          </a:xfrm>
          <a:prstGeom prst="roundRect">
            <a:avLst>
              <a:gd name="adj" fmla="val 6818"/>
            </a:avLst>
          </a:prstGeom>
          <a:solidFill>
            <a:schemeClr val="bg2"/>
          </a:solidFill>
          <a:ln w="12700">
            <a:solidFill>
              <a:srgbClr val="0B3C6F"/>
            </a:solidFill>
          </a:ln>
        </p:spPr>
        <p:txBody>
          <a:bodyPr wrap="square" lIns="50800" tIns="76200" rIns="76200" bIns="50800" rtlCol="0" anchor="ctr"/>
          <a:lstStyle/>
          <a:p>
            <a:pPr indent="0" marL="0">
              <a:buNone/>
            </a:pPr>
            <a:r>
              <a:rPr lang="en-US" sz="1050" b="1" dirty="0">
                <a:solidFill>
                  <a:schemeClr val="tx2"/>
                </a:solidFill>
                <a:latin typeface="Montserrat" pitchFamily="34" charset="0"/>
                <a:ea typeface="Montserrat" pitchFamily="34" charset="-122"/>
                <a:cs typeface="Montserrat" pitchFamily="34" charset="-120"/>
              </a:rPr>
              <a:t>score = loss per day × severity × urgency ÷ access</a:t>
            </a:r>
            <a:endParaRPr lang="en-US" sz="1000" dirty="0"/>
          </a:p>
          <a:p>
            <a:pPr indent="0" marL="0">
              <a:buNone/>
            </a:pPr>
            <a:r>
              <a:rPr lang="en-US" sz="1000" b="1" dirty="0">
                <a:solidFill>
                  <a:schemeClr val="accent3"/>
                </a:solidFill>
                <a:latin typeface="Montserrat" pitchFamily="34" charset="0"/>
                <a:ea typeface="Montserrat" pitchFamily="34" charset="-122"/>
                <a:cs typeface="Montserrat" pitchFamily="34" charset="-120"/>
              </a:rPr>
              <a:t>B-17 as captured: 1.01 MWh × 3.0 × 7.69 ÷ 1.0 = 23.29</a:t>
            </a:r>
            <a:endParaRPr lang="en-US" sz="1000" dirty="0"/>
          </a:p>
          <a:p>
            <a:pPr indent="0" marL="0">
              <a:buNone/>
            </a:pPr>
            <a:r>
              <a:rPr lang="en-US" sz="900" dirty="0">
                <a:solidFill>
                  <a:schemeClr val="tx1"/>
                </a:solidFill>
                <a:latin typeface="Montserrat" pitchFamily="34" charset="0"/>
                <a:ea typeface="Montserrat" pitchFamily="34" charset="-122"/>
                <a:cs typeface="Montserrat" pitchFamily="34" charset="-120"/>
              </a:rPr>
              <a:t>Urgency is 1 + 24 ÷ hours left. Next is A-08 at 0.81.</a:t>
            </a:r>
            <a:endParaRPr lang="en-US" sz="1000" dirty="0"/>
          </a:p>
        </p:txBody>
      </p:sp>
      <p:sp>
        <p:nvSpPr>
          <p:cNvPr id="18" name="Panel 153"/>
          <p:cNvSpPr/>
          <p:nvPr/>
        </p:nvSpPr>
        <p:spPr>
          <a:xfrm>
            <a:off x="5010912" y="1408176"/>
            <a:ext cx="6924751" cy="2834640"/>
          </a:xfrm>
          <a:prstGeom prst="roundRect">
            <a:avLst>
              <a:gd name="adj" fmla="val 3871"/>
            </a:avLst>
          </a:prstGeom>
          <a:solidFill>
            <a:schemeClr val="bg1"/>
          </a:solidFill>
          <a:ln w="31750">
            <a:solidFill>
              <a:srgbClr val="0B3C6F"/>
            </a:solidFill>
            <a:prstDash val="solid"/>
          </a:ln>
        </p:spPr>
      </p:sp>
      <p:pic>
        <p:nvPicPr>
          <p:cNvPr id="19" name="Picture 05-queue-arithmetic.png" descr="right, upper block: the repair queue on the Queue screen, each job with its arithmetic">    </p:cNvPr>
          <p:cNvPicPr>
            <a:picLocks noChangeAspect="1"/>
          </p:cNvPicPr>
          <p:nvPr/>
        </p:nvPicPr>
        <p:blipFill>
          <a:blip r:embed="rId6"/>
          <a:stretch>
            <a:fillRect/>
          </a:stretch>
        </p:blipFill>
        <p:spPr>
          <a:xfrm>
            <a:off x="5148072" y="1545336"/>
            <a:ext cx="2788920" cy="1707822"/>
          </a:xfrm>
          <a:prstGeom prst="rect">
            <a:avLst/>
          </a:prstGeom>
        </p:spPr>
      </p:pic>
      <p:sp>
        <p:nvSpPr>
          <p:cNvPr id="20" name="Picture frame 155"/>
          <p:cNvSpPr/>
          <p:nvPr/>
        </p:nvSpPr>
        <p:spPr>
          <a:xfrm>
            <a:off x="5148072" y="1545336"/>
            <a:ext cx="2788920" cy="1707822"/>
          </a:xfrm>
          <a:prstGeom prst="rect">
            <a:avLst/>
          </a:prstGeom>
          <a:ln w="12700">
            <a:solidFill>
              <a:srgbClr val="0B3C6F"/>
            </a:solidFill>
            <a:prstDash val="solid"/>
          </a:ln>
        </p:spPr>
      </p:sp>
      <p:sp>
        <p:nvSpPr>
          <p:cNvPr id="21" name="Text 156"/>
          <p:cNvSpPr txBox="1"/>
          <p:nvPr/>
        </p:nvSpPr>
        <p:spPr>
          <a:xfrm>
            <a:off x="5148072" y="3298878"/>
            <a:ext cx="2788920" cy="201168"/>
          </a:xfrm>
          <a:prstGeom prst="rect">
            <a:avLst/>
          </a:prstGeom>
          <a:noFill/>
          <a:ln/>
        </p:spPr>
        <p:txBody>
          <a:bodyPr wrap="square" lIns="0" tIns="0" rIns="0" bIns="0" rtlCol="0" anchor="t"/>
          <a:lstStyle/>
          <a:p>
            <a:pPr algn="ctr" indent="0" marL="0">
              <a:buNone/>
            </a:pPr>
            <a:r>
              <a:rPr lang="en-US" sz="900" b="1" dirty="0">
                <a:solidFill>
                  <a:schemeClr val="tx2"/>
                </a:solidFill>
                <a:latin typeface="Montserrat" pitchFamily="34" charset="0"/>
                <a:ea typeface="Montserrat" pitchFamily="34" charset="-122"/>
                <a:cs typeface="Montserrat" pitchFamily="34" charset="-120"/>
              </a:rPr>
              <a:t>Every job shows its working.</a:t>
            </a:r>
            <a:endParaRPr lang="en-US" sz="900" dirty="0"/>
          </a:p>
        </p:txBody>
      </p:sp>
      <p:pic>
        <p:nvPicPr>
          <p:cNvPr id="22" name="Picture 05-sandbox-hazard.png" descr="right, upper block, beside it: the Sandbox screen after a dust storm was dropped on Zone B">    </p:cNvPr>
          <p:cNvPicPr>
            <a:picLocks noChangeAspect="1"/>
          </p:cNvPicPr>
          <p:nvPr/>
        </p:nvPicPr>
        <p:blipFill>
          <a:blip r:embed="rId7"/>
          <a:stretch>
            <a:fillRect/>
          </a:stretch>
        </p:blipFill>
        <p:spPr>
          <a:xfrm>
            <a:off x="8074152" y="1545336"/>
            <a:ext cx="3724351" cy="2094948"/>
          </a:xfrm>
          <a:prstGeom prst="rect">
            <a:avLst/>
          </a:prstGeom>
        </p:spPr>
      </p:pic>
      <p:sp>
        <p:nvSpPr>
          <p:cNvPr id="23" name="Picture frame 158"/>
          <p:cNvSpPr/>
          <p:nvPr/>
        </p:nvSpPr>
        <p:spPr>
          <a:xfrm>
            <a:off x="8074152" y="1545336"/>
            <a:ext cx="3724351" cy="2094948"/>
          </a:xfrm>
          <a:prstGeom prst="rect">
            <a:avLst/>
          </a:prstGeom>
          <a:ln w="12700">
            <a:solidFill>
              <a:srgbClr val="0B3C6F"/>
            </a:solidFill>
            <a:prstDash val="solid"/>
          </a:ln>
        </p:spPr>
      </p:sp>
      <p:sp>
        <p:nvSpPr>
          <p:cNvPr id="24" name="Text 159"/>
          <p:cNvSpPr txBox="1"/>
          <p:nvPr/>
        </p:nvSpPr>
        <p:spPr>
          <a:xfrm>
            <a:off x="8074152" y="3686004"/>
            <a:ext cx="3724351" cy="201168"/>
          </a:xfrm>
          <a:prstGeom prst="rect">
            <a:avLst/>
          </a:prstGeom>
          <a:noFill/>
          <a:ln/>
        </p:spPr>
        <p:txBody>
          <a:bodyPr wrap="square" lIns="0" tIns="0" rIns="0" bIns="0" rtlCol="0" anchor="t"/>
          <a:lstStyle/>
          <a:p>
            <a:pPr algn="ctr" indent="0" marL="0">
              <a:buNone/>
            </a:pPr>
            <a:r>
              <a:rPr lang="en-US" sz="900" b="1" dirty="0">
                <a:solidFill>
                  <a:schemeClr val="tx2"/>
                </a:solidFill>
                <a:latin typeface="Montserrat" pitchFamily="34" charset="0"/>
                <a:ea typeface="Montserrat" pitchFamily="34" charset="-122"/>
                <a:cs typeface="Montserrat" pitchFamily="34" charset="-120"/>
              </a:rPr>
              <a:t>The what-if sandbox: a dust storm dropped on Zone B.</a:t>
            </a:r>
            <a:endParaRPr lang="en-US" sz="900" dirty="0"/>
          </a:p>
        </p:txBody>
      </p:sp>
      <p:sp>
        <p:nvSpPr>
          <p:cNvPr id="25" name="Panel 160"/>
          <p:cNvSpPr/>
          <p:nvPr/>
        </p:nvSpPr>
        <p:spPr>
          <a:xfrm>
            <a:off x="5010912" y="4370832"/>
            <a:ext cx="6924751" cy="2029968"/>
          </a:xfrm>
          <a:prstGeom prst="roundRect">
            <a:avLst>
              <a:gd name="adj" fmla="val 5405"/>
            </a:avLst>
          </a:prstGeom>
          <a:solidFill>
            <a:schemeClr val="bg1"/>
          </a:solidFill>
          <a:ln w="31750">
            <a:solidFill>
              <a:srgbClr val="0B3C6F"/>
            </a:solidFill>
            <a:prstDash val="solid"/>
          </a:ln>
        </p:spPr>
      </p:sp>
      <p:sp>
        <p:nvSpPr>
          <p:cNvPr id="26" name="Heading 161"/>
          <p:cNvSpPr txBox="1"/>
          <p:nvPr/>
        </p:nvSpPr>
        <p:spPr>
          <a:xfrm>
            <a:off x="5157216" y="4434840"/>
            <a:ext cx="6632143" cy="365760"/>
          </a:xfrm>
          <a:prstGeom prst="rect">
            <a:avLst/>
          </a:prstGeom>
          <a:noFill/>
          <a:ln/>
        </p:spPr>
        <p:txBody>
          <a:bodyPr wrap="square" lIns="0" tIns="0" rIns="0" bIns="0" rtlCol="0" anchor="ctr"/>
          <a:lstStyle/>
          <a:p>
            <a:pPr indent="0" marL="0">
              <a:buNone/>
            </a:pPr>
            <a:r>
              <a:rPr lang="en-US" sz="1700" b="1" dirty="0">
                <a:solidFill>
                  <a:schemeClr val="tx2"/>
                </a:solidFill>
                <a:latin typeface="Montserrat" pitchFamily="34" charset="0"/>
                <a:ea typeface="Montserrat" pitchFamily="34" charset="-122"/>
                <a:cs typeface="Montserrat" pitchFamily="34" charset="-120"/>
              </a:rPr>
              <a:t>THE LIVE DEMONSTRATION</a:t>
            </a:r>
            <a:endParaRPr lang="en-US" sz="1700" dirty="0"/>
          </a:p>
        </p:txBody>
      </p:sp>
      <p:sp>
        <p:nvSpPr>
          <p:cNvPr id="27" name="Text 162"/>
          <p:cNvSpPr txBox="1"/>
          <p:nvPr/>
        </p:nvSpPr>
        <p:spPr>
          <a:xfrm>
            <a:off x="5157216" y="4809744"/>
            <a:ext cx="6632143" cy="219456"/>
          </a:xfrm>
          <a:prstGeom prst="rect">
            <a:avLst/>
          </a:prstGeom>
          <a:noFill/>
          <a:ln/>
        </p:spPr>
        <p:txBody>
          <a:bodyPr wrap="square" lIns="0" tIns="0" rIns="0" bIns="0" rtlCol="0" anchor="t"/>
          <a:lstStyle/>
          <a:p>
            <a:pPr indent="0" marL="0">
              <a:buNone/>
            </a:pPr>
            <a:r>
              <a:rPr lang="en-US" sz="1050" b="1" dirty="0">
                <a:solidFill>
                  <a:schemeClr val="tx1"/>
                </a:solidFill>
                <a:latin typeface="Montserrat" pitchFamily="34" charset="0"/>
                <a:ea typeface="Montserrat" pitchFamily="34" charset="-122"/>
                <a:cs typeface="Montserrat" pitchFamily="34" charset="-120"/>
              </a:rPr>
              <a:t>Name a hazard, drag it onto the field, and the whole plan re-derives.</a:t>
            </a:r>
            <a:endParaRPr lang="en-US" sz="1050" dirty="0"/>
          </a:p>
        </p:txBody>
      </p:sp>
      <p:sp>
        <p:nvSpPr>
          <p:cNvPr id="28" name="Card 163"/>
          <p:cNvSpPr/>
          <p:nvPr/>
        </p:nvSpPr>
        <p:spPr>
          <a:xfrm>
            <a:off x="5148072" y="5102352"/>
            <a:ext cx="2155850" cy="1170432"/>
          </a:xfrm>
          <a:prstGeom prst="roundRect">
            <a:avLst>
              <a:gd name="adj" fmla="val 4688"/>
            </a:avLst>
          </a:prstGeom>
          <a:solidFill>
            <a:schemeClr val="bg2"/>
          </a:solidFill>
          <a:ln w="12700">
            <a:solidFill>
              <a:srgbClr val="0B3C6F"/>
            </a:solidFill>
          </a:ln>
        </p:spPr>
        <p:txBody>
          <a:bodyPr wrap="square" lIns="50800" tIns="76200" rIns="76200" bIns="50800" rtlCol="0" anchor="ctr"/>
          <a:lstStyle/>
          <a:p>
            <a:pPr indent="0" marL="0">
              <a:buNone/>
            </a:pPr>
            <a:r>
              <a:rPr lang="en-US" sz="1050" b="1" dirty="0">
                <a:solidFill>
                  <a:schemeClr val="tx2"/>
                </a:solidFill>
                <a:latin typeface="Montserrat" pitchFamily="34" charset="0"/>
                <a:ea typeface="Montserrat" pitchFamily="34" charset="-122"/>
                <a:cs typeface="Montserrat" pitchFamily="34" charset="-120"/>
              </a:rPr>
              <a:t>What the screen said</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8 arrays affected, 6 jobs added, 1 displaced, B-17 still first.</a:t>
            </a:r>
            <a:endParaRPr lang="en-US" sz="1000" dirty="0"/>
          </a:p>
        </p:txBody>
      </p:sp>
      <p:sp>
        <p:nvSpPr>
          <p:cNvPr id="29" name="Card 164"/>
          <p:cNvSpPr/>
          <p:nvPr/>
        </p:nvSpPr>
        <p:spPr>
          <a:xfrm>
            <a:off x="7395362" y="5102352"/>
            <a:ext cx="2155850" cy="1170432"/>
          </a:xfrm>
          <a:prstGeom prst="roundRect">
            <a:avLst>
              <a:gd name="adj" fmla="val 4688"/>
            </a:avLst>
          </a:prstGeom>
          <a:solidFill>
            <a:schemeClr val="bg2"/>
          </a:solidFill>
          <a:ln w="12700">
            <a:solidFill>
              <a:srgbClr val="0B3C6F"/>
            </a:solidFill>
          </a:ln>
        </p:spPr>
        <p:txBody>
          <a:bodyPr wrap="square" lIns="50800" tIns="76200" rIns="76200" bIns="50800" rtlCol="0" anchor="ctr"/>
          <a:lstStyle/>
          <a:p>
            <a:pPr indent="0" marL="0">
              <a:buNone/>
            </a:pPr>
            <a:r>
              <a:rPr lang="en-US" sz="1050" b="1" dirty="0">
                <a:solidFill>
                  <a:schemeClr val="accent4"/>
                </a:solidFill>
                <a:latin typeface="Montserrat" pitchFamily="34" charset="0"/>
                <a:ea typeface="Montserrat" pitchFamily="34" charset="-122"/>
                <a:cs typeface="Montserrat" pitchFamily="34" charset="-120"/>
              </a:rPr>
              <a:t>What it costs, in rupees</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5.61 MWh, ₹13,714 over 72 h at ₹2.446/kWh. Band ₹12,518 to ₹14,880.</a:t>
            </a:r>
            <a:endParaRPr lang="en-US" sz="1000" dirty="0"/>
          </a:p>
        </p:txBody>
      </p:sp>
      <p:sp>
        <p:nvSpPr>
          <p:cNvPr id="30" name="Card 165"/>
          <p:cNvSpPr/>
          <p:nvPr/>
        </p:nvSpPr>
        <p:spPr>
          <a:xfrm>
            <a:off x="9642653" y="5102352"/>
            <a:ext cx="2155850" cy="1170432"/>
          </a:xfrm>
          <a:prstGeom prst="roundRect">
            <a:avLst>
              <a:gd name="adj" fmla="val 4688"/>
            </a:avLst>
          </a:prstGeom>
          <a:solidFill>
            <a:schemeClr val="bg2"/>
          </a:solidFill>
          <a:ln w="12700">
            <a:solidFill>
              <a:srgbClr val="0B3C6F"/>
            </a:solidFill>
          </a:ln>
        </p:spPr>
        <p:txBody>
          <a:bodyPr wrap="square" lIns="50800" tIns="76200" rIns="76200" bIns="50800" rtlCol="0" anchor="ctr"/>
          <a:lstStyle/>
          <a:p>
            <a:pPr indent="0" marL="0">
              <a:buNone/>
            </a:pPr>
            <a:r>
              <a:rPr lang="en-US" sz="1500" b="1" dirty="0">
                <a:solidFill>
                  <a:schemeClr val="accent3"/>
                </a:solidFill>
                <a:latin typeface="Montserrat" pitchFamily="34" charset="0"/>
                <a:ea typeface="Montserrat" pitchFamily="34" charset="-122"/>
                <a:cs typeface="Montserrat" pitchFamily="34" charset="-120"/>
              </a:rPr>
              <a:t>31 to 40 ms</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from drop to the re-planned frame, in Chrome. Budget 150 ms. 60.1 fps.</a:t>
            </a:r>
            <a:endParaRPr lang="en-US" sz="1000" dirty="0"/>
          </a:p>
        </p:txBody>
      </p:sp>
      <p:sp>
        <p:nvSpPr>
          <p:cNvPr id="25" name="Slide Number Placeholder 0"/>
          <p:cNvSpPr>
            <a:spLocks noGrp="1"/>
          </p:cNvSpPr>
          <p:nvPr>
            <p:ph type="sldNum" sz="quarter" idx="4294967295"/>
          </p:nvPr>
        </p:nvSpPr>
        <p:spPr>
          <a:xfrm>
            <a:off x="11277295" y="6528816"/>
            <a:ext cx="64008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Montserrat"/>
                <a:ea typeface="Montserrat"/>
                <a:cs typeface="Montserra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2103120" y="91440"/>
            <a:ext cx="7345375" cy="731520"/>
          </a:xfrm>
          <a:prstGeom prst="rect">
            <a:avLst/>
          </a:prstGeom>
          <a:noFill/>
          <a:ln/>
        </p:spPr>
        <p:txBody>
          <a:bodyPr wrap="square" lIns="0" tIns="0" rIns="0" bIns="0" rtlCol="0" anchor="ctr"/>
          <a:lstStyle/>
          <a:p>
            <a:pPr algn="ctr" indent="0" marL="0">
              <a:buNone/>
            </a:pPr>
            <a:r>
              <a:rPr lang="en-US" sz="3200" b="1" dirty="0">
                <a:solidFill>
                  <a:schemeClr val="tx1"/>
                </a:solidFill>
                <a:latin typeface="Times New Roman" pitchFamily="34" charset="0"/>
                <a:ea typeface="Times New Roman" pitchFamily="34" charset="-122"/>
                <a:cs typeface="Times New Roman" pitchFamily="34" charset="-120"/>
              </a:rPr>
              <a:t>FEASIBILITY AND VIABILITY</a:t>
            </a:r>
            <a:endParaRPr lang="en-US" sz="3200" dirty="0"/>
          </a:p>
        </p:txBody>
      </p:sp>
      <p:sp>
        <p:nvSpPr>
          <p:cNvPr id="4" name="Panel 166"/>
          <p:cNvSpPr/>
          <p:nvPr/>
        </p:nvSpPr>
        <p:spPr>
          <a:xfrm>
            <a:off x="256032" y="932688"/>
            <a:ext cx="5748376" cy="1993392"/>
          </a:xfrm>
          <a:prstGeom prst="roundRect">
            <a:avLst>
              <a:gd name="adj" fmla="val 5505"/>
            </a:avLst>
          </a:prstGeom>
          <a:solidFill>
            <a:schemeClr val="bg1"/>
          </a:solidFill>
          <a:ln w="31750">
            <a:solidFill>
              <a:srgbClr val="0B3C6F"/>
            </a:solidFill>
            <a:prstDash val="solid"/>
          </a:ln>
        </p:spPr>
      </p:sp>
      <p:sp>
        <p:nvSpPr>
          <p:cNvPr id="5" name="Heading 167"/>
          <p:cNvSpPr txBox="1"/>
          <p:nvPr/>
        </p:nvSpPr>
        <p:spPr>
          <a:xfrm>
            <a:off x="402336" y="996696"/>
            <a:ext cx="5455768" cy="365760"/>
          </a:xfrm>
          <a:prstGeom prst="rect">
            <a:avLst/>
          </a:prstGeom>
          <a:noFill/>
          <a:ln/>
        </p:spPr>
        <p:txBody>
          <a:bodyPr wrap="square" lIns="0" tIns="0" rIns="0" bIns="0" rtlCol="0" anchor="ctr"/>
          <a:lstStyle/>
          <a:p>
            <a:pPr indent="0" marL="0">
              <a:buNone/>
            </a:pPr>
            <a:r>
              <a:rPr lang="en-US" sz="1700" b="1" dirty="0">
                <a:solidFill>
                  <a:schemeClr val="tx2"/>
                </a:solidFill>
                <a:latin typeface="Montserrat" pitchFamily="34" charset="0"/>
                <a:ea typeface="Montserrat" pitchFamily="34" charset="-122"/>
                <a:cs typeface="Montserrat" pitchFamily="34" charset="-120"/>
              </a:rPr>
              <a:t>FEASIBILITY</a:t>
            </a:r>
            <a:endParaRPr lang="en-US" sz="1700" dirty="0"/>
          </a:p>
        </p:txBody>
      </p:sp>
      <p:pic>
        <p:nvPicPr>
          <p:cNvPr id="6" name="Icon 168 code" descr="D:\Projects\12. project\ppt\images\icons\code-navy.png">    </p:cNvPr>
          <p:cNvPicPr>
            <a:picLocks noChangeAspect="1"/>
          </p:cNvPicPr>
          <p:nvPr/>
        </p:nvPicPr>
        <p:blipFill>
          <a:blip r:embed="rId1"/>
          <a:stretch>
            <a:fillRect/>
          </a:stretch>
        </p:blipFill>
        <p:spPr>
          <a:xfrm>
            <a:off x="420624" y="1435608"/>
            <a:ext cx="329184" cy="329184"/>
          </a:xfrm>
          <a:prstGeom prst="rect">
            <a:avLst/>
          </a:prstGeom>
        </p:spPr>
      </p:pic>
      <p:sp>
        <p:nvSpPr>
          <p:cNvPr id="7" name="Text 169"/>
          <p:cNvSpPr txBox="1"/>
          <p:nvPr/>
        </p:nvSpPr>
        <p:spPr>
          <a:xfrm>
            <a:off x="859536" y="1408176"/>
            <a:ext cx="4980280" cy="445008"/>
          </a:xfrm>
          <a:prstGeom prst="rect">
            <a:avLst/>
          </a:prstGeom>
          <a:noFill/>
          <a:ln/>
        </p:spPr>
        <p:txBody>
          <a:bodyPr wrap="square" lIns="0" tIns="0" rIns="0" bIns="0" rtlCol="0" anchor="t"/>
          <a:lstStyle/>
          <a:p>
            <a:pPr indent="0" marL="0">
              <a:buNone/>
            </a:pPr>
            <a:r>
              <a:rPr lang="en-US" sz="1050" b="1" dirty="0">
                <a:solidFill>
                  <a:schemeClr val="tx2"/>
                </a:solidFill>
                <a:latin typeface="Montserrat" pitchFamily="34" charset="0"/>
                <a:ea typeface="Montserrat" pitchFamily="34" charset="-122"/>
                <a:cs typeface="Montserrat" pitchFamily="34" charset="-120"/>
              </a:rPr>
              <a:t>Technical: </a:t>
            </a:r>
            <a:pPr indent="0" marL="0">
              <a:buNone/>
            </a:pPr>
            <a:r>
              <a:rPr lang="en-US" sz="1000" dirty="0">
                <a:solidFill>
                  <a:schemeClr val="tx1"/>
                </a:solidFill>
                <a:latin typeface="Montserrat" pitchFamily="34" charset="0"/>
                <a:ea typeface="Montserrat" pitchFamily="34" charset="-122"/>
                <a:cs typeface="Montserrat" pitchFamily="34" charset="-120"/>
              </a:rPr>
              <a:t>it is built. 457 tests on every build, 60.1 fps, a hazard re-planned in 31 to 40 ms, detector AP@50 0.995 on a held-out split.</a:t>
            </a:r>
            <a:endParaRPr lang="en-US" sz="1000" dirty="0"/>
          </a:p>
        </p:txBody>
      </p:sp>
      <p:pic>
        <p:nvPicPr>
          <p:cNvPr id="8" name="Icon 170 coins" descr="D:\Projects\12. project\ppt\images\icons\coins-green.png">    </p:cNvPr>
          <p:cNvPicPr>
            <a:picLocks noChangeAspect="1"/>
          </p:cNvPicPr>
          <p:nvPr/>
        </p:nvPicPr>
        <p:blipFill>
          <a:blip r:embed="rId2"/>
          <a:stretch>
            <a:fillRect/>
          </a:stretch>
        </p:blipFill>
        <p:spPr>
          <a:xfrm>
            <a:off x="420624" y="1917192"/>
            <a:ext cx="329184" cy="329184"/>
          </a:xfrm>
          <a:prstGeom prst="rect">
            <a:avLst/>
          </a:prstGeom>
        </p:spPr>
      </p:pic>
      <p:sp>
        <p:nvSpPr>
          <p:cNvPr id="9" name="Text 171"/>
          <p:cNvSpPr txBox="1"/>
          <p:nvPr/>
        </p:nvSpPr>
        <p:spPr>
          <a:xfrm>
            <a:off x="859536" y="1889760"/>
            <a:ext cx="4980280" cy="445008"/>
          </a:xfrm>
          <a:prstGeom prst="rect">
            <a:avLst/>
          </a:prstGeom>
          <a:noFill/>
          <a:ln/>
        </p:spPr>
        <p:txBody>
          <a:bodyPr wrap="square" lIns="0" tIns="0" rIns="0" bIns="0" rtlCol="0" anchor="t"/>
          <a:lstStyle/>
          <a:p>
            <a:pPr indent="0" marL="0">
              <a:buNone/>
            </a:pPr>
            <a:r>
              <a:rPr lang="en-US" sz="1050" b="1" dirty="0">
                <a:solidFill>
                  <a:schemeClr val="accent4"/>
                </a:solidFill>
                <a:latin typeface="Montserrat" pitchFamily="34" charset="0"/>
                <a:ea typeface="Montserrat" pitchFamily="34" charset="-122"/>
                <a:cs typeface="Montserrat" pitchFamily="34" charset="-120"/>
              </a:rPr>
              <a:t>Financial: </a:t>
            </a:r>
            <a:pPr indent="0" marL="0">
              <a:buNone/>
            </a:pPr>
            <a:r>
              <a:rPr lang="en-US" sz="1000" dirty="0">
                <a:solidFill>
                  <a:schemeClr val="tx1"/>
                </a:solidFill>
                <a:latin typeface="Montserrat" pitchFamily="34" charset="0"/>
                <a:ea typeface="Montserrat" pitchFamily="34" charset="-122"/>
                <a:cs typeface="Montserrat" pitchFamily="34" charset="-120"/>
              </a:rPr>
              <a:t>no GPU and no model server. The detector and the solver run in the browser; the one outside call is to a language model.</a:t>
            </a:r>
            <a:endParaRPr lang="en-US" sz="1000" dirty="0"/>
          </a:p>
        </p:txBody>
      </p:sp>
      <p:pic>
        <p:nvPicPr>
          <p:cNvPr id="10" name="Icon 172 desktop" descr="D:\Projects\12. project\ppt\images\icons\desktop-purple.png">    </p:cNvPr>
          <p:cNvPicPr>
            <a:picLocks noChangeAspect="1"/>
          </p:cNvPicPr>
          <p:nvPr/>
        </p:nvPicPr>
        <p:blipFill>
          <a:blip r:embed="rId3"/>
          <a:stretch>
            <a:fillRect/>
          </a:stretch>
        </p:blipFill>
        <p:spPr>
          <a:xfrm>
            <a:off x="420624" y="2398776"/>
            <a:ext cx="329184" cy="329184"/>
          </a:xfrm>
          <a:prstGeom prst="rect">
            <a:avLst/>
          </a:prstGeom>
        </p:spPr>
      </p:pic>
      <p:sp>
        <p:nvSpPr>
          <p:cNvPr id="11" name="Text 173"/>
          <p:cNvSpPr txBox="1"/>
          <p:nvPr/>
        </p:nvSpPr>
        <p:spPr>
          <a:xfrm>
            <a:off x="859536" y="2371344"/>
            <a:ext cx="4980280" cy="445008"/>
          </a:xfrm>
          <a:prstGeom prst="rect">
            <a:avLst/>
          </a:prstGeom>
          <a:noFill/>
          <a:ln/>
        </p:spPr>
        <p:txBody>
          <a:bodyPr wrap="square" lIns="0" tIns="0" rIns="0" bIns="0" rtlCol="0" anchor="t"/>
          <a:lstStyle/>
          <a:p>
            <a:pPr indent="0" marL="0">
              <a:buNone/>
            </a:pPr>
            <a:r>
              <a:rPr lang="en-US" sz="1050" b="1" dirty="0">
                <a:solidFill>
                  <a:schemeClr val="accent5"/>
                </a:solidFill>
                <a:latin typeface="Montserrat" pitchFamily="34" charset="0"/>
                <a:ea typeface="Montserrat" pitchFamily="34" charset="-122"/>
                <a:cs typeface="Montserrat" pitchFamily="34" charset="-120"/>
              </a:rPr>
              <a:t>Operational: </a:t>
            </a:r>
            <a:pPr indent="0" marL="0">
              <a:buNone/>
            </a:pPr>
            <a:r>
              <a:rPr lang="en-US" sz="1000" dirty="0">
                <a:solidFill>
                  <a:schemeClr val="tx1"/>
                </a:solidFill>
                <a:latin typeface="Montserrat" pitchFamily="34" charset="0"/>
                <a:ea typeface="Montserrat" pitchFamily="34" charset="-122"/>
                <a:cs typeface="Montserrat" pitchFamily="34" charset="-120"/>
              </a:rPr>
              <a:t>one view in any modern browser. It is built to sit beside existing SCADA: the simulator is the one part to replace.</a:t>
            </a:r>
            <a:endParaRPr lang="en-US" sz="1000" dirty="0"/>
          </a:p>
        </p:txBody>
      </p:sp>
      <p:sp>
        <p:nvSpPr>
          <p:cNvPr id="12" name="Panel 174"/>
          <p:cNvSpPr/>
          <p:nvPr/>
        </p:nvSpPr>
        <p:spPr>
          <a:xfrm>
            <a:off x="6187288" y="932688"/>
            <a:ext cx="5748376" cy="1993392"/>
          </a:xfrm>
          <a:prstGeom prst="roundRect">
            <a:avLst>
              <a:gd name="adj" fmla="val 5505"/>
            </a:avLst>
          </a:prstGeom>
          <a:solidFill>
            <a:schemeClr val="bg1"/>
          </a:solidFill>
          <a:ln w="31750">
            <a:solidFill>
              <a:srgbClr val="0B3C6F"/>
            </a:solidFill>
            <a:prstDash val="solid"/>
          </a:ln>
        </p:spPr>
      </p:sp>
      <p:sp>
        <p:nvSpPr>
          <p:cNvPr id="13" name="Heading 175"/>
          <p:cNvSpPr txBox="1"/>
          <p:nvPr/>
        </p:nvSpPr>
        <p:spPr>
          <a:xfrm>
            <a:off x="6333592" y="996696"/>
            <a:ext cx="5455768" cy="365760"/>
          </a:xfrm>
          <a:prstGeom prst="rect">
            <a:avLst/>
          </a:prstGeom>
          <a:noFill/>
          <a:ln/>
        </p:spPr>
        <p:txBody>
          <a:bodyPr wrap="square" lIns="0" tIns="0" rIns="0" bIns="0" rtlCol="0" anchor="ctr"/>
          <a:lstStyle/>
          <a:p>
            <a:pPr indent="0" marL="0">
              <a:buNone/>
            </a:pPr>
            <a:r>
              <a:rPr lang="en-US" sz="1700" b="1" dirty="0">
                <a:solidFill>
                  <a:schemeClr val="tx2"/>
                </a:solidFill>
                <a:latin typeface="Montserrat" pitchFamily="34" charset="0"/>
                <a:ea typeface="Montserrat" pitchFamily="34" charset="-122"/>
                <a:cs typeface="Montserrat" pitchFamily="34" charset="-120"/>
              </a:rPr>
              <a:t>VIABILITY</a:t>
            </a:r>
            <a:endParaRPr lang="en-US" sz="1700" dirty="0"/>
          </a:p>
        </p:txBody>
      </p:sp>
      <p:pic>
        <p:nvPicPr>
          <p:cNvPr id="14" name="Icon 176 users" descr="D:\Projects\12. project\ppt\images\icons\users-navy.png">    </p:cNvPr>
          <p:cNvPicPr>
            <a:picLocks noChangeAspect="1"/>
          </p:cNvPicPr>
          <p:nvPr/>
        </p:nvPicPr>
        <p:blipFill>
          <a:blip r:embed="rId4"/>
          <a:stretch>
            <a:fillRect/>
          </a:stretch>
        </p:blipFill>
        <p:spPr>
          <a:xfrm>
            <a:off x="6351880" y="1435608"/>
            <a:ext cx="329184" cy="329184"/>
          </a:xfrm>
          <a:prstGeom prst="rect">
            <a:avLst/>
          </a:prstGeom>
        </p:spPr>
      </p:pic>
      <p:sp>
        <p:nvSpPr>
          <p:cNvPr id="15" name="Text 177"/>
          <p:cNvSpPr txBox="1"/>
          <p:nvPr/>
        </p:nvSpPr>
        <p:spPr>
          <a:xfrm>
            <a:off x="6790792" y="1408176"/>
            <a:ext cx="4980280" cy="445008"/>
          </a:xfrm>
          <a:prstGeom prst="rect">
            <a:avLst/>
          </a:prstGeom>
          <a:noFill/>
          <a:ln/>
        </p:spPr>
        <p:txBody>
          <a:bodyPr wrap="square" lIns="0" tIns="0" rIns="0" bIns="0" rtlCol="0" anchor="t"/>
          <a:lstStyle/>
          <a:p>
            <a:pPr indent="0" marL="0">
              <a:buNone/>
            </a:pPr>
            <a:r>
              <a:rPr lang="en-US" sz="1050" b="1" dirty="0">
                <a:solidFill>
                  <a:schemeClr val="tx2"/>
                </a:solidFill>
                <a:latin typeface="Montserrat" pitchFamily="34" charset="0"/>
                <a:ea typeface="Montserrat" pitchFamily="34" charset="-122"/>
                <a:cs typeface="Montserrat" pitchFamily="34" charset="-120"/>
              </a:rPr>
              <a:t>Adoption: </a:t>
            </a:r>
            <a:pPr indent="0" marL="0">
              <a:buNone/>
            </a:pPr>
            <a:r>
              <a:rPr lang="en-US" sz="1000" dirty="0">
                <a:solidFill>
                  <a:schemeClr val="tx1"/>
                </a:solidFill>
                <a:latin typeface="Montserrat" pitchFamily="34" charset="0"/>
                <a:ea typeface="Montserrat" pitchFamily="34" charset="-122"/>
                <a:cs typeface="Montserrat" pitchFamily="34" charset="-120"/>
              </a:rPr>
              <a:t>for O&amp;M contractors and plant owners. Nothing to install, and every figure is in MWh and in rupees at the plant’s own tariff.</a:t>
            </a:r>
            <a:endParaRPr lang="en-US" sz="1000" dirty="0"/>
          </a:p>
        </p:txBody>
      </p:sp>
      <p:pic>
        <p:nvPicPr>
          <p:cNvPr id="16" name="Icon 178 calendar" descr="D:\Projects\12. project\ppt\images\icons\calendar-green.png">    </p:cNvPr>
          <p:cNvPicPr>
            <a:picLocks noChangeAspect="1"/>
          </p:cNvPicPr>
          <p:nvPr/>
        </p:nvPicPr>
        <p:blipFill>
          <a:blip r:embed="rId5"/>
          <a:stretch>
            <a:fillRect/>
          </a:stretch>
        </p:blipFill>
        <p:spPr>
          <a:xfrm>
            <a:off x="6351880" y="1917192"/>
            <a:ext cx="329184" cy="329184"/>
          </a:xfrm>
          <a:prstGeom prst="rect">
            <a:avLst/>
          </a:prstGeom>
        </p:spPr>
      </p:pic>
      <p:sp>
        <p:nvSpPr>
          <p:cNvPr id="17" name="Text 179"/>
          <p:cNvSpPr txBox="1"/>
          <p:nvPr/>
        </p:nvSpPr>
        <p:spPr>
          <a:xfrm>
            <a:off x="6790792" y="1889760"/>
            <a:ext cx="4980280" cy="445008"/>
          </a:xfrm>
          <a:prstGeom prst="rect">
            <a:avLst/>
          </a:prstGeom>
          <a:noFill/>
          <a:ln/>
        </p:spPr>
        <p:txBody>
          <a:bodyPr wrap="square" lIns="0" tIns="0" rIns="0" bIns="0" rtlCol="0" anchor="t"/>
          <a:lstStyle/>
          <a:p>
            <a:pPr indent="0" marL="0">
              <a:buNone/>
            </a:pPr>
            <a:r>
              <a:rPr lang="en-US" sz="1050" b="1" dirty="0">
                <a:solidFill>
                  <a:schemeClr val="accent4"/>
                </a:solidFill>
                <a:latin typeface="Montserrat" pitchFamily="34" charset="0"/>
                <a:ea typeface="Montserrat" pitchFamily="34" charset="-122"/>
                <a:cs typeface="Montserrat" pitchFamily="34" charset="-120"/>
              </a:rPr>
              <a:t>Sustained: </a:t>
            </a:r>
            <a:pPr indent="0" marL="0">
              <a:buNone/>
            </a:pPr>
            <a:r>
              <a:rPr lang="en-US" sz="1000" dirty="0">
                <a:solidFill>
                  <a:schemeClr val="tx1"/>
                </a:solidFill>
                <a:latin typeface="Montserrat" pitchFamily="34" charset="0"/>
                <a:ea typeface="Montserrat" pitchFamily="34" charset="-122"/>
                <a:cs typeface="Montserrat" pitchFamily="34" charset="-120"/>
              </a:rPr>
              <a:t>a build gate of 16 invariants fails the build, not the demo, if a number drifts. The same input always gives the same site.</a:t>
            </a:r>
            <a:endParaRPr lang="en-US" sz="1000" dirty="0"/>
          </a:p>
        </p:txBody>
      </p:sp>
      <p:pic>
        <p:nvPicPr>
          <p:cNvPr id="18" name="Icon 180 puzzle" descr="D:\Projects\12. project\ppt\images\icons\puzzle-purple.png">    </p:cNvPr>
          <p:cNvPicPr>
            <a:picLocks noChangeAspect="1"/>
          </p:cNvPicPr>
          <p:nvPr/>
        </p:nvPicPr>
        <p:blipFill>
          <a:blip r:embed="rId6"/>
          <a:stretch>
            <a:fillRect/>
          </a:stretch>
        </p:blipFill>
        <p:spPr>
          <a:xfrm>
            <a:off x="6351880" y="2398776"/>
            <a:ext cx="329184" cy="329184"/>
          </a:xfrm>
          <a:prstGeom prst="rect">
            <a:avLst/>
          </a:prstGeom>
        </p:spPr>
      </p:pic>
      <p:sp>
        <p:nvSpPr>
          <p:cNvPr id="19" name="Text 181"/>
          <p:cNvSpPr txBox="1"/>
          <p:nvPr/>
        </p:nvSpPr>
        <p:spPr>
          <a:xfrm>
            <a:off x="6790792" y="2371344"/>
            <a:ext cx="4980280" cy="445008"/>
          </a:xfrm>
          <a:prstGeom prst="rect">
            <a:avLst/>
          </a:prstGeom>
          <a:noFill/>
          <a:ln/>
        </p:spPr>
        <p:txBody>
          <a:bodyPr wrap="square" lIns="0" tIns="0" rIns="0" bIns="0" rtlCol="0" anchor="t"/>
          <a:lstStyle/>
          <a:p>
            <a:pPr indent="0" marL="0">
              <a:buNone/>
            </a:pPr>
            <a:r>
              <a:rPr lang="en-US" sz="1050" b="1" dirty="0">
                <a:solidFill>
                  <a:schemeClr val="accent5"/>
                </a:solidFill>
                <a:latin typeface="Montserrat" pitchFamily="34" charset="0"/>
                <a:ea typeface="Montserrat" pitchFamily="34" charset="-122"/>
                <a:cs typeface="Montserrat" pitchFamily="34" charset="-120"/>
              </a:rPr>
              <a:t>Grows: </a:t>
            </a:r>
            <a:pPr indent="0" marL="0">
              <a:buNone/>
            </a:pPr>
            <a:r>
              <a:rPr lang="en-US" sz="1000" dirty="0">
                <a:solidFill>
                  <a:schemeClr val="tx1"/>
                </a:solidFill>
                <a:latin typeface="Montserrat" pitchFamily="34" charset="0"/>
                <a:ea typeface="Montserrat" pitchFamily="34" charset="-122"/>
                <a:cs typeface="Montserrat" pitchFamily="34" charset="-120"/>
              </a:rPr>
              <a:t>every array is evaluated by the same function, so a larger plant is more rows, not a new design. Tested to 120 arrays.</a:t>
            </a:r>
            <a:endParaRPr lang="en-US" sz="1000" dirty="0"/>
          </a:p>
        </p:txBody>
      </p:sp>
      <p:sp>
        <p:nvSpPr>
          <p:cNvPr id="20" name="Panel 182"/>
          <p:cNvSpPr/>
          <p:nvPr/>
        </p:nvSpPr>
        <p:spPr>
          <a:xfrm>
            <a:off x="256032" y="3072384"/>
            <a:ext cx="5748376" cy="3328416"/>
          </a:xfrm>
          <a:prstGeom prst="roundRect">
            <a:avLst>
              <a:gd name="adj" fmla="val 3297"/>
            </a:avLst>
          </a:prstGeom>
          <a:solidFill>
            <a:schemeClr val="bg1"/>
          </a:solidFill>
          <a:ln w="31750">
            <a:solidFill>
              <a:srgbClr val="B8322A"/>
            </a:solidFill>
            <a:prstDash val="solid"/>
          </a:ln>
        </p:spPr>
      </p:sp>
      <p:sp>
        <p:nvSpPr>
          <p:cNvPr id="21" name="Heading 183"/>
          <p:cNvSpPr txBox="1"/>
          <p:nvPr/>
        </p:nvSpPr>
        <p:spPr>
          <a:xfrm>
            <a:off x="402336" y="3136392"/>
            <a:ext cx="5455768" cy="365760"/>
          </a:xfrm>
          <a:prstGeom prst="rect">
            <a:avLst/>
          </a:prstGeom>
          <a:noFill/>
          <a:ln/>
        </p:spPr>
        <p:txBody>
          <a:bodyPr wrap="square" lIns="0" tIns="0" rIns="0" bIns="0" rtlCol="0" anchor="ctr"/>
          <a:lstStyle/>
          <a:p>
            <a:pPr indent="0" marL="0">
              <a:buNone/>
            </a:pPr>
            <a:r>
              <a:rPr lang="en-US" sz="1700" b="1" dirty="0">
                <a:solidFill>
                  <a:schemeClr val="accent3"/>
                </a:solidFill>
                <a:latin typeface="Montserrat" pitchFamily="34" charset="0"/>
                <a:ea typeface="Montserrat" pitchFamily="34" charset="-122"/>
                <a:cs typeface="Montserrat" pitchFamily="34" charset="-120"/>
              </a:rPr>
              <a:t>POTENTIAL CHALLENGES AND RISKS</a:t>
            </a:r>
            <a:endParaRPr lang="en-US" sz="1700" dirty="0"/>
          </a:p>
        </p:txBody>
      </p:sp>
      <p:sp>
        <p:nvSpPr>
          <p:cNvPr id="22" name="Panel 184"/>
          <p:cNvSpPr/>
          <p:nvPr/>
        </p:nvSpPr>
        <p:spPr>
          <a:xfrm>
            <a:off x="6187288" y="3072384"/>
            <a:ext cx="5748376" cy="3328416"/>
          </a:xfrm>
          <a:prstGeom prst="roundRect">
            <a:avLst>
              <a:gd name="adj" fmla="val 3297"/>
            </a:avLst>
          </a:prstGeom>
          <a:solidFill>
            <a:schemeClr val="bg1"/>
          </a:solidFill>
          <a:ln w="31750">
            <a:solidFill>
              <a:srgbClr val="2E7D32"/>
            </a:solidFill>
            <a:prstDash val="solid"/>
          </a:ln>
        </p:spPr>
      </p:sp>
      <p:sp>
        <p:nvSpPr>
          <p:cNvPr id="23" name="Heading 185"/>
          <p:cNvSpPr txBox="1"/>
          <p:nvPr/>
        </p:nvSpPr>
        <p:spPr>
          <a:xfrm>
            <a:off x="6333592" y="3136392"/>
            <a:ext cx="5455768" cy="365760"/>
          </a:xfrm>
          <a:prstGeom prst="rect">
            <a:avLst/>
          </a:prstGeom>
          <a:noFill/>
          <a:ln/>
        </p:spPr>
        <p:txBody>
          <a:bodyPr wrap="square" lIns="0" tIns="0" rIns="0" bIns="0" rtlCol="0" anchor="ctr"/>
          <a:lstStyle/>
          <a:p>
            <a:pPr indent="0" marL="0">
              <a:buNone/>
            </a:pPr>
            <a:r>
              <a:rPr lang="en-US" sz="1700" b="1" dirty="0">
                <a:solidFill>
                  <a:schemeClr val="accent4"/>
                </a:solidFill>
                <a:latin typeface="Montserrat" pitchFamily="34" charset="0"/>
                <a:ea typeface="Montserrat" pitchFamily="34" charset="-122"/>
                <a:cs typeface="Montserrat" pitchFamily="34" charset="-120"/>
              </a:rPr>
              <a:t>HOW WE ADDRESSED THEM</a:t>
            </a:r>
            <a:endParaRPr lang="en-US" sz="1700" dirty="0"/>
          </a:p>
        </p:txBody>
      </p:sp>
      <p:sp>
        <p:nvSpPr>
          <p:cNvPr id="24" name="Text 186"/>
          <p:cNvSpPr txBox="1"/>
          <p:nvPr/>
        </p:nvSpPr>
        <p:spPr>
          <a:xfrm>
            <a:off x="438912" y="3547872"/>
            <a:ext cx="5382616" cy="515722"/>
          </a:xfrm>
          <a:prstGeom prst="rect">
            <a:avLst/>
          </a:prstGeom>
          <a:noFill/>
          <a:ln/>
        </p:spPr>
        <p:txBody>
          <a:bodyPr wrap="square" lIns="0" tIns="0" rIns="0" bIns="0" rtlCol="0" anchor="ctr"/>
          <a:lstStyle/>
          <a:p>
            <a:pPr marL="127000" indent="-127000">
              <a:buSzPct val="100000"/>
              <a:buChar char="•"/>
            </a:pPr>
            <a:r>
              <a:rPr lang="en-US" sz="950" b="1" dirty="0">
                <a:solidFill>
                  <a:schemeClr val="tx1"/>
                </a:solidFill>
                <a:latin typeface="Montserrat" pitchFamily="34" charset="0"/>
                <a:ea typeface="Montserrat" pitchFamily="34" charset="-122"/>
                <a:cs typeface="Montserrat" pitchFamily="34" charset="-120"/>
              </a:rPr>
              <a:t>The telemetry is simulated, not from a real plant. </a:t>
            </a:r>
            <a:pPr indent="0" marL="0">
              <a:buNone/>
            </a:pPr>
            <a:r>
              <a:rPr lang="en-US" sz="950" dirty="0">
                <a:solidFill>
                  <a:schemeClr val="tx1"/>
                </a:solidFill>
                <a:latin typeface="Montserrat" pitchFamily="34" charset="0"/>
                <a:ea typeface="Montserrat" pitchFamily="34" charset="-122"/>
                <a:cs typeface="Montserrat" pitchFamily="34" charset="-120"/>
              </a:rPr>
              <a:t>There is no live site behind the prototype.</a:t>
            </a:r>
            <a:endParaRPr lang="en-US" sz="950" dirty="0"/>
          </a:p>
        </p:txBody>
      </p:sp>
      <p:sp>
        <p:nvSpPr>
          <p:cNvPr id="25" name="Text 187"/>
          <p:cNvSpPr txBox="1"/>
          <p:nvPr/>
        </p:nvSpPr>
        <p:spPr>
          <a:xfrm>
            <a:off x="6370168" y="3547872"/>
            <a:ext cx="5382616" cy="515722"/>
          </a:xfrm>
          <a:prstGeom prst="rect">
            <a:avLst/>
          </a:prstGeom>
          <a:noFill/>
          <a:ln/>
        </p:spPr>
        <p:txBody>
          <a:bodyPr wrap="square" lIns="0" tIns="0" rIns="0" bIns="0" rtlCol="0" anchor="ctr"/>
          <a:lstStyle/>
          <a:p>
            <a:pPr marL="127000" indent="-127000">
              <a:buSzPct val="100000"/>
              <a:buChar char="•"/>
            </a:pPr>
            <a:r>
              <a:rPr lang="en-US" sz="950" b="1" dirty="0">
                <a:solidFill>
                  <a:schemeClr val="tx1"/>
                </a:solidFill>
                <a:latin typeface="Montserrat" pitchFamily="34" charset="0"/>
                <a:ea typeface="Montserrat" pitchFamily="34" charset="-122"/>
                <a:cs typeface="Montserrat" pitchFamily="34" charset="-120"/>
              </a:rPr>
              <a:t>Every coefficient is stated </a:t>
            </a:r>
            <a:pPr indent="0" marL="0">
              <a:buNone/>
            </a:pPr>
            <a:r>
              <a:rPr lang="en-US" sz="950" dirty="0">
                <a:solidFill>
                  <a:schemeClr val="tx1"/>
                </a:solidFill>
                <a:latin typeface="Montserrat" pitchFamily="34" charset="0"/>
                <a:ea typeface="Montserrat" pitchFamily="34" charset="-122"/>
                <a:cs typeface="Montserrat" pitchFamily="34" charset="-120"/>
              </a:rPr>
              <a:t>and the equations are NREL PVWatts. The browser model is tested against the Python on every build.</a:t>
            </a:r>
            <a:endParaRPr lang="en-US" sz="950" dirty="0"/>
          </a:p>
        </p:txBody>
      </p:sp>
      <p:sp>
        <p:nvSpPr>
          <p:cNvPr id="26" name="Text 188"/>
          <p:cNvSpPr txBox="1"/>
          <p:nvPr/>
        </p:nvSpPr>
        <p:spPr>
          <a:xfrm>
            <a:off x="438912" y="4100170"/>
            <a:ext cx="5382616" cy="515722"/>
          </a:xfrm>
          <a:prstGeom prst="rect">
            <a:avLst/>
          </a:prstGeom>
          <a:noFill/>
          <a:ln/>
        </p:spPr>
        <p:txBody>
          <a:bodyPr wrap="square" lIns="0" tIns="0" rIns="0" bIns="0" rtlCol="0" anchor="ctr"/>
          <a:lstStyle/>
          <a:p>
            <a:pPr marL="127000" indent="-127000">
              <a:buSzPct val="100000"/>
              <a:buChar char="•"/>
            </a:pPr>
            <a:r>
              <a:rPr lang="en-US" sz="950" b="1" dirty="0">
                <a:solidFill>
                  <a:schemeClr val="tx1"/>
                </a:solidFill>
                <a:latin typeface="Montserrat" pitchFamily="34" charset="0"/>
                <a:ea typeface="Montserrat" pitchFamily="34" charset="-122"/>
                <a:cs typeface="Montserrat" pitchFamily="34" charset="-120"/>
              </a:rPr>
              <a:t>A language model can invent a number, or be rate-limited on the day. </a:t>
            </a:r>
            <a:pPr indent="0" marL="0">
              <a:buNone/>
            </a:pPr>
            <a:r>
              <a:rPr lang="en-US" sz="950" dirty="0">
                <a:solidFill>
                  <a:schemeClr val="tx1"/>
                </a:solidFill>
                <a:latin typeface="Montserrat" pitchFamily="34" charset="0"/>
                <a:ea typeface="Montserrat" pitchFamily="34" charset="-122"/>
                <a:cs typeface="Montserrat" pitchFamily="34" charset="-120"/>
              </a:rPr>
              <a:t>It is the one outside service we depend on.</a:t>
            </a:r>
            <a:endParaRPr lang="en-US" sz="950" dirty="0"/>
          </a:p>
        </p:txBody>
      </p:sp>
      <p:sp>
        <p:nvSpPr>
          <p:cNvPr id="27" name="Text 189"/>
          <p:cNvSpPr txBox="1"/>
          <p:nvPr/>
        </p:nvSpPr>
        <p:spPr>
          <a:xfrm>
            <a:off x="6370168" y="4100170"/>
            <a:ext cx="5382616" cy="515722"/>
          </a:xfrm>
          <a:prstGeom prst="rect">
            <a:avLst/>
          </a:prstGeom>
          <a:noFill/>
          <a:ln/>
        </p:spPr>
        <p:txBody>
          <a:bodyPr wrap="square" lIns="0" tIns="0" rIns="0" bIns="0" rtlCol="0" anchor="ctr"/>
          <a:lstStyle/>
          <a:p>
            <a:pPr marL="127000" indent="-127000">
              <a:buSzPct val="100000"/>
              <a:buChar char="•"/>
            </a:pPr>
            <a:r>
              <a:rPr lang="en-US" sz="950" b="1" dirty="0">
                <a:solidFill>
                  <a:schemeClr val="tx1"/>
                </a:solidFill>
                <a:latin typeface="Montserrat" pitchFamily="34" charset="0"/>
                <a:ea typeface="Montserrat" pitchFamily="34" charset="-122"/>
                <a:cs typeface="Montserrat" pitchFamily="34" charset="-120"/>
              </a:rPr>
              <a:t>It writes words, never numbers. </a:t>
            </a:r>
            <a:pPr indent="0" marL="0">
              <a:buNone/>
            </a:pPr>
            <a:r>
              <a:rPr lang="en-US" sz="950" dirty="0">
                <a:solidFill>
                  <a:schemeClr val="tx1"/>
                </a:solidFill>
                <a:latin typeface="Montserrat" pitchFamily="34" charset="0"/>
                <a:ea typeface="Montserrat" pitchFamily="34" charset="-122"/>
                <a:cs typeface="Montserrat" pitchFamily="34" charset="-120"/>
              </a:rPr>
              <a:t>The server recomputes every fact and rejects a reply that disagrees. Without it, the rest still works.</a:t>
            </a:r>
            <a:endParaRPr lang="en-US" sz="950" dirty="0"/>
          </a:p>
        </p:txBody>
      </p:sp>
      <p:sp>
        <p:nvSpPr>
          <p:cNvPr id="28" name="Text 190"/>
          <p:cNvSpPr txBox="1"/>
          <p:nvPr/>
        </p:nvSpPr>
        <p:spPr>
          <a:xfrm>
            <a:off x="438912" y="4652467"/>
            <a:ext cx="5382616" cy="515722"/>
          </a:xfrm>
          <a:prstGeom prst="rect">
            <a:avLst/>
          </a:prstGeom>
          <a:noFill/>
          <a:ln/>
        </p:spPr>
        <p:txBody>
          <a:bodyPr wrap="square" lIns="0" tIns="0" rIns="0" bIns="0" rtlCol="0" anchor="ctr"/>
          <a:lstStyle/>
          <a:p>
            <a:pPr marL="127000" indent="-127000">
              <a:buSzPct val="100000"/>
              <a:buChar char="•"/>
            </a:pPr>
            <a:r>
              <a:rPr lang="en-US" sz="950" b="1" dirty="0">
                <a:solidFill>
                  <a:schemeClr val="tx1"/>
                </a:solidFill>
                <a:latin typeface="Montserrat" pitchFamily="34" charset="0"/>
                <a:ea typeface="Montserrat" pitchFamily="34" charset="-122"/>
                <a:cs typeface="Montserrat" pitchFamily="34" charset="-120"/>
              </a:rPr>
              <a:t>The detector learned from ground-level photographs. </a:t>
            </a:r>
            <a:pPr indent="0" marL="0">
              <a:buNone/>
            </a:pPr>
            <a:r>
              <a:rPr lang="en-US" sz="950" dirty="0">
                <a:solidFill>
                  <a:schemeClr val="tx1"/>
                </a:solidFill>
                <a:latin typeface="Montserrat" pitchFamily="34" charset="0"/>
                <a:ea typeface="Montserrat" pitchFamily="34" charset="-122"/>
                <a:cs typeface="Montserrat" pitchFamily="34" charset="-120"/>
              </a:rPr>
              <a:t>And we hold real thermal evidence for one array only.</a:t>
            </a:r>
            <a:endParaRPr lang="en-US" sz="950" dirty="0"/>
          </a:p>
        </p:txBody>
      </p:sp>
      <p:sp>
        <p:nvSpPr>
          <p:cNvPr id="29" name="Text 191"/>
          <p:cNvSpPr txBox="1"/>
          <p:nvPr/>
        </p:nvSpPr>
        <p:spPr>
          <a:xfrm>
            <a:off x="6370168" y="4652467"/>
            <a:ext cx="5382616" cy="515722"/>
          </a:xfrm>
          <a:prstGeom prst="rect">
            <a:avLst/>
          </a:prstGeom>
          <a:noFill/>
          <a:ln/>
        </p:spPr>
        <p:txBody>
          <a:bodyPr wrap="square" lIns="0" tIns="0" rIns="0" bIns="0" rtlCol="0" anchor="ctr"/>
          <a:lstStyle/>
          <a:p>
            <a:pPr marL="127000" indent="-127000">
              <a:buSzPct val="100000"/>
              <a:buChar char="•"/>
            </a:pPr>
            <a:r>
              <a:rPr lang="en-US" sz="950" b="1" dirty="0">
                <a:solidFill>
                  <a:schemeClr val="tx1"/>
                </a:solidFill>
                <a:latin typeface="Montserrat" pitchFamily="34" charset="0"/>
                <a:ea typeface="Montserrat" pitchFamily="34" charset="-122"/>
                <a:cs typeface="Montserrat" pitchFamily="34" charset="-120"/>
              </a:rPr>
              <a:t>Reported per class on a held-out split, </a:t>
            </a:r>
            <a:pPr indent="0" marL="0">
              <a:buNone/>
            </a:pPr>
            <a:r>
              <a:rPr lang="en-US" sz="950" dirty="0">
                <a:solidFill>
                  <a:schemeClr val="tx1"/>
                </a:solidFill>
                <a:latin typeface="Montserrat" pitchFamily="34" charset="0"/>
                <a:ea typeface="Montserrat" pitchFamily="34" charset="-122"/>
                <a:cs typeface="Montserrat" pitchFamily="34" charset="-120"/>
              </a:rPr>
              <a:t>and scored on the drone’s own frame: 0.89. Only B-17 is called diagnosed.</a:t>
            </a:r>
            <a:endParaRPr lang="en-US" sz="950" dirty="0"/>
          </a:p>
        </p:txBody>
      </p:sp>
      <p:sp>
        <p:nvSpPr>
          <p:cNvPr id="30" name="Text 192"/>
          <p:cNvSpPr txBox="1"/>
          <p:nvPr/>
        </p:nvSpPr>
        <p:spPr>
          <a:xfrm>
            <a:off x="438912" y="5204765"/>
            <a:ext cx="5382616" cy="515722"/>
          </a:xfrm>
          <a:prstGeom prst="rect">
            <a:avLst/>
          </a:prstGeom>
          <a:noFill/>
          <a:ln/>
        </p:spPr>
        <p:txBody>
          <a:bodyPr wrap="square" lIns="0" tIns="0" rIns="0" bIns="0" rtlCol="0" anchor="ctr"/>
          <a:lstStyle/>
          <a:p>
            <a:pPr marL="127000" indent="-127000">
              <a:buSzPct val="100000"/>
              <a:buChar char="•"/>
            </a:pPr>
            <a:r>
              <a:rPr lang="en-US" sz="950" b="1" dirty="0">
                <a:solidFill>
                  <a:schemeClr val="tx1"/>
                </a:solidFill>
                <a:latin typeface="Montserrat" pitchFamily="34" charset="0"/>
                <a:ea typeface="Montserrat" pitchFamily="34" charset="-122"/>
                <a:cs typeface="Montserrat" pitchFamily="34" charset="-120"/>
              </a:rPr>
              <a:t>An assumption can pass for a fact. </a:t>
            </a:r>
            <a:pPr indent="0" marL="0">
              <a:buNone/>
            </a:pPr>
            <a:r>
              <a:rPr lang="en-US" sz="950" dirty="0">
                <a:solidFill>
                  <a:schemeClr val="tx1"/>
                </a:solidFill>
                <a:latin typeface="Montserrat" pitchFamily="34" charset="0"/>
                <a:ea typeface="Montserrat" pitchFamily="34" charset="-122"/>
                <a:cs typeface="Montserrat" pitchFamily="34" charset="-120"/>
              </a:rPr>
              <a:t>Hazard strengths, crew hours and the forecast band are ours.</a:t>
            </a:r>
            <a:endParaRPr lang="en-US" sz="950" dirty="0"/>
          </a:p>
        </p:txBody>
      </p:sp>
      <p:sp>
        <p:nvSpPr>
          <p:cNvPr id="31" name="Text 193"/>
          <p:cNvSpPr txBox="1"/>
          <p:nvPr/>
        </p:nvSpPr>
        <p:spPr>
          <a:xfrm>
            <a:off x="6370168" y="5204765"/>
            <a:ext cx="5382616" cy="515722"/>
          </a:xfrm>
          <a:prstGeom prst="rect">
            <a:avLst/>
          </a:prstGeom>
          <a:noFill/>
          <a:ln/>
        </p:spPr>
        <p:txBody>
          <a:bodyPr wrap="square" lIns="0" tIns="0" rIns="0" bIns="0" rtlCol="0" anchor="ctr"/>
          <a:lstStyle/>
          <a:p>
            <a:pPr marL="127000" indent="-127000">
              <a:buSzPct val="100000"/>
              <a:buChar char="•"/>
            </a:pPr>
            <a:r>
              <a:rPr lang="en-US" sz="950" b="1" dirty="0">
                <a:solidFill>
                  <a:schemeClr val="tx1"/>
                </a:solidFill>
                <a:latin typeface="Montserrat" pitchFamily="34" charset="0"/>
                <a:ea typeface="Montserrat" pitchFamily="34" charset="-122"/>
                <a:cs typeface="Montserrat" pitchFamily="34" charset="-120"/>
              </a:rPr>
              <a:t>Each is labelled on screen as an assumption. </a:t>
            </a:r>
            <a:pPr indent="0" marL="0">
              <a:buNone/>
            </a:pPr>
            <a:r>
              <a:rPr lang="en-US" sz="950" dirty="0">
                <a:solidFill>
                  <a:schemeClr val="tx1"/>
                </a:solidFill>
                <a:latin typeface="Montserrat" pitchFamily="34" charset="0"/>
                <a:ea typeface="Montserrat" pitchFamily="34" charset="-122"/>
                <a:cs typeface="Montserrat" pitchFamily="34" charset="-120"/>
              </a:rPr>
              <a:t>The thermal classifier is not built, so no score is claimed for it.</a:t>
            </a:r>
            <a:endParaRPr lang="en-US" sz="950" dirty="0"/>
          </a:p>
        </p:txBody>
      </p:sp>
      <p:sp>
        <p:nvSpPr>
          <p:cNvPr id="32" name="Text 194"/>
          <p:cNvSpPr txBox="1"/>
          <p:nvPr/>
        </p:nvSpPr>
        <p:spPr>
          <a:xfrm>
            <a:off x="438912" y="5757062"/>
            <a:ext cx="5382616" cy="515722"/>
          </a:xfrm>
          <a:prstGeom prst="rect">
            <a:avLst/>
          </a:prstGeom>
          <a:noFill/>
          <a:ln/>
        </p:spPr>
        <p:txBody>
          <a:bodyPr wrap="square" lIns="0" tIns="0" rIns="0" bIns="0" rtlCol="0" anchor="ctr"/>
          <a:lstStyle/>
          <a:p>
            <a:pPr marL="127000" indent="-127000">
              <a:buSzPct val="100000"/>
              <a:buChar char="•"/>
            </a:pPr>
            <a:r>
              <a:rPr lang="en-US" sz="950" b="1" dirty="0">
                <a:solidFill>
                  <a:schemeClr val="tx1"/>
                </a:solidFill>
                <a:latin typeface="Montserrat" pitchFamily="34" charset="0"/>
                <a:ea typeface="Montserrat" pitchFamily="34" charset="-122"/>
                <a:cs typeface="Montserrat" pitchFamily="34" charset="-120"/>
              </a:rPr>
              <a:t>A weak laptop may not hold the 3D twin. </a:t>
            </a:r>
            <a:pPr indent="0" marL="0">
              <a:buNone/>
            </a:pPr>
            <a:r>
              <a:rPr lang="en-US" sz="950" dirty="0">
                <a:solidFill>
                  <a:schemeClr val="tx1"/>
                </a:solidFill>
                <a:latin typeface="Montserrat" pitchFamily="34" charset="0"/>
                <a:ea typeface="Montserrat" pitchFamily="34" charset="-122"/>
                <a:cs typeface="Montserrat" pitchFamily="34" charset="-120"/>
              </a:rPr>
              <a:t>A demo that stutters is worse than none.</a:t>
            </a:r>
            <a:endParaRPr lang="en-US" sz="950" dirty="0"/>
          </a:p>
        </p:txBody>
      </p:sp>
      <p:sp>
        <p:nvSpPr>
          <p:cNvPr id="33" name="Text 195"/>
          <p:cNvSpPr txBox="1"/>
          <p:nvPr/>
        </p:nvSpPr>
        <p:spPr>
          <a:xfrm>
            <a:off x="6370168" y="5757062"/>
            <a:ext cx="5382616" cy="515722"/>
          </a:xfrm>
          <a:prstGeom prst="rect">
            <a:avLst/>
          </a:prstGeom>
          <a:noFill/>
          <a:ln/>
        </p:spPr>
        <p:txBody>
          <a:bodyPr wrap="square" lIns="0" tIns="0" rIns="0" bIns="0" rtlCol="0" anchor="ctr"/>
          <a:lstStyle/>
          <a:p>
            <a:pPr marL="127000" indent="-127000">
              <a:buSzPct val="100000"/>
              <a:buChar char="•"/>
            </a:pPr>
            <a:r>
              <a:rPr lang="en-US" sz="950" b="1" dirty="0">
                <a:solidFill>
                  <a:schemeClr val="tx1"/>
                </a:solidFill>
                <a:latin typeface="Montserrat" pitchFamily="34" charset="0"/>
                <a:ea typeface="Montserrat" pitchFamily="34" charset="-122"/>
                <a:cs typeface="Montserrat" pitchFamily="34" charset="-120"/>
              </a:rPr>
              <a:t>A 2D map takes over by itself </a:t>
            </a:r>
            <a:pPr indent="0" marL="0">
              <a:buNone/>
            </a:pPr>
            <a:r>
              <a:rPr lang="en-US" sz="950" dirty="0">
                <a:solidFill>
                  <a:schemeClr val="tx1"/>
                </a:solidFill>
                <a:latin typeface="Montserrat" pitchFamily="34" charset="0"/>
                <a:ea typeface="Montserrat" pitchFamily="34" charset="-122"/>
                <a:cs typeface="Montserrat" pitchFamily="34" charset="-120"/>
              </a:rPr>
              <a:t>below 30 frames a second, on the same data. The detector’s AGPL licence is one script away from a permissive one.</a:t>
            </a:r>
            <a:endParaRPr lang="en-US" sz="950" dirty="0"/>
          </a:p>
        </p:txBody>
      </p:sp>
      <p:sp>
        <p:nvSpPr>
          <p:cNvPr id="25" name="Slide Number Placeholder 0"/>
          <p:cNvSpPr>
            <a:spLocks noGrp="1"/>
          </p:cNvSpPr>
          <p:nvPr>
            <p:ph type="sldNum" sz="quarter" idx="4294967295"/>
          </p:nvPr>
        </p:nvSpPr>
        <p:spPr>
          <a:xfrm>
            <a:off x="11277295" y="6528816"/>
            <a:ext cx="64008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Montserrat"/>
                <a:ea typeface="Montserrat"/>
                <a:cs typeface="Montserra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2103120" y="91440"/>
            <a:ext cx="7345375" cy="731520"/>
          </a:xfrm>
          <a:prstGeom prst="rect">
            <a:avLst/>
          </a:prstGeom>
          <a:noFill/>
          <a:ln/>
        </p:spPr>
        <p:txBody>
          <a:bodyPr wrap="square" lIns="0" tIns="0" rIns="0" bIns="0" rtlCol="0" anchor="ctr"/>
          <a:lstStyle/>
          <a:p>
            <a:pPr algn="ctr" indent="0" marL="0">
              <a:buNone/>
            </a:pPr>
            <a:r>
              <a:rPr lang="en-US" sz="3200" b="1" dirty="0">
                <a:solidFill>
                  <a:schemeClr val="tx1"/>
                </a:solidFill>
                <a:latin typeface="Times New Roman" pitchFamily="34" charset="0"/>
                <a:ea typeface="Times New Roman" pitchFamily="34" charset="-122"/>
                <a:cs typeface="Times New Roman" pitchFamily="34" charset="-120"/>
              </a:rPr>
              <a:t>IMPACT AND BENEFITS</a:t>
            </a:r>
            <a:endParaRPr lang="en-US" sz="3200" dirty="0"/>
          </a:p>
        </p:txBody>
      </p:sp>
      <p:sp>
        <p:nvSpPr>
          <p:cNvPr id="4" name="Panel 196"/>
          <p:cNvSpPr/>
          <p:nvPr/>
        </p:nvSpPr>
        <p:spPr>
          <a:xfrm>
            <a:off x="256032" y="932688"/>
            <a:ext cx="5577840" cy="2761488"/>
          </a:xfrm>
          <a:prstGeom prst="roundRect">
            <a:avLst>
              <a:gd name="adj" fmla="val 3974"/>
            </a:avLst>
          </a:prstGeom>
          <a:solidFill>
            <a:schemeClr val="bg1"/>
          </a:solidFill>
          <a:ln w="31750">
            <a:solidFill>
              <a:srgbClr val="0B3C6F"/>
            </a:solidFill>
            <a:prstDash val="solid"/>
          </a:ln>
        </p:spPr>
      </p:sp>
      <p:sp>
        <p:nvSpPr>
          <p:cNvPr id="5" name="Heading 197"/>
          <p:cNvSpPr txBox="1"/>
          <p:nvPr/>
        </p:nvSpPr>
        <p:spPr>
          <a:xfrm>
            <a:off x="402336" y="996696"/>
            <a:ext cx="5285232" cy="365760"/>
          </a:xfrm>
          <a:prstGeom prst="rect">
            <a:avLst/>
          </a:prstGeom>
          <a:noFill/>
          <a:ln/>
        </p:spPr>
        <p:txBody>
          <a:bodyPr wrap="square" lIns="0" tIns="0" rIns="0" bIns="0" rtlCol="0" anchor="ctr"/>
          <a:lstStyle/>
          <a:p>
            <a:pPr indent="0" marL="0">
              <a:buNone/>
            </a:pPr>
            <a:r>
              <a:rPr lang="en-US" sz="1700" b="1" dirty="0">
                <a:solidFill>
                  <a:schemeClr val="tx2"/>
                </a:solidFill>
                <a:latin typeface="Montserrat" pitchFamily="34" charset="0"/>
                <a:ea typeface="Montserrat" pitchFamily="34" charset="-122"/>
                <a:cs typeface="Montserrat" pitchFamily="34" charset="-120"/>
              </a:rPr>
              <a:t>IMPACT</a:t>
            </a:r>
            <a:endParaRPr lang="en-US" sz="1700" dirty="0"/>
          </a:p>
        </p:txBody>
      </p:sp>
      <p:pic>
        <p:nvPicPr>
          <p:cNvPr id="6" name="Icon 198 search" descr="D:\Projects\12. project\ppt\images\icons\search-navy.png">    </p:cNvPr>
          <p:cNvPicPr>
            <a:picLocks noChangeAspect="1"/>
          </p:cNvPicPr>
          <p:nvPr/>
        </p:nvPicPr>
        <p:blipFill>
          <a:blip r:embed="rId1"/>
          <a:stretch>
            <a:fillRect/>
          </a:stretch>
        </p:blipFill>
        <p:spPr>
          <a:xfrm>
            <a:off x="420624" y="1435608"/>
            <a:ext cx="384048" cy="384048"/>
          </a:xfrm>
          <a:prstGeom prst="rect">
            <a:avLst/>
          </a:prstGeom>
        </p:spPr>
      </p:pic>
      <p:sp>
        <p:nvSpPr>
          <p:cNvPr id="7" name="Text 199"/>
          <p:cNvSpPr txBox="1"/>
          <p:nvPr/>
        </p:nvSpPr>
        <p:spPr>
          <a:xfrm>
            <a:off x="914400" y="1408176"/>
            <a:ext cx="4754880" cy="516636"/>
          </a:xfrm>
          <a:prstGeom prst="rect">
            <a:avLst/>
          </a:prstGeom>
          <a:noFill/>
          <a:ln/>
        </p:spPr>
        <p:txBody>
          <a:bodyPr wrap="square" lIns="0" tIns="0" rIns="0" bIns="0" rtlCol="0" anchor="t"/>
          <a:lstStyle/>
          <a:p>
            <a:pPr indent="0" marL="0">
              <a:buNone/>
            </a:pPr>
            <a:r>
              <a:rPr lang="en-US" sz="1100" b="1" dirty="0">
                <a:solidFill>
                  <a:schemeClr val="tx2"/>
                </a:solidFill>
                <a:latin typeface="Montserrat" pitchFamily="34" charset="0"/>
                <a:ea typeface="Montserrat" pitchFamily="34" charset="-122"/>
                <a:cs typeface="Montserrat" pitchFamily="34" charset="-120"/>
              </a:rPr>
              <a:t>Faults found as they develop, not at the next survey</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Aerial surveys are usually yearly, so faults sit for weeks to months. This watches every array all the time.</a:t>
            </a:r>
            <a:endParaRPr lang="en-US" sz="1000" dirty="0"/>
          </a:p>
        </p:txBody>
      </p:sp>
      <p:pic>
        <p:nvPicPr>
          <p:cNvPr id="8" name="Icon 200 clock" descr="D:\Projects\12. project\ppt\images\icons\clock-navy.png">    </p:cNvPr>
          <p:cNvPicPr>
            <a:picLocks noChangeAspect="1"/>
          </p:cNvPicPr>
          <p:nvPr/>
        </p:nvPicPr>
        <p:blipFill>
          <a:blip r:embed="rId2"/>
          <a:stretch>
            <a:fillRect/>
          </a:stretch>
        </p:blipFill>
        <p:spPr>
          <a:xfrm>
            <a:off x="420624" y="1988820"/>
            <a:ext cx="384048" cy="384048"/>
          </a:xfrm>
          <a:prstGeom prst="rect">
            <a:avLst/>
          </a:prstGeom>
        </p:spPr>
      </p:pic>
      <p:sp>
        <p:nvSpPr>
          <p:cNvPr id="9" name="Text 201"/>
          <p:cNvSpPr txBox="1"/>
          <p:nvPr/>
        </p:nvSpPr>
        <p:spPr>
          <a:xfrm>
            <a:off x="914400" y="1961388"/>
            <a:ext cx="4754880" cy="516636"/>
          </a:xfrm>
          <a:prstGeom prst="rect">
            <a:avLst/>
          </a:prstGeom>
          <a:noFill/>
          <a:ln/>
        </p:spPr>
        <p:txBody>
          <a:bodyPr wrap="square" lIns="0" tIns="0" rIns="0" bIns="0" rtlCol="0" anchor="t"/>
          <a:lstStyle/>
          <a:p>
            <a:pPr indent="0" marL="0">
              <a:buNone/>
            </a:pPr>
            <a:r>
              <a:rPr lang="en-US" sz="1100" b="1" dirty="0">
                <a:solidFill>
                  <a:schemeClr val="tx2"/>
                </a:solidFill>
                <a:latin typeface="Montserrat" pitchFamily="34" charset="0"/>
                <a:ea typeface="Montserrat" pitchFamily="34" charset="-122"/>
                <a:cs typeface="Montserrat" pitchFamily="34" charset="-120"/>
              </a:rPr>
              <a:t>A deadline in place of an alarm</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B-17 must be acted on before 14:00. After that the damage is projected to stop being recoverable.</a:t>
            </a:r>
            <a:endParaRPr lang="en-US" sz="1000" dirty="0"/>
          </a:p>
        </p:txBody>
      </p:sp>
      <p:pic>
        <p:nvPicPr>
          <p:cNvPr id="10" name="Icon 202 rupee" descr="D:\Projects\12. project\ppt\images\icons\rupee-navy.png">    </p:cNvPr>
          <p:cNvPicPr>
            <a:picLocks noChangeAspect="1"/>
          </p:cNvPicPr>
          <p:nvPr/>
        </p:nvPicPr>
        <p:blipFill>
          <a:blip r:embed="rId3"/>
          <a:stretch>
            <a:fillRect/>
          </a:stretch>
        </p:blipFill>
        <p:spPr>
          <a:xfrm>
            <a:off x="420624" y="2542032"/>
            <a:ext cx="384048" cy="384048"/>
          </a:xfrm>
          <a:prstGeom prst="rect">
            <a:avLst/>
          </a:prstGeom>
        </p:spPr>
      </p:pic>
      <p:sp>
        <p:nvSpPr>
          <p:cNvPr id="11" name="Text 203"/>
          <p:cNvSpPr txBox="1"/>
          <p:nvPr/>
        </p:nvSpPr>
        <p:spPr>
          <a:xfrm>
            <a:off x="914400" y="2514600"/>
            <a:ext cx="4754880" cy="516636"/>
          </a:xfrm>
          <a:prstGeom prst="rect">
            <a:avLst/>
          </a:prstGeom>
          <a:noFill/>
          <a:ln/>
        </p:spPr>
        <p:txBody>
          <a:bodyPr wrap="square" lIns="0" tIns="0" rIns="0" bIns="0" rtlCol="0" anchor="t"/>
          <a:lstStyle/>
          <a:p>
            <a:pPr indent="0" marL="0">
              <a:buNone/>
            </a:pPr>
            <a:r>
              <a:rPr lang="en-US" sz="1100" b="1" dirty="0">
                <a:solidFill>
                  <a:schemeClr val="tx2"/>
                </a:solidFill>
                <a:latin typeface="Montserrat" pitchFamily="34" charset="0"/>
                <a:ea typeface="Montserrat" pitchFamily="34" charset="-122"/>
                <a:cs typeface="Montserrat" pitchFamily="34" charset="-120"/>
              </a:rPr>
              <a:t>Every loss priced, with its working</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3.07 MWh over 72 h is ₹7,509 at ₹2.446/kWh: the two SECI Bhadla Phase-III lots, blended by capacity.</a:t>
            </a:r>
            <a:endParaRPr lang="en-US" sz="1000" dirty="0"/>
          </a:p>
        </p:txBody>
      </p:sp>
      <p:pic>
        <p:nvPicPr>
          <p:cNvPr id="12" name="Icon 204 chart" descr="D:\Projects\12. project\ppt\images\icons\chart-navy.png">    </p:cNvPr>
          <p:cNvPicPr>
            <a:picLocks noChangeAspect="1"/>
          </p:cNvPicPr>
          <p:nvPr/>
        </p:nvPicPr>
        <p:blipFill>
          <a:blip r:embed="rId4"/>
          <a:stretch>
            <a:fillRect/>
          </a:stretch>
        </p:blipFill>
        <p:spPr>
          <a:xfrm>
            <a:off x="420624" y="3095244"/>
            <a:ext cx="384048" cy="384048"/>
          </a:xfrm>
          <a:prstGeom prst="rect">
            <a:avLst/>
          </a:prstGeom>
        </p:spPr>
      </p:pic>
      <p:sp>
        <p:nvSpPr>
          <p:cNvPr id="13" name="Text 205"/>
          <p:cNvSpPr txBox="1"/>
          <p:nvPr/>
        </p:nvSpPr>
        <p:spPr>
          <a:xfrm>
            <a:off x="914400" y="3067812"/>
            <a:ext cx="4754880" cy="516636"/>
          </a:xfrm>
          <a:prstGeom prst="rect">
            <a:avLst/>
          </a:prstGeom>
          <a:noFill/>
          <a:ln/>
        </p:spPr>
        <p:txBody>
          <a:bodyPr wrap="square" lIns="0" tIns="0" rIns="0" bIns="0" rtlCol="0" anchor="t"/>
          <a:lstStyle/>
          <a:p>
            <a:pPr indent="0" marL="0">
              <a:buNone/>
            </a:pPr>
            <a:r>
              <a:rPr lang="en-US" sz="1100" b="1" dirty="0">
                <a:solidFill>
                  <a:schemeClr val="tx2"/>
                </a:solidFill>
                <a:latin typeface="Montserrat" pitchFamily="34" charset="0"/>
                <a:ea typeface="Montserrat" pitchFamily="34" charset="-122"/>
                <a:cs typeface="Montserrat" pitchFamily="34" charset="-120"/>
              </a:rPr>
              <a:t>One fault, left for a month</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₹74,114: 1.01 MWh/day × 30 days. An illustration that assumes a constant loss, not a measurement.</a:t>
            </a:r>
            <a:endParaRPr lang="en-US" sz="1000" dirty="0"/>
          </a:p>
        </p:txBody>
      </p:sp>
      <p:sp>
        <p:nvSpPr>
          <p:cNvPr id="14" name="Panel 206"/>
          <p:cNvSpPr/>
          <p:nvPr/>
        </p:nvSpPr>
        <p:spPr>
          <a:xfrm>
            <a:off x="256032" y="3822192"/>
            <a:ext cx="5577840" cy="2578608"/>
          </a:xfrm>
          <a:prstGeom prst="roundRect">
            <a:avLst>
              <a:gd name="adj" fmla="val 4255"/>
            </a:avLst>
          </a:prstGeom>
          <a:solidFill>
            <a:schemeClr val="bg1"/>
          </a:solidFill>
          <a:ln w="31750">
            <a:solidFill>
              <a:srgbClr val="0B3C6F"/>
            </a:solidFill>
            <a:prstDash val="solid"/>
          </a:ln>
        </p:spPr>
      </p:sp>
      <p:sp>
        <p:nvSpPr>
          <p:cNvPr id="15" name="Heading 207"/>
          <p:cNvSpPr txBox="1"/>
          <p:nvPr/>
        </p:nvSpPr>
        <p:spPr>
          <a:xfrm>
            <a:off x="402336" y="3886200"/>
            <a:ext cx="5285232" cy="365760"/>
          </a:xfrm>
          <a:prstGeom prst="rect">
            <a:avLst/>
          </a:prstGeom>
          <a:noFill/>
          <a:ln/>
        </p:spPr>
        <p:txBody>
          <a:bodyPr wrap="square" lIns="0" tIns="0" rIns="0" bIns="0" rtlCol="0" anchor="ctr"/>
          <a:lstStyle/>
          <a:p>
            <a:pPr indent="0" marL="0">
              <a:buNone/>
            </a:pPr>
            <a:r>
              <a:rPr lang="en-US" sz="1700" b="1" dirty="0">
                <a:solidFill>
                  <a:schemeClr val="tx2"/>
                </a:solidFill>
                <a:latin typeface="Montserrat" pitchFamily="34" charset="0"/>
                <a:ea typeface="Montserrat" pitchFamily="34" charset="-122"/>
                <a:cs typeface="Montserrat" pitchFamily="34" charset="-120"/>
              </a:rPr>
              <a:t>BENEFITS</a:t>
            </a:r>
            <a:endParaRPr lang="en-US" sz="1700" dirty="0"/>
          </a:p>
        </p:txBody>
      </p:sp>
      <p:pic>
        <p:nvPicPr>
          <p:cNvPr id="16" name="Icon 208 tools" descr="D:\Projects\12. project\ppt\images\icons\tools-navy.png">    </p:cNvPr>
          <p:cNvPicPr>
            <a:picLocks noChangeAspect="1"/>
          </p:cNvPicPr>
          <p:nvPr/>
        </p:nvPicPr>
        <p:blipFill>
          <a:blip r:embed="rId5"/>
          <a:stretch>
            <a:fillRect/>
          </a:stretch>
        </p:blipFill>
        <p:spPr>
          <a:xfrm>
            <a:off x="420624" y="4325112"/>
            <a:ext cx="384048" cy="384048"/>
          </a:xfrm>
          <a:prstGeom prst="rect">
            <a:avLst/>
          </a:prstGeom>
        </p:spPr>
      </p:pic>
      <p:sp>
        <p:nvSpPr>
          <p:cNvPr id="17" name="Text 209"/>
          <p:cNvSpPr txBox="1"/>
          <p:nvPr/>
        </p:nvSpPr>
        <p:spPr>
          <a:xfrm>
            <a:off x="914400" y="4297680"/>
            <a:ext cx="4754880" cy="466344"/>
          </a:xfrm>
          <a:prstGeom prst="rect">
            <a:avLst/>
          </a:prstGeom>
          <a:noFill/>
          <a:ln/>
        </p:spPr>
        <p:txBody>
          <a:bodyPr wrap="square" lIns="0" tIns="0" rIns="0" bIns="0" rtlCol="0" anchor="t"/>
          <a:lstStyle/>
          <a:p>
            <a:pPr indent="0" marL="0">
              <a:buNone/>
            </a:pPr>
            <a:r>
              <a:rPr lang="en-US" sz="1100" b="1" dirty="0">
                <a:solidFill>
                  <a:schemeClr val="tx2"/>
                </a:solidFill>
                <a:latin typeface="Montserrat" pitchFamily="34" charset="0"/>
                <a:ea typeface="Montserrat" pitchFamily="34" charset="-122"/>
                <a:cs typeface="Montserrat" pitchFamily="34" charset="-120"/>
              </a:rPr>
              <a:t>Operational: the crew knows what to do first</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A ranked list with reasons, and a day plan for two crews. No guessing which alarm matters.</a:t>
            </a:r>
            <a:endParaRPr lang="en-US" sz="1000" dirty="0"/>
          </a:p>
        </p:txBody>
      </p:sp>
      <p:pic>
        <p:nvPicPr>
          <p:cNvPr id="18" name="Icon 210 coins" descr="D:\Projects\12. project\ppt\images\icons\coins-green.png">    </p:cNvPr>
          <p:cNvPicPr>
            <a:picLocks noChangeAspect="1"/>
          </p:cNvPicPr>
          <p:nvPr/>
        </p:nvPicPr>
        <p:blipFill>
          <a:blip r:embed="rId6"/>
          <a:stretch>
            <a:fillRect/>
          </a:stretch>
        </p:blipFill>
        <p:spPr>
          <a:xfrm>
            <a:off x="420624" y="4828032"/>
            <a:ext cx="384048" cy="384048"/>
          </a:xfrm>
          <a:prstGeom prst="rect">
            <a:avLst/>
          </a:prstGeom>
        </p:spPr>
      </p:pic>
      <p:sp>
        <p:nvSpPr>
          <p:cNvPr id="19" name="Text 211"/>
          <p:cNvSpPr txBox="1"/>
          <p:nvPr/>
        </p:nvSpPr>
        <p:spPr>
          <a:xfrm>
            <a:off x="914400" y="4800600"/>
            <a:ext cx="4754880" cy="466344"/>
          </a:xfrm>
          <a:prstGeom prst="rect">
            <a:avLst/>
          </a:prstGeom>
          <a:noFill/>
          <a:ln/>
        </p:spPr>
        <p:txBody>
          <a:bodyPr wrap="square" lIns="0" tIns="0" rIns="0" bIns="0" rtlCol="0" anchor="t"/>
          <a:lstStyle/>
          <a:p>
            <a:pPr indent="0" marL="0">
              <a:buNone/>
            </a:pPr>
            <a:r>
              <a:rPr lang="en-US" sz="1100" b="1" dirty="0">
                <a:solidFill>
                  <a:schemeClr val="accent4"/>
                </a:solidFill>
                <a:latin typeface="Montserrat" pitchFamily="34" charset="0"/>
                <a:ea typeface="Montserrat" pitchFamily="34" charset="-122"/>
                <a:cs typeface="Montserrat" pitchFamily="34" charset="-120"/>
              </a:rPr>
              <a:t>Economic: more energy from capacity already built</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Loss stated in rupees at the plant’s own tariff, and no drone flown where imaging adds nothing.</a:t>
            </a:r>
            <a:endParaRPr lang="en-US" sz="1000" dirty="0"/>
          </a:p>
        </p:txBody>
      </p:sp>
      <p:pic>
        <p:nvPicPr>
          <p:cNvPr id="20" name="Icon 212 leaf" descr="D:\Projects\12. project\ppt\images\icons\leaf-teal.png">    </p:cNvPr>
          <p:cNvPicPr>
            <a:picLocks noChangeAspect="1"/>
          </p:cNvPicPr>
          <p:nvPr/>
        </p:nvPicPr>
        <p:blipFill>
          <a:blip r:embed="rId7"/>
          <a:stretch>
            <a:fillRect/>
          </a:stretch>
        </p:blipFill>
        <p:spPr>
          <a:xfrm>
            <a:off x="420624" y="5330952"/>
            <a:ext cx="384048" cy="384048"/>
          </a:xfrm>
          <a:prstGeom prst="rect">
            <a:avLst/>
          </a:prstGeom>
        </p:spPr>
      </p:pic>
      <p:sp>
        <p:nvSpPr>
          <p:cNvPr id="21" name="Text 213"/>
          <p:cNvSpPr txBox="1"/>
          <p:nvPr/>
        </p:nvSpPr>
        <p:spPr>
          <a:xfrm>
            <a:off x="914400" y="5303520"/>
            <a:ext cx="4754880" cy="466344"/>
          </a:xfrm>
          <a:prstGeom prst="rect">
            <a:avLst/>
          </a:prstGeom>
          <a:noFill/>
          <a:ln/>
        </p:spPr>
        <p:txBody>
          <a:bodyPr wrap="square" lIns="0" tIns="0" rIns="0" bIns="0" rtlCol="0" anchor="t"/>
          <a:lstStyle/>
          <a:p>
            <a:pPr indent="0" marL="0">
              <a:buNone/>
            </a:pPr>
            <a:r>
              <a:rPr lang="en-US" sz="1100" b="1" dirty="0">
                <a:solidFill>
                  <a:schemeClr val="accent2"/>
                </a:solidFill>
                <a:latin typeface="Montserrat" pitchFamily="34" charset="0"/>
                <a:ea typeface="Montserrat" pitchFamily="34" charset="-122"/>
                <a:cs typeface="Montserrat" pitchFamily="34" charset="-120"/>
              </a:rPr>
              <a:t>Environmental: more clean energy delivered</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A plant that loses less to faults delivers more of what it was built for.</a:t>
            </a:r>
            <a:endParaRPr lang="en-US" sz="1000" dirty="0"/>
          </a:p>
        </p:txBody>
      </p:sp>
      <p:pic>
        <p:nvPicPr>
          <p:cNvPr id="22" name="Icon 214 hat" descr="D:\Projects\12. project\ppt\images\icons\hat-purple.png">    </p:cNvPr>
          <p:cNvPicPr>
            <a:picLocks noChangeAspect="1"/>
          </p:cNvPicPr>
          <p:nvPr/>
        </p:nvPicPr>
        <p:blipFill>
          <a:blip r:embed="rId8"/>
          <a:stretch>
            <a:fillRect/>
          </a:stretch>
        </p:blipFill>
        <p:spPr>
          <a:xfrm>
            <a:off x="420624" y="5833872"/>
            <a:ext cx="384048" cy="384048"/>
          </a:xfrm>
          <a:prstGeom prst="rect">
            <a:avLst/>
          </a:prstGeom>
        </p:spPr>
      </p:pic>
      <p:sp>
        <p:nvSpPr>
          <p:cNvPr id="23" name="Text 215"/>
          <p:cNvSpPr txBox="1"/>
          <p:nvPr/>
        </p:nvSpPr>
        <p:spPr>
          <a:xfrm>
            <a:off x="914400" y="5806440"/>
            <a:ext cx="4754880" cy="466344"/>
          </a:xfrm>
          <a:prstGeom prst="rect">
            <a:avLst/>
          </a:prstGeom>
          <a:noFill/>
          <a:ln/>
        </p:spPr>
        <p:txBody>
          <a:bodyPr wrap="square" lIns="0" tIns="0" rIns="0" bIns="0" rtlCol="0" anchor="t"/>
          <a:lstStyle/>
          <a:p>
            <a:pPr indent="0" marL="0">
              <a:buNone/>
            </a:pPr>
            <a:r>
              <a:rPr lang="en-US" sz="1100" b="1" dirty="0">
                <a:solidFill>
                  <a:schemeClr val="accent5"/>
                </a:solidFill>
                <a:latin typeface="Montserrat" pitchFamily="34" charset="0"/>
                <a:ea typeface="Montserrat" pitchFamily="34" charset="-122"/>
                <a:cs typeface="Montserrat" pitchFamily="34" charset="-120"/>
              </a:rPr>
              <a:t>Social: safer field work</a:t>
            </a:r>
            <a:endParaRPr lang="en-US" sz="1000" dirty="0"/>
          </a:p>
          <a:p>
            <a:pPr indent="0" marL="0">
              <a:buNone/>
            </a:pPr>
            <a:r>
              <a:rPr lang="en-US" sz="950" dirty="0">
                <a:solidFill>
                  <a:schemeClr val="tx1"/>
                </a:solidFill>
                <a:latin typeface="Montserrat" pitchFamily="34" charset="0"/>
                <a:ea typeface="Montserrat" pitchFamily="34" charset="-122"/>
                <a:cs typeface="Montserrat" pitchFamily="34" charset="-120"/>
              </a:rPr>
              <a:t>The planner keeps crews out of the field in the hours above 40 °C.</a:t>
            </a:r>
            <a:endParaRPr lang="en-US" sz="1000" dirty="0"/>
          </a:p>
        </p:txBody>
      </p:sp>
      <p:sp>
        <p:nvSpPr>
          <p:cNvPr id="24" name="Panel 216"/>
          <p:cNvSpPr/>
          <p:nvPr/>
        </p:nvSpPr>
        <p:spPr>
          <a:xfrm>
            <a:off x="6016752" y="932688"/>
            <a:ext cx="5918911" cy="5468112"/>
          </a:xfrm>
          <a:prstGeom prst="roundRect">
            <a:avLst>
              <a:gd name="adj" fmla="val 2007"/>
            </a:avLst>
          </a:prstGeom>
          <a:solidFill>
            <a:schemeClr val="bg1"/>
          </a:solidFill>
          <a:ln w="31750">
            <a:solidFill>
              <a:srgbClr val="0B3C6F"/>
            </a:solidFill>
            <a:prstDash val="solid"/>
          </a:ln>
        </p:spPr>
      </p:sp>
      <p:sp>
        <p:nvSpPr>
          <p:cNvPr id="25" name="Heading 217"/>
          <p:cNvSpPr txBox="1"/>
          <p:nvPr/>
        </p:nvSpPr>
        <p:spPr>
          <a:xfrm>
            <a:off x="6163056" y="996696"/>
            <a:ext cx="5626303" cy="365760"/>
          </a:xfrm>
          <a:prstGeom prst="rect">
            <a:avLst/>
          </a:prstGeom>
          <a:noFill/>
          <a:ln/>
        </p:spPr>
        <p:txBody>
          <a:bodyPr wrap="square" lIns="0" tIns="0" rIns="0" bIns="0" rtlCol="0" anchor="ctr"/>
          <a:lstStyle/>
          <a:p>
            <a:pPr indent="0" marL="0">
              <a:buNone/>
            </a:pPr>
            <a:r>
              <a:rPr lang="en-US" sz="1700" b="1" dirty="0">
                <a:solidFill>
                  <a:schemeClr val="tx2"/>
                </a:solidFill>
                <a:latin typeface="Montserrat" pitchFamily="34" charset="0"/>
                <a:ea typeface="Montserrat" pitchFamily="34" charset="-122"/>
                <a:cs typeface="Montserrat" pitchFamily="34" charset="-120"/>
              </a:rPr>
              <a:t>THE COST OF WAITING: ARRAY B-17</a:t>
            </a:r>
            <a:endParaRPr lang="en-US" sz="1700" dirty="0"/>
          </a:p>
        </p:txBody>
      </p:sp>
      <p:graphicFrame>
        <p:nvGraphicFramePr>
          <p:cNvPr id="26" name="Chart 218" descr=""/>
          <p:cNvGraphicFramePr/>
          <p:nvPr/>
        </p:nvGraphicFramePr>
        <p:xfrm>
          <a:off x="6126480" y="1408176"/>
          <a:ext cx="3246120" cy="2331720"/>
        </p:xfrm>
        <a:graphic xmlns:a="http://schemas.openxmlformats.org/drawingml/2006/main">
          <a:graphicData uri="http://schemas.openxmlformats.org/drawingml/2006/chart">
            <c:chart xmlns:c="http://schemas.openxmlformats.org/drawingml/2006/chart" r:id="rId9"/>
          </a:graphicData>
        </a:graphic>
      </p:graphicFrame>
      <p:sp>
        <p:nvSpPr>
          <p:cNvPr id="27" name="Text 219"/>
          <p:cNvSpPr txBox="1"/>
          <p:nvPr/>
        </p:nvSpPr>
        <p:spPr>
          <a:xfrm>
            <a:off x="9491472" y="1453896"/>
            <a:ext cx="2307031" cy="2240280"/>
          </a:xfrm>
          <a:prstGeom prst="rect">
            <a:avLst/>
          </a:prstGeom>
          <a:noFill/>
          <a:ln/>
        </p:spPr>
        <p:txBody>
          <a:bodyPr wrap="square" lIns="0" tIns="0" rIns="0" bIns="0" rtlCol="0" anchor="ctr"/>
          <a:lstStyle/>
          <a:p>
            <a:pPr indent="0" marL="0">
              <a:spcAft>
                <a:spcPts val="600"/>
              </a:spcAft>
              <a:buNone/>
            </a:pPr>
            <a:r>
              <a:rPr lang="en-US" sz="1300" b="1" dirty="0">
                <a:solidFill>
                  <a:schemeClr val="tx2"/>
                </a:solidFill>
                <a:latin typeface="Montserrat" pitchFamily="34" charset="0"/>
                <a:ea typeface="Montserrat" pitchFamily="34" charset="-122"/>
                <a:cs typeface="Montserrat" pitchFamily="34" charset="-120"/>
              </a:rPr>
              <a:t>Fix it now and nothing more is lost. Wait three days and it is 4.82 MWh, ₹11,795.</a:t>
            </a:r>
            <a:endParaRPr lang="en-US" sz="1000" dirty="0"/>
          </a:p>
          <a:p>
            <a:pPr indent="0" marL="0">
              <a:spcAft>
                <a:spcPts val="600"/>
              </a:spcAft>
              <a:buNone/>
            </a:pPr>
            <a:r>
              <a:rPr lang="en-US" sz="950" dirty="0">
                <a:solidFill>
                  <a:schemeClr val="tx1"/>
                </a:solidFill>
                <a:latin typeface="Montserrat" pitchFamily="34" charset="0"/>
                <a:ea typeface="Montserrat" pitchFamily="34" charset="-122"/>
                <a:cs typeface="Montserrat" pitchFamily="34" charset="-120"/>
              </a:rPr>
              <a:t>From the B-17 incident screen, as captured on 7 Oct 2026: ₹1,894 at 6 hours, ₹3,704 tomorrow. All three delays run past the 14:00 deadline. The figures move with site time.</a:t>
            </a:r>
            <a:endParaRPr lang="en-US" sz="1000" dirty="0"/>
          </a:p>
          <a:p>
            <a:pPr indent="0" marL="0">
              <a:buNone/>
            </a:pPr>
            <a:r>
              <a:rPr lang="en-US" sz="1000" b="1" dirty="0">
                <a:solidFill>
                  <a:schemeClr val="accent3"/>
                </a:solidFill>
                <a:latin typeface="Montserrat" pitchFamily="34" charset="0"/>
                <a:ea typeface="Montserrat" pitchFamily="34" charset="-122"/>
                <a:cs typeface="Montserrat" pitchFamily="34" charset="-120"/>
              </a:rPr>
              <a:t>A defect report cannot give this.</a:t>
            </a:r>
            <a:endParaRPr lang="en-US" sz="1000" dirty="0"/>
          </a:p>
        </p:txBody>
      </p:sp>
      <p:pic>
        <p:nvPicPr>
          <p:cNvPr id="28" name="Picture 07-analytics-outlook.png" descr="right block, under the chart: the Analytics screen, expected against actual over 72 hours and the loss by cause">    </p:cNvPr>
          <p:cNvPicPr>
            <a:picLocks noChangeAspect="1"/>
          </p:cNvPicPr>
          <p:nvPr/>
        </p:nvPicPr>
        <p:blipFill>
          <a:blip r:embed="rId10"/>
          <a:stretch>
            <a:fillRect/>
          </a:stretch>
        </p:blipFill>
        <p:spPr>
          <a:xfrm>
            <a:off x="6153912" y="3831336"/>
            <a:ext cx="5644591" cy="1581118"/>
          </a:xfrm>
          <a:prstGeom prst="rect">
            <a:avLst/>
          </a:prstGeom>
        </p:spPr>
      </p:pic>
      <p:sp>
        <p:nvSpPr>
          <p:cNvPr id="29" name="Picture frame 221"/>
          <p:cNvSpPr/>
          <p:nvPr/>
        </p:nvSpPr>
        <p:spPr>
          <a:xfrm>
            <a:off x="6153912" y="3831336"/>
            <a:ext cx="5644591" cy="1581118"/>
          </a:xfrm>
          <a:prstGeom prst="rect">
            <a:avLst/>
          </a:prstGeom>
          <a:ln w="12700">
            <a:solidFill>
              <a:srgbClr val="0B3C6F"/>
            </a:solidFill>
            <a:prstDash val="solid"/>
          </a:ln>
        </p:spPr>
      </p:sp>
      <p:sp>
        <p:nvSpPr>
          <p:cNvPr id="30" name="Text 222"/>
          <p:cNvSpPr txBox="1"/>
          <p:nvPr/>
        </p:nvSpPr>
        <p:spPr>
          <a:xfrm>
            <a:off x="6153912" y="5458174"/>
            <a:ext cx="5644591" cy="420624"/>
          </a:xfrm>
          <a:prstGeom prst="rect">
            <a:avLst/>
          </a:prstGeom>
          <a:noFill/>
          <a:ln/>
        </p:spPr>
        <p:txBody>
          <a:bodyPr wrap="square" lIns="0" tIns="0" rIns="0" bIns="0" rtlCol="0" anchor="t"/>
          <a:lstStyle/>
          <a:p>
            <a:pPr algn="ctr" indent="0" marL="0">
              <a:buNone/>
            </a:pPr>
            <a:r>
              <a:rPr lang="en-US" sz="900" b="1" dirty="0">
                <a:solidFill>
                  <a:schemeClr val="tx2"/>
                </a:solidFill>
                <a:latin typeface="Montserrat" pitchFamily="34" charset="0"/>
                <a:ea typeface="Montserrat" pitchFamily="34" charset="-122"/>
                <a:cs typeface="Montserrat" pitchFamily="34" charset="-120"/>
              </a:rPr>
              <a:t>Analytics, in the prototype: expected against actual for the modelled arrays over 72 h, and the shortfall by cause. No deviation settlement charge is computed: rupees are lost energy times the tariff, and nothing else.</a:t>
            </a:r>
            <a:endParaRPr lang="en-US" sz="900" dirty="0"/>
          </a:p>
        </p:txBody>
      </p:sp>
      <p:sp>
        <p:nvSpPr>
          <p:cNvPr id="25" name="Slide Number Placeholder 0"/>
          <p:cNvSpPr>
            <a:spLocks noGrp="1"/>
          </p:cNvSpPr>
          <p:nvPr>
            <p:ph type="sldNum" sz="quarter" idx="4294967295"/>
          </p:nvPr>
        </p:nvSpPr>
        <p:spPr>
          <a:xfrm>
            <a:off x="11277295" y="6528816"/>
            <a:ext cx="64008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Montserrat"/>
                <a:ea typeface="Montserrat"/>
                <a:cs typeface="Montserra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2103120" y="91440"/>
            <a:ext cx="7345375" cy="731520"/>
          </a:xfrm>
          <a:prstGeom prst="rect">
            <a:avLst/>
          </a:prstGeom>
          <a:noFill/>
          <a:ln/>
        </p:spPr>
        <p:txBody>
          <a:bodyPr wrap="square" lIns="0" tIns="0" rIns="0" bIns="0" rtlCol="0" anchor="ctr"/>
          <a:lstStyle/>
          <a:p>
            <a:pPr algn="ctr" indent="0" marL="0">
              <a:buNone/>
            </a:pPr>
            <a:r>
              <a:rPr lang="en-US" sz="3200" b="1" dirty="0">
                <a:solidFill>
                  <a:schemeClr val="tx1"/>
                </a:solidFill>
                <a:latin typeface="Times New Roman" pitchFamily="34" charset="0"/>
                <a:ea typeface="Times New Roman" pitchFamily="34" charset="-122"/>
                <a:cs typeface="Times New Roman" pitchFamily="34" charset="-120"/>
              </a:rPr>
              <a:t>RESEARCH AND REFERENCES</a:t>
            </a:r>
            <a:endParaRPr lang="en-US" sz="3200" dirty="0"/>
          </a:p>
        </p:txBody>
      </p:sp>
      <p:sp>
        <p:nvSpPr>
          <p:cNvPr id="4" name="Panel 223"/>
          <p:cNvSpPr/>
          <p:nvPr/>
        </p:nvSpPr>
        <p:spPr>
          <a:xfrm>
            <a:off x="256032" y="932688"/>
            <a:ext cx="5669280" cy="2487168"/>
          </a:xfrm>
          <a:prstGeom prst="roundRect">
            <a:avLst>
              <a:gd name="adj" fmla="val 4412"/>
            </a:avLst>
          </a:prstGeom>
          <a:solidFill>
            <a:schemeClr val="bg1"/>
          </a:solidFill>
          <a:ln w="31750">
            <a:solidFill>
              <a:srgbClr val="0B3C6F"/>
            </a:solidFill>
            <a:prstDash val="solid"/>
          </a:ln>
        </p:spPr>
      </p:sp>
      <p:sp>
        <p:nvSpPr>
          <p:cNvPr id="5" name="Heading 224"/>
          <p:cNvSpPr txBox="1"/>
          <p:nvPr/>
        </p:nvSpPr>
        <p:spPr>
          <a:xfrm>
            <a:off x="402336" y="996696"/>
            <a:ext cx="5376672" cy="365760"/>
          </a:xfrm>
          <a:prstGeom prst="rect">
            <a:avLst/>
          </a:prstGeom>
          <a:noFill/>
          <a:ln/>
        </p:spPr>
        <p:txBody>
          <a:bodyPr wrap="square" lIns="0" tIns="0" rIns="0" bIns="0" rtlCol="0" anchor="ctr"/>
          <a:lstStyle/>
          <a:p>
            <a:pPr indent="0" marL="0">
              <a:buNone/>
            </a:pPr>
            <a:r>
              <a:rPr lang="en-US" sz="1700" b="1" dirty="0">
                <a:solidFill>
                  <a:schemeClr val="tx2"/>
                </a:solidFill>
                <a:latin typeface="Montserrat" pitchFamily="34" charset="0"/>
                <a:ea typeface="Montserrat" pitchFamily="34" charset="-122"/>
                <a:cs typeface="Montserrat" pitchFamily="34" charset="-120"/>
              </a:rPr>
              <a:t>FUTURE SCOPE</a:t>
            </a:r>
            <a:endParaRPr lang="en-US" sz="1700" dirty="0"/>
          </a:p>
        </p:txBody>
      </p:sp>
      <p:pic>
        <p:nvPicPr>
          <p:cNvPr id="6" name="Icon 225 flask" descr="D:\Projects\12. project\ppt\images\icons\flask-navy.png">    </p:cNvPr>
          <p:cNvPicPr>
            <a:picLocks noChangeAspect="1"/>
          </p:cNvPicPr>
          <p:nvPr/>
        </p:nvPicPr>
        <p:blipFill>
          <a:blip r:embed="rId1"/>
          <a:stretch>
            <a:fillRect/>
          </a:stretch>
        </p:blipFill>
        <p:spPr>
          <a:xfrm>
            <a:off x="420624" y="1435608"/>
            <a:ext cx="329184" cy="329184"/>
          </a:xfrm>
          <a:prstGeom prst="rect">
            <a:avLst/>
          </a:prstGeom>
        </p:spPr>
      </p:pic>
      <p:sp>
        <p:nvSpPr>
          <p:cNvPr id="7" name="Text 226"/>
          <p:cNvSpPr txBox="1"/>
          <p:nvPr/>
        </p:nvSpPr>
        <p:spPr>
          <a:xfrm>
            <a:off x="859536" y="1408176"/>
            <a:ext cx="4901184" cy="609600"/>
          </a:xfrm>
          <a:prstGeom prst="rect">
            <a:avLst/>
          </a:prstGeom>
          <a:noFill/>
          <a:ln/>
        </p:spPr>
        <p:txBody>
          <a:bodyPr wrap="square" lIns="0" tIns="0" rIns="0" bIns="0" rtlCol="0" anchor="t"/>
          <a:lstStyle/>
          <a:p>
            <a:pPr indent="0" marL="0">
              <a:buNone/>
            </a:pPr>
            <a:r>
              <a:rPr lang="en-US" sz="1050" b="1" dirty="0">
                <a:solidFill>
                  <a:schemeClr val="tx2"/>
                </a:solidFill>
                <a:latin typeface="Montserrat" pitchFamily="34" charset="0"/>
                <a:ea typeface="Montserrat" pitchFamily="34" charset="-122"/>
                <a:cs typeface="Montserrat" pitchFamily="34" charset="-120"/>
              </a:rPr>
              <a:t>Research: </a:t>
            </a:r>
            <a:pPr indent="0" marL="0">
              <a:buNone/>
            </a:pPr>
            <a:r>
              <a:rPr lang="en-US" sz="1000" dirty="0">
                <a:solidFill>
                  <a:schemeClr val="tx1"/>
                </a:solidFill>
                <a:latin typeface="Montserrat" pitchFamily="34" charset="0"/>
                <a:ea typeface="Montserrat" pitchFamily="34" charset="-122"/>
                <a:cs typeface="Montserrat" pitchFamily="34" charset="-120"/>
              </a:rPr>
              <a:t>finish the thermal classifier and report its held-out metric per class. Fit the forecast band to real misses. Radiometric thermal data, and field validation of the deadline model.</a:t>
            </a:r>
            <a:endParaRPr lang="en-US" sz="1000" dirty="0"/>
          </a:p>
        </p:txBody>
      </p:sp>
      <p:pic>
        <p:nvPicPr>
          <p:cNvPr id="8" name="Icon 227 file" descr="D:\Projects\12. project\ppt\images\icons\file-purple.png">    </p:cNvPr>
          <p:cNvPicPr>
            <a:picLocks noChangeAspect="1"/>
          </p:cNvPicPr>
          <p:nvPr/>
        </p:nvPicPr>
        <p:blipFill>
          <a:blip r:embed="rId2"/>
          <a:stretch>
            <a:fillRect/>
          </a:stretch>
        </p:blipFill>
        <p:spPr>
          <a:xfrm>
            <a:off x="420624" y="2081784"/>
            <a:ext cx="329184" cy="329184"/>
          </a:xfrm>
          <a:prstGeom prst="rect">
            <a:avLst/>
          </a:prstGeom>
        </p:spPr>
      </p:pic>
      <p:sp>
        <p:nvSpPr>
          <p:cNvPr id="9" name="Text 228"/>
          <p:cNvSpPr txBox="1"/>
          <p:nvPr/>
        </p:nvSpPr>
        <p:spPr>
          <a:xfrm>
            <a:off x="859536" y="2054352"/>
            <a:ext cx="4901184" cy="609600"/>
          </a:xfrm>
          <a:prstGeom prst="rect">
            <a:avLst/>
          </a:prstGeom>
          <a:noFill/>
          <a:ln/>
        </p:spPr>
        <p:txBody>
          <a:bodyPr wrap="square" lIns="0" tIns="0" rIns="0" bIns="0" rtlCol="0" anchor="t"/>
          <a:lstStyle/>
          <a:p>
            <a:pPr indent="0" marL="0">
              <a:buNone/>
            </a:pPr>
            <a:r>
              <a:rPr lang="en-US" sz="1050" b="1" dirty="0">
                <a:solidFill>
                  <a:schemeClr val="accent5"/>
                </a:solidFill>
                <a:latin typeface="Montserrat" pitchFamily="34" charset="0"/>
                <a:ea typeface="Montserrat" pitchFamily="34" charset="-122"/>
                <a:cs typeface="Montserrat" pitchFamily="34" charset="-120"/>
              </a:rPr>
              <a:t>Patent: </a:t>
            </a:r>
            <a:pPr indent="0" marL="0">
              <a:buNone/>
            </a:pPr>
            <a:r>
              <a:rPr lang="en-US" sz="1000" dirty="0">
                <a:solidFill>
                  <a:schemeClr val="tx1"/>
                </a:solidFill>
                <a:latin typeface="Montserrat" pitchFamily="34" charset="0"/>
                <a:ea typeface="Montserrat" pitchFamily="34" charset="-122"/>
                <a:cs typeface="Montserrat" pitchFamily="34" charset="-120"/>
              </a:rPr>
              <a:t>none filed. Candidate for a novelty search: a defect, its mechanism and a forecast turned into a repair deadline and a crew plan that re-derives live.</a:t>
            </a:r>
            <a:endParaRPr lang="en-US" sz="1000" dirty="0"/>
          </a:p>
        </p:txBody>
      </p:sp>
      <p:pic>
        <p:nvPicPr>
          <p:cNvPr id="10" name="Icon 229 rocket" descr="D:\Projects\12. project\ppt\images\icons\rocket-green.png">    </p:cNvPr>
          <p:cNvPicPr>
            <a:picLocks noChangeAspect="1"/>
          </p:cNvPicPr>
          <p:nvPr/>
        </p:nvPicPr>
        <p:blipFill>
          <a:blip r:embed="rId3"/>
          <a:stretch>
            <a:fillRect/>
          </a:stretch>
        </p:blipFill>
        <p:spPr>
          <a:xfrm>
            <a:off x="420624" y="2727960"/>
            <a:ext cx="329184" cy="329184"/>
          </a:xfrm>
          <a:prstGeom prst="rect">
            <a:avLst/>
          </a:prstGeom>
        </p:spPr>
      </p:pic>
      <p:sp>
        <p:nvSpPr>
          <p:cNvPr id="11" name="Text 230"/>
          <p:cNvSpPr txBox="1"/>
          <p:nvPr/>
        </p:nvSpPr>
        <p:spPr>
          <a:xfrm>
            <a:off x="859536" y="2700528"/>
            <a:ext cx="4901184" cy="609600"/>
          </a:xfrm>
          <a:prstGeom prst="rect">
            <a:avLst/>
          </a:prstGeom>
          <a:noFill/>
          <a:ln/>
        </p:spPr>
        <p:txBody>
          <a:bodyPr wrap="square" lIns="0" tIns="0" rIns="0" bIns="0" rtlCol="0" anchor="t"/>
          <a:lstStyle/>
          <a:p>
            <a:pPr indent="0" marL="0">
              <a:buNone/>
            </a:pPr>
            <a:r>
              <a:rPr lang="en-US" sz="1050" b="1" dirty="0">
                <a:solidFill>
                  <a:schemeClr val="accent4"/>
                </a:solidFill>
                <a:latin typeface="Montserrat" pitchFamily="34" charset="0"/>
                <a:ea typeface="Montserrat" pitchFamily="34" charset="-122"/>
                <a:cs typeface="Montserrat" pitchFamily="34" charset="-120"/>
              </a:rPr>
              <a:t>Startup: </a:t>
            </a:r>
            <a:pPr indent="0" marL="0">
              <a:buNone/>
            </a:pPr>
            <a:r>
              <a:rPr lang="en-US" sz="1000" dirty="0">
                <a:solidFill>
                  <a:schemeClr val="tx1"/>
                </a:solidFill>
                <a:latin typeface="Montserrat" pitchFamily="34" charset="0"/>
                <a:ea typeface="Montserrat" pitchFamily="34" charset="-122"/>
                <a:cs typeface="Montserrat" pitchFamily="34" charset="-120"/>
              </a:rPr>
              <a:t>software for O&amp;M contractors and owners of utility-scale plants, fed by the plant’s own SCADA. Needs a permissively licensed detector first.</a:t>
            </a:r>
            <a:endParaRPr lang="en-US" sz="1000" dirty="0"/>
          </a:p>
        </p:txBody>
      </p:sp>
      <p:sp>
        <p:nvSpPr>
          <p:cNvPr id="12" name="Panel 231"/>
          <p:cNvSpPr/>
          <p:nvPr/>
        </p:nvSpPr>
        <p:spPr>
          <a:xfrm>
            <a:off x="256032" y="3547872"/>
            <a:ext cx="5669280" cy="2852928"/>
          </a:xfrm>
          <a:prstGeom prst="roundRect">
            <a:avLst>
              <a:gd name="adj" fmla="val 3846"/>
            </a:avLst>
          </a:prstGeom>
          <a:solidFill>
            <a:schemeClr val="bg1"/>
          </a:solidFill>
          <a:ln w="31750">
            <a:solidFill>
              <a:srgbClr val="0B3C6F"/>
            </a:solidFill>
            <a:prstDash val="solid"/>
          </a:ln>
        </p:spPr>
      </p:sp>
      <p:sp>
        <p:nvSpPr>
          <p:cNvPr id="13" name="Heading 232"/>
          <p:cNvSpPr txBox="1"/>
          <p:nvPr/>
        </p:nvSpPr>
        <p:spPr>
          <a:xfrm>
            <a:off x="402336" y="3611880"/>
            <a:ext cx="5376672" cy="365760"/>
          </a:xfrm>
          <a:prstGeom prst="rect">
            <a:avLst/>
          </a:prstGeom>
          <a:noFill/>
          <a:ln/>
        </p:spPr>
        <p:txBody>
          <a:bodyPr wrap="square" lIns="0" tIns="0" rIns="0" bIns="0" rtlCol="0" anchor="ctr"/>
          <a:lstStyle/>
          <a:p>
            <a:pPr indent="0" marL="0">
              <a:buNone/>
            </a:pPr>
            <a:r>
              <a:rPr lang="en-US" sz="1700" b="1" dirty="0">
                <a:solidFill>
                  <a:schemeClr val="tx2"/>
                </a:solidFill>
                <a:latin typeface="Montserrat" pitchFamily="34" charset="0"/>
                <a:ea typeface="Montserrat" pitchFamily="34" charset="-122"/>
                <a:cs typeface="Montserrat" pitchFamily="34" charset="-120"/>
              </a:rPr>
              <a:t>REFERENCES</a:t>
            </a:r>
            <a:endParaRPr lang="en-US" sz="1700" dirty="0"/>
          </a:p>
        </p:txBody>
      </p:sp>
      <p:sp>
        <p:nvSpPr>
          <p:cNvPr id="14" name="Text 233"/>
          <p:cNvSpPr txBox="1"/>
          <p:nvPr/>
        </p:nvSpPr>
        <p:spPr>
          <a:xfrm>
            <a:off x="420624" y="4023360"/>
            <a:ext cx="5340096" cy="2286000"/>
          </a:xfrm>
          <a:prstGeom prst="rect">
            <a:avLst/>
          </a:prstGeom>
          <a:noFill/>
          <a:ln/>
        </p:spPr>
        <p:txBody>
          <a:bodyPr wrap="square" lIns="0" tIns="0" rIns="0" bIns="0" rtlCol="0" anchor="t"/>
          <a:lstStyle/>
          <a:p>
            <a:pPr indent="0" marL="0">
              <a:spcAft>
                <a:spcPts val="300"/>
              </a:spcAft>
              <a:buNone/>
            </a:pPr>
            <a:r>
              <a:rPr lang="en-US" sz="900" dirty="0">
                <a:solidFill>
                  <a:schemeClr val="tx1"/>
                </a:solidFill>
                <a:latin typeface="Montserrat" pitchFamily="34" charset="0"/>
                <a:ea typeface="Montserrat" pitchFamily="34" charset="-122"/>
                <a:cs typeface="Montserrat" pitchFamily="34" charset="-120"/>
              </a:rPr>
              <a:t>1. Sheppard, Cook, Perullo (Turbine Logic); Fregosi, Bolen (EPRI). Field Experience Detecting PV Underperformance in Real Time Using Existing Instrumentation. osti.gov/servlets/purl/1960134</a:t>
            </a:r>
            <a:endParaRPr lang="en-US" sz="900" dirty="0"/>
          </a:p>
          <a:p>
            <a:pPr indent="0" marL="0">
              <a:spcAft>
                <a:spcPts val="300"/>
              </a:spcAft>
              <a:buNone/>
            </a:pPr>
            <a:r>
              <a:rPr lang="en-US" sz="900" dirty="0">
                <a:solidFill>
                  <a:schemeClr val="tx1"/>
                </a:solidFill>
                <a:latin typeface="Montserrat" pitchFamily="34" charset="0"/>
                <a:ea typeface="Montserrat" pitchFamily="34" charset="-122"/>
                <a:cs typeface="Montserrat" pitchFamily="34" charset="-120"/>
              </a:rPr>
              <a:t>2. NREL. PVWatts Version 5 Manual, NREL/TP-6A20-60272. docs.nrel.gov/docs/fy14osti/60272.pdf</a:t>
            </a:r>
            <a:endParaRPr lang="en-US" sz="900" dirty="0"/>
          </a:p>
          <a:p>
            <a:pPr indent="0" marL="0">
              <a:spcAft>
                <a:spcPts val="300"/>
              </a:spcAft>
              <a:buNone/>
            </a:pPr>
            <a:r>
              <a:rPr lang="en-US" sz="900" dirty="0">
                <a:solidFill>
                  <a:schemeClr val="tx1"/>
                </a:solidFill>
                <a:latin typeface="Montserrat" pitchFamily="34" charset="0"/>
                <a:ea typeface="Montserrat" pitchFamily="34" charset="-122"/>
                <a:cs typeface="Montserrat" pitchFamily="34" charset="-120"/>
              </a:rPr>
              <a:t>3. SECI auction, Bhadla Phase-III Solar Park, 2017. iea.org/policies/6373-auction-of-solar-corporation-of-india-seci; pv-magazine-india.com/?p=1613</a:t>
            </a:r>
            <a:endParaRPr lang="en-US" sz="900" dirty="0"/>
          </a:p>
          <a:p>
            <a:pPr indent="0" marL="0">
              <a:spcAft>
                <a:spcPts val="300"/>
              </a:spcAft>
              <a:buNone/>
            </a:pPr>
            <a:r>
              <a:rPr lang="en-US" sz="900" dirty="0">
                <a:solidFill>
                  <a:schemeClr val="tx1"/>
                </a:solidFill>
                <a:latin typeface="Montserrat" pitchFamily="34" charset="0"/>
                <a:ea typeface="Montserrat" pitchFamily="34" charset="-122"/>
                <a:cs typeface="Montserrat" pitchFamily="34" charset="-120"/>
              </a:rPr>
              <a:t>4. Raptor Maps. InfraredSolarModules. github.com/RaptorMaps/InfraredSolarModules</a:t>
            </a:r>
            <a:endParaRPr lang="en-US" sz="900" dirty="0"/>
          </a:p>
          <a:p>
            <a:pPr indent="0" marL="0">
              <a:spcAft>
                <a:spcPts val="300"/>
              </a:spcAft>
              <a:buNone/>
            </a:pPr>
            <a:r>
              <a:rPr lang="en-US" sz="900" dirty="0">
                <a:solidFill>
                  <a:schemeClr val="tx1"/>
                </a:solidFill>
                <a:latin typeface="Montserrat" pitchFamily="34" charset="0"/>
                <a:ea typeface="Montserrat" pitchFamily="34" charset="-122"/>
                <a:cs typeface="Montserrat" pitchFamily="34" charset="-120"/>
              </a:rPr>
              <a:t>5. Solar Panel Fault Detection v2, Roboflow Universe. universe.roboflow.com/solarvision-gwljt/solar-panel-fault-detection</a:t>
            </a:r>
            <a:endParaRPr lang="en-US" sz="900" dirty="0"/>
          </a:p>
          <a:p>
            <a:pPr indent="0" marL="0">
              <a:buNone/>
            </a:pPr>
            <a:r>
              <a:rPr lang="en-US" sz="900" dirty="0">
                <a:solidFill>
                  <a:schemeClr val="tx1"/>
                </a:solidFill>
                <a:latin typeface="Montserrat" pitchFamily="34" charset="0"/>
                <a:ea typeface="Montserrat" pitchFamily="34" charset="-122"/>
                <a:cs typeface="Montserrat" pitchFamily="34" charset="-120"/>
              </a:rPr>
              <a:t>6. CERC Deviation Settlement Mechanism Regulations, 2024: context only. No charge is computed from it.</a:t>
            </a:r>
            <a:endParaRPr lang="en-US" sz="900" dirty="0"/>
          </a:p>
        </p:txBody>
      </p:sp>
      <p:sp>
        <p:nvSpPr>
          <p:cNvPr id="15" name="Panel 234"/>
          <p:cNvSpPr/>
          <p:nvPr/>
        </p:nvSpPr>
        <p:spPr>
          <a:xfrm>
            <a:off x="6108192" y="932688"/>
            <a:ext cx="5827471" cy="3401568"/>
          </a:xfrm>
          <a:prstGeom prst="roundRect">
            <a:avLst>
              <a:gd name="adj" fmla="val 3226"/>
            </a:avLst>
          </a:prstGeom>
          <a:solidFill>
            <a:schemeClr val="bg1"/>
          </a:solidFill>
          <a:ln w="31750">
            <a:solidFill>
              <a:srgbClr val="0B3C6F"/>
            </a:solidFill>
            <a:prstDash val="solid"/>
          </a:ln>
        </p:spPr>
      </p:sp>
      <p:sp>
        <p:nvSpPr>
          <p:cNvPr id="16" name="Heading 235"/>
          <p:cNvSpPr txBox="1"/>
          <p:nvPr/>
        </p:nvSpPr>
        <p:spPr>
          <a:xfrm>
            <a:off x="6254496" y="996696"/>
            <a:ext cx="5534863" cy="365760"/>
          </a:xfrm>
          <a:prstGeom prst="rect">
            <a:avLst/>
          </a:prstGeom>
          <a:noFill/>
          <a:ln/>
        </p:spPr>
        <p:txBody>
          <a:bodyPr wrap="square" lIns="0" tIns="0" rIns="0" bIns="0" rtlCol="0" anchor="ctr"/>
          <a:lstStyle/>
          <a:p>
            <a:pPr indent="0" marL="0">
              <a:buNone/>
            </a:pPr>
            <a:r>
              <a:rPr lang="en-US" sz="1700" b="1" dirty="0">
                <a:solidFill>
                  <a:schemeClr val="tx2"/>
                </a:solidFill>
                <a:latin typeface="Montserrat" pitchFamily="34" charset="0"/>
                <a:ea typeface="Montserrat" pitchFamily="34" charset="-122"/>
                <a:cs typeface="Montserrat" pitchFamily="34" charset="-120"/>
              </a:rPr>
              <a:t>WHAT WE BUILT ON</a:t>
            </a:r>
            <a:endParaRPr lang="en-US" sz="1700" dirty="0"/>
          </a:p>
        </p:txBody>
      </p:sp>
      <p:graphicFrame>
        <p:nvGraphicFramePr>
          <p:cNvPr id="9" name="Table 236"/>
          <p:cNvGraphicFramePr>
            <a:graphicFrameLocks noGrp="1"/>
          </p:cNvGraphicFramePr>
          <p:nvPr>
            <p:extLst>
              <p:ext uri="{D42A27DB-BD31-4B8C-83A1-F6EECF244321}">
                <p14:modId xmlns:p14="http://schemas.microsoft.com/office/powerpoint/2010/main" val="1579011935"/>
              </p:ext>
            </p:extLst>
          </p:nvPr>
        </p:nvGraphicFramePr>
        <p:xfrm>
          <a:off x="6245352" y="1408176"/>
          <a:ext cx="5553151" cy="914400"/>
        </p:xfrm>
        <a:graphic>
          <a:graphicData uri="http://schemas.openxmlformats.org/drawingml/2006/table">
            <a:tbl>
              <a:tblPr/>
              <a:tblGrid>
                <a:gridCol w="1188720"/>
                <a:gridCol w="3129991"/>
                <a:gridCol w="1234440"/>
              </a:tblGrid>
              <a:tr h="0">
                <a:tc>
                  <a:txBody>
                    <a:bodyPr/>
                    <a:lstStyle/>
                    <a:p>
                      <a:pPr indent="0" marL="0">
                        <a:buNone/>
                      </a:pPr>
                      <a:r>
                        <a:rPr lang="en-US" sz="900" b="1" dirty="0">
                          <a:solidFill>
                            <a:srgbClr val="FFFFFF"/>
                          </a:solidFill>
                          <a:latin typeface="Montserrat" pitchFamily="34" charset="0"/>
                          <a:ea typeface="Montserrat" pitchFamily="34" charset="-122"/>
                          <a:cs typeface="Montserrat" pitchFamily="34" charset="-120"/>
                        </a:rPr>
                        <a:t>Kind</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0B3C6F"/>
                    </a:solidFill>
                  </a:tcPr>
                </a:tc>
                <a:tc>
                  <a:txBody>
                    <a:bodyPr/>
                    <a:lstStyle/>
                    <a:p>
                      <a:pPr indent="0" marL="0">
                        <a:buNone/>
                      </a:pPr>
                      <a:r>
                        <a:rPr lang="en-US" sz="900" b="1" dirty="0">
                          <a:solidFill>
                            <a:srgbClr val="FFFFFF"/>
                          </a:solidFill>
                          <a:latin typeface="Montserrat" pitchFamily="34" charset="0"/>
                          <a:ea typeface="Montserrat" pitchFamily="34" charset="-122"/>
                          <a:cs typeface="Montserrat" pitchFamily="34" charset="-120"/>
                        </a:rPr>
                        <a:t>What</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0B3C6F"/>
                    </a:solidFill>
                  </a:tcPr>
                </a:tc>
                <a:tc>
                  <a:txBody>
                    <a:bodyPr/>
                    <a:lstStyle/>
                    <a:p>
                      <a:pPr indent="0" marL="0">
                        <a:buNone/>
                      </a:pPr>
                      <a:r>
                        <a:rPr lang="en-US" sz="900" b="1" dirty="0">
                          <a:solidFill>
                            <a:srgbClr val="FFFFFF"/>
                          </a:solidFill>
                          <a:latin typeface="Montserrat" pitchFamily="34" charset="0"/>
                          <a:ea typeface="Montserrat" pitchFamily="34" charset="-122"/>
                          <a:cs typeface="Montserrat" pitchFamily="34" charset="-120"/>
                        </a:rPr>
                        <a:t>Licence</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0B3C6F"/>
                    </a:solidFill>
                  </a:tcPr>
                </a:tc>
              </a:tr>
              <a:tr h="0">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Dataset</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Solar Panel Fault Detection v2, Roboflow: 921 images</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CC BY 4.0</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Dataset</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InfraredSolarModules, Raptor Maps: 20,000 images</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MIT</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Pre-trained model</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Ultralytics YOLOv8n, fine-tuned by us</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AGPL-3.0</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External API</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Groq, model openai/gpt-oss-120b</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Groq terms</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Libraries</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Next.js, React, three, React Three Fiber, drei, zustand, zod, Tailwind</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MIT</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Libraries</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onnxruntime-web, highs (HiGHS in WebAssembly)</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MIT</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Libraries</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postprocessing; lucide-react; playwright-core, TypeScript</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Zlib; ISC; Apache-2.0</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Typeface</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IBM Plex, in the product</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Montserrat" pitchFamily="34" charset="0"/>
                          <a:ea typeface="Montserrat" pitchFamily="34" charset="-122"/>
                          <a:cs typeface="Montserrat" pitchFamily="34" charset="-120"/>
                        </a:rPr>
                        <a:t>OFL</a:t>
                      </a:r>
                      <a:endParaRPr lang="en-US" sz="900" dirty="0">
                        <a:latin typeface="Montserrat" charset="0"/>
                        <a:ea typeface="Montserrat" charset="0"/>
                        <a:cs typeface="Montserrat" charset="0"/>
                      </a:endParaRPr>
                    </a:p>
                  </a:txBody>
                  <a:tcPr marL="63500" marR="63500" marT="25400" marB="25400" anchor="ctr">
                    <a:lnL w="9525" cap="flat" cmpd="sng" algn="ctr">
                      <a:solidFill>
                        <a:srgbClr val="0B3C6F"/>
                      </a:solidFill>
                      <a:prstDash val="solid"/>
                      <a:round/>
                      <a:headEnd type="none" w="med" len="med"/>
                      <a:tailEnd type="none" w="med" len="med"/>
                    </a:lnL>
                    <a:lnR w="9525" cap="flat" cmpd="sng" algn="ctr">
                      <a:solidFill>
                        <a:srgbClr val="0B3C6F"/>
                      </a:solidFill>
                      <a:prstDash val="solid"/>
                      <a:round/>
                      <a:headEnd type="none" w="med" len="med"/>
                      <a:tailEnd type="none" w="med" len="med"/>
                    </a:lnR>
                    <a:lnT w="9525" cap="flat" cmpd="sng" algn="ctr">
                      <a:solidFill>
                        <a:srgbClr val="0B3C6F"/>
                      </a:solidFill>
                      <a:prstDash val="solid"/>
                      <a:round/>
                      <a:headEnd type="none" w="med" len="med"/>
                      <a:tailEnd type="none" w="med" len="med"/>
                    </a:lnT>
                    <a:lnB w="9525" cap="flat" cmpd="sng" algn="ctr">
                      <a:solidFill>
                        <a:srgbClr val="0B3C6F"/>
                      </a:solidFill>
                      <a:prstDash val="solid"/>
                      <a:round/>
                      <a:headEnd type="none" w="med" len="med"/>
                      <a:tailEnd type="none" w="med" len="med"/>
                    </a:lnB>
                    <a:solidFill>
                      <a:srgbClr val="FFFFFF"/>
                    </a:solidFill>
                  </a:tcPr>
                </a:tc>
              </a:tr>
            </a:tbl>
          </a:graphicData>
        </a:graphic>
      </p:graphicFrame>
      <p:sp>
        <p:nvSpPr>
          <p:cNvPr id="18" name="Panel 237"/>
          <p:cNvSpPr/>
          <p:nvPr/>
        </p:nvSpPr>
        <p:spPr>
          <a:xfrm>
            <a:off x="6108192" y="4462272"/>
            <a:ext cx="5827471" cy="1938528"/>
          </a:xfrm>
          <a:prstGeom prst="roundRect">
            <a:avLst>
              <a:gd name="adj" fmla="val 5660"/>
            </a:avLst>
          </a:prstGeom>
          <a:solidFill>
            <a:schemeClr val="bg1"/>
          </a:solidFill>
          <a:ln w="31750">
            <a:solidFill>
              <a:srgbClr val="0E7C86"/>
            </a:solidFill>
            <a:prstDash val="solid"/>
          </a:ln>
        </p:spPr>
      </p:sp>
      <p:pic>
        <p:nvPicPr>
          <p:cNvPr id="19" name="Icon 238 shield" descr="D:\Projects\12. project\ppt\images\icons\shield-teal.png">    </p:cNvPr>
          <p:cNvPicPr>
            <a:picLocks noChangeAspect="1"/>
          </p:cNvPicPr>
          <p:nvPr/>
        </p:nvPicPr>
        <p:blipFill>
          <a:blip r:embed="rId4"/>
          <a:stretch>
            <a:fillRect/>
          </a:stretch>
        </p:blipFill>
        <p:spPr>
          <a:xfrm>
            <a:off x="6272784" y="4617720"/>
            <a:ext cx="329184" cy="329184"/>
          </a:xfrm>
          <a:prstGeom prst="rect">
            <a:avLst/>
          </a:prstGeom>
        </p:spPr>
      </p:pic>
      <p:sp>
        <p:nvSpPr>
          <p:cNvPr id="20" name="Text 239"/>
          <p:cNvSpPr txBox="1"/>
          <p:nvPr/>
        </p:nvSpPr>
        <p:spPr>
          <a:xfrm>
            <a:off x="6711696" y="4590288"/>
            <a:ext cx="5059375" cy="868680"/>
          </a:xfrm>
          <a:prstGeom prst="rect">
            <a:avLst/>
          </a:prstGeom>
          <a:noFill/>
          <a:ln/>
        </p:spPr>
        <p:txBody>
          <a:bodyPr wrap="square" lIns="0" tIns="0" rIns="0" bIns="0" rtlCol="0" anchor="t"/>
          <a:lstStyle/>
          <a:p>
            <a:pPr indent="0" marL="0">
              <a:buNone/>
            </a:pPr>
            <a:r>
              <a:rPr lang="en-US" sz="1050" b="1" dirty="0">
                <a:solidFill>
                  <a:schemeClr val="accent2"/>
                </a:solidFill>
                <a:latin typeface="Montserrat" pitchFamily="34" charset="0"/>
                <a:ea typeface="Montserrat" pitchFamily="34" charset="-122"/>
                <a:cs typeface="Montserrat" pitchFamily="34" charset="-120"/>
              </a:rPr>
              <a:t>Reference we owe: </a:t>
            </a:r>
            <a:pPr indent="0" marL="0">
              <a:buNone/>
            </a:pPr>
            <a:r>
              <a:rPr lang="en-US" sz="1000" dirty="0">
                <a:solidFill>
                  <a:schemeClr val="tx1"/>
                </a:solidFill>
                <a:latin typeface="Montserrat" pitchFamily="34" charset="0"/>
                <a:ea typeface="Montserrat" pitchFamily="34" charset="-122"/>
                <a:cs typeface="Montserrat" pitchFamily="34" charset="-120"/>
              </a:rPr>
              <a:t>the loop follows the RAISE-winning Robinsun solar agent. We rebuilt it with a trained defect model and a physics-grounded simulation in place of a physical drone. No personal or proprietary data is used; telemetry is simulated.</a:t>
            </a:r>
            <a:endParaRPr lang="en-US" sz="1000" dirty="0"/>
          </a:p>
        </p:txBody>
      </p:sp>
      <p:pic>
        <p:nvPicPr>
          <p:cNvPr id="21" name="Icon 240 users" descr="D:\Projects\12. project\ppt\images\icons\users-navy.png">    </p:cNvPr>
          <p:cNvPicPr>
            <a:picLocks noChangeAspect="1"/>
          </p:cNvPicPr>
          <p:nvPr/>
        </p:nvPicPr>
        <p:blipFill>
          <a:blip r:embed="rId5"/>
          <a:stretch>
            <a:fillRect/>
          </a:stretch>
        </p:blipFill>
        <p:spPr>
          <a:xfrm>
            <a:off x="6272784" y="5532120"/>
            <a:ext cx="329184" cy="329184"/>
          </a:xfrm>
          <a:prstGeom prst="rect">
            <a:avLst/>
          </a:prstGeom>
        </p:spPr>
      </p:pic>
      <p:sp>
        <p:nvSpPr>
          <p:cNvPr id="22" name="Text 241"/>
          <p:cNvSpPr txBox="1"/>
          <p:nvPr/>
        </p:nvSpPr>
        <p:spPr>
          <a:xfrm>
            <a:off x="6711696" y="5504688"/>
            <a:ext cx="5059375" cy="804672"/>
          </a:xfrm>
          <a:prstGeom prst="rect">
            <a:avLst/>
          </a:prstGeom>
          <a:noFill/>
          <a:ln/>
        </p:spPr>
        <p:txBody>
          <a:bodyPr wrap="square" lIns="0" tIns="0" rIns="0" bIns="0" rtlCol="0" anchor="t"/>
          <a:lstStyle/>
          <a:p>
            <a:pPr indent="0" marL="0">
              <a:buNone/>
            </a:pPr>
            <a:r>
              <a:rPr lang="en-US" sz="1050" b="1" dirty="0">
                <a:solidFill>
                  <a:schemeClr val="tx2"/>
                </a:solidFill>
                <a:latin typeface="Montserrat" pitchFamily="34" charset="0"/>
                <a:ea typeface="Montserrat" pitchFamily="34" charset="-122"/>
                <a:cs typeface="Montserrat" pitchFamily="34" charset="-120"/>
              </a:rPr>
              <a:t>Team SIGMOID: </a:t>
            </a:r>
            <a:pPr indent="0" marL="0">
              <a:buNone/>
            </a:pPr>
            <a:r>
              <a:rPr lang="en-US" sz="1000" dirty="0">
                <a:solidFill>
                  <a:schemeClr val="tx1"/>
                </a:solidFill>
                <a:latin typeface="Montserrat" pitchFamily="34" charset="0"/>
                <a:ea typeface="Montserrat" pitchFamily="34" charset="-122"/>
                <a:cs typeface="Montserrat" pitchFamily="34" charset="-120"/>
              </a:rPr>
              <a:t>Rehaan Ahmad Khan, Shantanu Singh, Lakshita Rawat, Krishna Agarwal. Code: github.com/RAK2315/solar-proj (AGPL-3.0)</a:t>
            </a:r>
            <a:endParaRPr lang="en-US" sz="1000" dirty="0"/>
          </a:p>
        </p:txBody>
      </p:sp>
      <p:sp>
        <p:nvSpPr>
          <p:cNvPr id="25" name="Slide Number Placeholder 0"/>
          <p:cNvSpPr>
            <a:spLocks noGrp="1"/>
          </p:cNvSpPr>
          <p:nvPr>
            <p:ph type="sldNum" sz="quarter" idx="4294967295"/>
          </p:nvPr>
        </p:nvSpPr>
        <p:spPr>
          <a:xfrm>
            <a:off x="11277295" y="6528816"/>
            <a:ext cx="64008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Montserrat"/>
                <a:ea typeface="Montserrat"/>
                <a:cs typeface="Montserrat"/>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Surya Sheet">
  <a:themeElements>
    <a:clrScheme name="Surya Sheet">
      <a:dk1>
        <a:srgbClr val="111111"/>
      </a:dk1>
      <a:lt1>
        <a:srgbClr val="FFFFFF"/>
      </a:lt1>
      <a:dk2>
        <a:srgbClr val="0B3C6F"/>
      </a:dk2>
      <a:lt2>
        <a:srgbClr val="EEF4FB"/>
      </a:lt2>
      <a:accent1>
        <a:srgbClr val="1D6FB8"/>
      </a:accent1>
      <a:accent2>
        <a:srgbClr val="0E7C86"/>
      </a:accent2>
      <a:accent3>
        <a:srgbClr val="B8322A"/>
      </a:accent3>
      <a:accent4>
        <a:srgbClr val="2E7D32"/>
      </a:accent4>
      <a:accent5>
        <a:srgbClr val="6A3FB5"/>
      </a:accent5>
      <a:accent6>
        <a:srgbClr val="D9730D"/>
      </a:accent6>
      <a:hlink>
        <a:srgbClr val="1D6FB8"/>
      </a:hlink>
      <a:folHlink>
        <a:srgbClr val="55606F"/>
      </a:folHlink>
    </a:clrScheme>
    <a:fontScheme name="Surya Sheet">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Team SIGMOID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SURYA AGENT - Round 1</dc:title>
  <dc:subject>PptxGenJS Presentation</dc:subject>
  <dc:creator>Team SIGMOID</dc:creator>
  <cp:lastModifiedBy>Team SIGMOID</cp:lastModifiedBy>
  <cp:revision>1</cp:revision>
  <dcterms:created xsi:type="dcterms:W3CDTF">2026-10-07T16:35:00Z</dcterms:created>
  <dcterms:modified xsi:type="dcterms:W3CDTF">2026-10-07T16:35:00Z</dcterms:modified>
</cp:coreProperties>
</file>